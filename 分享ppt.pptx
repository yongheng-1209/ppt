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690"/>
  </p:normalViewPr>
  <p:slideViewPr>
    <p:cSldViewPr snapToGrid="0">
      <p:cViewPr>
        <p:scale>
          <a:sx n="133" d="100"/>
          <a:sy n="133" d="100"/>
        </p:scale>
        <p:origin x="-8" y="-3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r>
              <a:t>
[Sources]
- https://arxiv.org/abs/2509.03047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r>
              <a:t>
[Sources]
- https://arxiv.org/abs/2509.03047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r>
              <a:t>
[Sources]
- https://arxiv.org/abs/2607.01646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/Users/zds/bsr-opensource/src/moegambit/runtime/runtime.py</a:t>
            </a:r>
          </a:p>
          <a:p>
            <a:r>
              <a:t>- /Users/zds/bsr-opensource/src/moegambit/adapters/megatron/native_hooks.py</a:t>
            </a:r>
          </a:p>
          <a:p>
            <a:r>
              <a:t>- /Users/zds/bsr-opensource/src/moegambit/adapters/deepspeed/integration.py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/Users/zds/bsr-opensource/src/moegambit/adapters/megatron/compat_launcher.py:404</a:t>
            </a:r>
          </a:p>
          <a:p>
            <a:r>
              <a:t>- /Users/zds/bsr-opensource/src/moegambit/adapters/megatron/compat_launcher.py:435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/Users/zds/bsr-opensource/src/moegambit/adapters/megatron/compat_watcher.py:2397</a:t>
            </a:r>
          </a:p>
          <a:p>
            <a:r>
              <a:t>- /Users/zds/bsr-opensource/src/moegambit/adapters/megatron/compat_watcher.py:2557</a:t>
            </a:r>
          </a:p>
          <a:p>
            <a:r>
              <a:t>- /Users/zds/bsr-opensource/src/moegambit/adapters/megatron/compat_watcher.py:1567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/Users/zds/bsr-opensource/src/moegambit/adapters/megatron/compat_watcher.py:1940</a:t>
            </a:r>
          </a:p>
          <a:p>
            <a:r>
              <a:t>- /Users/zds/bsr-opensource/src/moegambit/adapters/megatron/compat_watcher.py:2045</a:t>
            </a:r>
          </a:p>
          <a:p>
            <a:r>
              <a:t>- /Users/zds/bsr-opensource/src/moegambit/runtime/recovery_plan.py:150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/Users/zds/bsr-opensource/src/moegambit/adapters/megatron/elastic_client.py:2622</a:t>
            </a:r>
          </a:p>
          <a:p>
            <a:r>
              <a:t>- /Users/zds/bsr-opensource/src/moegambit/adapters/megatron/elastic_client.py:2971</a:t>
            </a:r>
          </a:p>
          <a:p>
            <a:r>
              <a:t>- /Users/zds/bsr-opensource/Megatron-LM/megatron/core/parallel_state.py:154</a:t>
            </a:r>
          </a:p>
          <a:p>
            <a:r>
              <a:t>- /Users/zds/bsr-opensource/src/moegambit/adapters/megatron/parallel_state_hooks.py:133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/Users/zds/bsr-opensource/src/moegambit/replication/optimizer_memory.py:546</a:t>
            </a:r>
          </a:p>
          <a:p>
            <a:r>
              <a:t>- /Users/zds/bsr-opensource/src/moegambit/adapters/megatron/elastic_client.py:3292</a:t>
            </a:r>
          </a:p>
          <a:p>
            <a:r>
              <a:t>- /Users/zds/bsr-opensource/src/moegambit/adapters/megatron/elastic_client.py:5703</a:t>
            </a:r>
          </a:p>
          <a:p>
            <a:r>
              <a:t>- /Users/zds/bsr-opensource/src/moegambit/adapters/deepspeed/integration.py:467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/Users/zds/bsr-opensource/src/moegambit/core/step_transaction.py:201</a:t>
            </a:r>
          </a:p>
          <a:p>
            <a:r>
              <a:t>- /Users/zds/bsr-opensource/Megatron-LM/megatron/training/training.py:1294</a:t>
            </a:r>
          </a:p>
          <a:p>
            <a:r>
              <a:t>- /Users/zds/bsr-opensource/src/moegambit/adapters/megatron/native_hooks.py:712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[Sources]</a:t>
            </a:r>
          </a:p>
          <a:p>
            <a:r>
              <a:rPr dirty="0"/>
              <a:t>- /Users/zds/</a:t>
            </a:r>
            <a:r>
              <a:rPr dirty="0" err="1"/>
              <a:t>bsr</a:t>
            </a:r>
            <a:r>
              <a:rPr dirty="0"/>
              <a:t>-opensource/</a:t>
            </a:r>
            <a:r>
              <a:rPr dirty="0" err="1"/>
              <a:t>src</a:t>
            </a:r>
            <a:r>
              <a:rPr dirty="0"/>
              <a:t>/</a:t>
            </a:r>
            <a:r>
              <a:rPr dirty="0" err="1"/>
              <a:t>moegambit</a:t>
            </a:r>
            <a:r>
              <a:rPr dirty="0"/>
              <a:t>/adapters/</a:t>
            </a:r>
            <a:r>
              <a:rPr dirty="0" err="1"/>
              <a:t>megatron</a:t>
            </a:r>
            <a:r>
              <a:rPr dirty="0"/>
              <a:t>/elastic_client.py:1199</a:t>
            </a:r>
          </a:p>
          <a:p>
            <a:r>
              <a:rPr dirty="0"/>
              <a:t>- /Users/zds/</a:t>
            </a:r>
            <a:r>
              <a:rPr dirty="0" err="1"/>
              <a:t>bsr</a:t>
            </a:r>
            <a:r>
              <a:rPr dirty="0"/>
              <a:t>-opensource/</a:t>
            </a:r>
            <a:r>
              <a:rPr dirty="0" err="1"/>
              <a:t>src</a:t>
            </a:r>
            <a:r>
              <a:rPr dirty="0"/>
              <a:t>/</a:t>
            </a:r>
            <a:r>
              <a:rPr dirty="0" err="1"/>
              <a:t>moegambit</a:t>
            </a:r>
            <a:r>
              <a:rPr dirty="0"/>
              <a:t>/adapters/</a:t>
            </a:r>
            <a:r>
              <a:rPr dirty="0" err="1"/>
              <a:t>megatron</a:t>
            </a:r>
            <a:r>
              <a:rPr dirty="0"/>
              <a:t>/compat_watcher.py:2397</a:t>
            </a:r>
          </a:p>
          <a:p>
            <a:r>
              <a:rPr dirty="0"/>
              <a:t>- /Users/zds/</a:t>
            </a:r>
            <a:r>
              <a:rPr dirty="0" err="1"/>
              <a:t>bsr</a:t>
            </a:r>
            <a:r>
              <a:rPr dirty="0"/>
              <a:t>-opensource/</a:t>
            </a:r>
            <a:r>
              <a:rPr dirty="0" err="1"/>
              <a:t>src</a:t>
            </a:r>
            <a:r>
              <a:rPr dirty="0"/>
              <a:t>/</a:t>
            </a:r>
            <a:r>
              <a:rPr dirty="0" err="1"/>
              <a:t>moegambit</a:t>
            </a:r>
            <a:r>
              <a:rPr dirty="0"/>
              <a:t>/adapters/</a:t>
            </a:r>
            <a:r>
              <a:rPr dirty="0" err="1"/>
              <a:t>deepspeed</a:t>
            </a:r>
            <a:r>
              <a:rPr dirty="0"/>
              <a:t>/integration.py:467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[Sources]</a:t>
            </a:r>
          </a:p>
          <a:p>
            <a:r>
              <a:rPr dirty="0"/>
              <a:t>- User-provided validation requirements in the current task.</a:t>
            </a:r>
          </a:p>
          <a:p>
            <a:r>
              <a:rPr dirty="0"/>
              <a:t>- /Users/zds/</a:t>
            </a:r>
            <a:r>
              <a:rPr dirty="0" err="1"/>
              <a:t>bsr</a:t>
            </a:r>
            <a:r>
              <a:rPr dirty="0"/>
              <a:t>-opensource/</a:t>
            </a:r>
            <a:r>
              <a:rPr dirty="0" err="1"/>
              <a:t>src</a:t>
            </a:r>
            <a:r>
              <a:rPr dirty="0"/>
              <a:t>/</a:t>
            </a:r>
            <a:r>
              <a:rPr dirty="0" err="1"/>
              <a:t>moegambit</a:t>
            </a:r>
            <a:r>
              <a:rPr dirty="0"/>
              <a:t>/observability/</a:t>
            </a:r>
            <a:r>
              <a:rPr dirty="0" err="1"/>
              <a:t>events.py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EBB61C-553E-5EAF-6D65-686E679B17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0041D3E-A922-4F2F-AF16-95C4FB6B5B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7455AC-DF7F-93AE-A9FA-D70B41E5D3F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CB11834-AB83-704C-AC08-60CF1FCDB085}" type="datetimeFigureOut">
              <a:t>2026/8/5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1440AF-88A2-0F46-D890-1296C36E410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C4F8FBE-0F47-FE51-7399-C2C6D2442FC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4914C84-E966-BC42-B3CC-88F87E9CB93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7143ED-1D93-FF43-C4C7-0AC19A9FA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A595F82-5F6F-181B-FF0B-FA2D898A8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B27F5E5-E31E-431A-1923-66DDB78317F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CB11834-AB83-704C-AC08-60CF1FCDB085}" type="datetimeFigureOut">
              <a:t>2026/8/5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2E01688-49EF-E62C-2857-445681AAEB0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298F075-18A0-D73F-F0D2-620031728EC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4914C84-E966-BC42-B3CC-88F87E9CB93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1740B4-80A0-836D-CA6E-53CE8385C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189E567-69E0-FCBD-5E21-8B55ECEF24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591AF24-5C54-E9F1-FF08-C34A57424F8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CB11834-AB83-704C-AC08-60CF1FCDB085}" type="datetimeFigureOut">
              <a:t>2026/8/5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6F70FEF-ED8F-B1EC-62A2-32E08A4F0A9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419E922-EE65-D377-F147-8DAD7607A43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4914C84-E966-BC42-B3CC-88F87E9CB93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103E28-DE00-3BBD-F106-F1A9F6C2C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F7CCAB3-1741-F1B2-7D47-AB5F4B2E1D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70A9DE8-D236-823A-ECD2-BA6DBA5233BF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E3AA2F4-85FF-2BA3-3A7F-2A6F798D229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CB11834-AB83-704C-AC08-60CF1FCDB085}" type="datetimeFigureOut">
              <a:t>2026/8/5</a:t>
            </a:fld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5A0675C-2017-0125-9FB9-71CEF7B8116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7B82F98-1CFD-4E36-5698-2226DCC2856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4914C84-E966-BC42-B3CC-88F87E9CB93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769C25-4C81-18BE-2486-2EDDD7A66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D0EF416-FEDA-B4D1-DB30-CF20EE176D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361E147-220A-A888-7762-283E86DE5DFB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0F685FB-B7B0-434E-FC29-8367521A3B7D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EA019E2-19C9-618B-CE27-AD9D7FEBE925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BB2BF87-9E39-6238-169B-5747E0099DB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CB11834-AB83-704C-AC08-60CF1FCDB085}" type="datetimeFigureOut">
              <a:t>2026/8/5</a:t>
            </a:fld>
            <a:endParaRPr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D134558-AC3E-4065-FF50-AC6F26B7A08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CB877E6-604D-767A-498B-277C1831649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4914C84-E966-BC42-B3CC-88F87E9CB93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1A43CF-878F-20FF-3A1C-6C34FFF61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71CDFE5-4B07-A74A-A436-4C4BF5C9D50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CB11834-AB83-704C-AC08-60CF1FCDB085}" type="datetimeFigureOut">
              <a:t>2026/8/5</a:t>
            </a:fld>
            <a:endParaRPr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EBC0CC3-2944-978B-3A18-6CAB0E963F9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D14FAA6-AA12-9701-E3B1-15422D669B1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4914C84-E966-BC42-B3CC-88F87E9CB93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35E3926-86F6-5A06-5E52-70470E30AAB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CB11834-AB83-704C-AC08-60CF1FCDB085}" type="datetimeFigureOut">
              <a:t>2026/8/5</a:t>
            </a:fld>
            <a:endParaRPr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B24C000-51EC-6D88-EBA9-080EB63103F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91111F8-AC10-60C4-F610-E96E460C7CC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4914C84-E966-BC42-B3CC-88F87E9CB93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9F4A23-CDAE-83B5-A36F-F903B54FC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0E70869-D25D-F4E8-09E7-60E94E23EC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5C137FB-488E-8444-C4BB-FD9C32B29FE1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AF961CD-F7D3-0EED-DCCD-EC3CBB92EBE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CB11834-AB83-704C-AC08-60CF1FCDB085}" type="datetimeFigureOut">
              <a:t>2026/8/5</a:t>
            </a:fld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55C7830-695A-9A5F-4CC4-9684FF7F841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7DD020F-3A41-CC68-EDB3-90FCC598265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4914C84-E966-BC42-B3CC-88F87E9CB93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42956D-8C27-3EBB-2800-9446FE509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4E8CB85-A68E-DDFA-9ED6-9A684F6BAA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729D9D0-9C63-F6A9-B4F9-C45AD48DDB01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F22290C-E6F1-B19B-E18A-329B97E68AA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CB11834-AB83-704C-AC08-60CF1FCDB085}" type="datetimeFigureOut">
              <a:t>2026/8/5</a:t>
            </a:fld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6490B9B-728E-3026-3B3F-E10718904B2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A641FE6-65BA-EFC3-2767-F717452351C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4914C84-E966-BC42-B3CC-88F87E9CB93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C5B9E1-21D5-38D9-6D09-19C0226C5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6B6314E-F92C-32D0-3D60-3577E1159E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FB2314-A7BD-A699-D31E-6514E7949C7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CB11834-AB83-704C-AC08-60CF1FCDB085}" type="datetimeFigureOut">
              <a:t>2026/8/5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3514566-8868-9CA6-C27C-7A14B59B21F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41CB1F-3AA7-CBF1-C64F-36D628EDB24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4914C84-E966-BC42-B3CC-88F87E9CB93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FA9EFDA-4AF9-1335-E5B1-93C3E3CEB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B319758-3BBF-252A-746A-1F953E0168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B97DE7-1E9D-D0A2-3EC4-353D2F95B2D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CB11834-AB83-704C-AC08-60CF1FCDB085}" type="datetimeFigureOut">
              <a:t>2026/8/5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2C7283-7443-EE0D-BF02-E78B5FA9959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341DF1-D2E8-C6B7-6D33-4F29A087E4B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4914C84-E966-BC42-B3CC-88F87E9CB93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8E7EB1F-FAB2-4885-D29A-AA4BD1AD1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FE77B76-EA39-42E6-CE92-5021E684F4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510C17-A24F-00AF-4432-3D397F4CBFC9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B11834-AB83-704C-AC08-60CF1FCDB085}" type="datetimeFigureOut">
              <a:t>2026/8/5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8AD8412-B4F3-8C0A-C62A-353B334644EE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BC93634-393D-A0EE-24C4-05030754CD7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914C84-E966-BC42-B3CC-88F87E9CB93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1726" y="358932"/>
            <a:ext cx="5447145" cy="1952156"/>
          </a:xfrm>
          <a:prstGeom prst="rect">
            <a:avLst/>
          </a:prstGeom>
        </p:spPr>
      </p:pic>
      <p:pic>
        <p:nvPicPr>
          <p:cNvPr id="6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106" y="2434726"/>
            <a:ext cx="7772400" cy="3595051"/>
          </a:xfrm>
          <a:prstGeom prst="rect">
            <a:avLst/>
          </a:prstGeom>
        </p:spPr>
      </p:pic>
      <p:pic>
        <p:nvPicPr>
          <p:cNvPr id="7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0437" y="5775029"/>
            <a:ext cx="2055355" cy="509496"/>
          </a:xfrm>
          <a:prstGeom prst="rect">
            <a:avLst/>
          </a:prstGeom>
        </p:spPr>
      </p:pic>
      <p:pic>
        <p:nvPicPr>
          <p:cNvPr id="8" name="图片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12506" y="1942377"/>
            <a:ext cx="3883475" cy="3644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348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515" y="1022380"/>
            <a:ext cx="5534598" cy="1860304"/>
          </a:xfrm>
          <a:prstGeom prst="rect">
            <a:avLst/>
          </a:prstGeom>
        </p:spPr>
      </p:pic>
      <p:pic>
        <p:nvPicPr>
          <p:cNvPr id="5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505" y="3099660"/>
            <a:ext cx="6618370" cy="3347634"/>
          </a:xfrm>
          <a:prstGeom prst="rect">
            <a:avLst/>
          </a:prstGeom>
        </p:spPr>
      </p:pic>
      <p:pic>
        <p:nvPicPr>
          <p:cNvPr id="6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1889" y="1022380"/>
            <a:ext cx="4482131" cy="2733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6959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023" y="385634"/>
            <a:ext cx="7158926" cy="1823425"/>
          </a:xfrm>
          <a:prstGeom prst="rect">
            <a:avLst/>
          </a:prstGeom>
        </p:spPr>
      </p:pic>
      <p:pic>
        <p:nvPicPr>
          <p:cNvPr id="14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196" y="2532268"/>
            <a:ext cx="5113149" cy="2454312"/>
          </a:xfrm>
          <a:prstGeom prst="rect">
            <a:avLst/>
          </a:prstGeom>
        </p:spPr>
      </p:pic>
      <p:pic>
        <p:nvPicPr>
          <p:cNvPr id="15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2532268"/>
            <a:ext cx="5012410" cy="2290211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BE6E38AB-FCC3-F7DA-FB45-996398BA6C4B}"/>
              </a:ext>
            </a:extLst>
          </p:cNvPr>
          <p:cNvSpPr>
            <a:spLocks noGrp="1"/>
          </p:cNvSpPr>
          <p:nvPr/>
        </p:nvSpPr>
        <p:spPr>
          <a:xfrm>
            <a:off x="945397" y="5153186"/>
            <a:ext cx="998090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/>
              <a:t>D2H：GPU </a:t>
            </a:r>
            <a:r>
              <a:rPr dirty="0" err="1"/>
              <a:t>显存</a:t>
            </a:r>
            <a:r>
              <a:rPr dirty="0"/>
              <a:t> → </a:t>
            </a:r>
            <a:r>
              <a:rPr dirty="0" err="1"/>
              <a:t>本机</a:t>
            </a:r>
            <a:r>
              <a:rPr dirty="0"/>
              <a:t> pinned host memory       </a:t>
            </a:r>
            <a:r>
              <a:rPr dirty="0" err="1"/>
              <a:t>cudaMemcpyAsync、PyTorch</a:t>
            </a:r>
            <a:r>
              <a:rPr dirty="0"/>
              <a:t> copy_(</a:t>
            </a:r>
            <a:r>
              <a:rPr dirty="0" err="1"/>
              <a:t>non_blocking</a:t>
            </a:r>
            <a:r>
              <a:rPr dirty="0"/>
              <a:t>=True)</a:t>
            </a:r>
          </a:p>
          <a:p>
            <a:r>
              <a:rPr dirty="0" err="1"/>
              <a:t>当前</a:t>
            </a:r>
            <a:r>
              <a:rPr dirty="0"/>
              <a:t> rank </a:t>
            </a:r>
            <a:r>
              <a:rPr dirty="0" err="1"/>
              <a:t>的完整状态：optimizer</a:t>
            </a:r>
            <a:r>
              <a:rPr dirty="0"/>
              <a:t> </a:t>
            </a:r>
            <a:r>
              <a:rPr dirty="0" err="1"/>
              <a:t>shard、local</a:t>
            </a:r>
            <a:r>
              <a:rPr dirty="0"/>
              <a:t> model-parameter </a:t>
            </a:r>
            <a:r>
              <a:rPr dirty="0" err="1"/>
              <a:t>shard，以及</a:t>
            </a:r>
            <a:r>
              <a:rPr dirty="0"/>
              <a:t> </a:t>
            </a:r>
            <a:r>
              <a:rPr dirty="0" err="1"/>
              <a:t>step、并行配置、RNG</a:t>
            </a:r>
            <a:r>
              <a:rPr dirty="0"/>
              <a:t> state </a:t>
            </a:r>
            <a:r>
              <a:rPr dirty="0" err="1"/>
              <a:t>等元数据</a:t>
            </a:r>
            <a:endParaRPr dirty="0"/>
          </a:p>
          <a:p>
            <a:r>
              <a:rPr dirty="0"/>
              <a:t>H2H：本机 host memory → </a:t>
            </a:r>
            <a:r>
              <a:rPr dirty="0" err="1"/>
              <a:t>另一个节点的</a:t>
            </a:r>
            <a:r>
              <a:rPr dirty="0"/>
              <a:t> host memory          chunked MPI</a:t>
            </a:r>
          </a:p>
          <a:p>
            <a:r>
              <a:rPr dirty="0" err="1"/>
              <a:t>只发送</a:t>
            </a:r>
            <a:r>
              <a:rPr dirty="0"/>
              <a:t> optimizer-state shard </a:t>
            </a:r>
            <a:r>
              <a:rPr dirty="0" err="1"/>
              <a:t>和元数据，不发送模型参数</a:t>
            </a:r>
            <a:endParaRPr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EED8CBD-EC0F-E2E8-B53D-C8A034C7E69B}"/>
              </a:ext>
            </a:extLst>
          </p:cNvPr>
          <p:cNvSpPr>
            <a:spLocks noGrp="1"/>
          </p:cNvSpPr>
          <p:nvPr/>
        </p:nvSpPr>
        <p:spPr>
          <a:xfrm>
            <a:off x="8283844" y="526942"/>
            <a:ext cx="230924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暂时故障</a:t>
            </a:r>
          </a:p>
          <a:p>
            <a:endParaRPr/>
          </a:p>
          <a:p>
            <a:r>
              <a:t>永久故障</a:t>
            </a:r>
          </a:p>
        </p:txBody>
      </p:sp>
    </p:spTree>
    <p:extLst>
      <p:ext uri="{BB962C8B-B14F-4D97-AF65-F5344CB8AC3E}">
        <p14:creationId xmlns:p14="http://schemas.microsoft.com/office/powerpoint/2010/main" val="26289318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AE49C8FB-D43B-38FC-D368-290ACE73B534}"/>
              </a:ext>
            </a:extLst>
          </p:cNvPr>
          <p:cNvSpPr txBox="1"/>
          <p:nvPr/>
        </p:nvSpPr>
        <p:spPr>
          <a:xfrm>
            <a:off x="704626" y="600642"/>
            <a:ext cx="41685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zh-CN" altLang="zh-CN" dirty="0">
                <a:effectLst/>
              </a:rPr>
              <a:t>梯度打包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1A84AE4-ABD7-3FFF-2A13-C0E2467C89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626" y="974688"/>
            <a:ext cx="5113149" cy="2454312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AC3D72E1-3940-202F-65FC-1918B9C84F48}"/>
              </a:ext>
            </a:extLst>
          </p:cNvPr>
          <p:cNvSpPr txBox="1"/>
          <p:nvPr/>
        </p:nvSpPr>
        <p:spPr>
          <a:xfrm>
            <a:off x="6374227" y="785308"/>
            <a:ext cx="28235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/>
              <a:t>Hybrid Shard</a:t>
            </a:r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2B699BF-DD14-FBC8-418F-D16542CE00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4227" y="1350944"/>
            <a:ext cx="4051300" cy="1701800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862CC032-3486-B5BA-B638-73AF538ACD20}"/>
              </a:ext>
            </a:extLst>
          </p:cNvPr>
          <p:cNvSpPr txBox="1"/>
          <p:nvPr/>
        </p:nvSpPr>
        <p:spPr>
          <a:xfrm>
            <a:off x="704626" y="4389120"/>
            <a:ext cx="2027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relaunch</a:t>
            </a:r>
            <a:endParaRPr kumimoji="1"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C5406C3-6D9F-4F9A-CECA-68138AB6317C}"/>
              </a:ext>
            </a:extLst>
          </p:cNvPr>
          <p:cNvSpPr txBox="1"/>
          <p:nvPr/>
        </p:nvSpPr>
        <p:spPr>
          <a:xfrm>
            <a:off x="7924374" y="785308"/>
            <a:ext cx="60995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>
                <a:latin typeface="Courier New" panose="02070309020205020404" pitchFamily="49" charset="0"/>
              </a:rPr>
              <a:t>_HYBRID_SHARD_ZERO2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181850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>
            <a:extLst>
              <a:ext uri="{FF2B5EF4-FFF2-40B4-BE49-F238E27FC236}">
                <a16:creationId xmlns:a16="http://schemas.microsoft.com/office/drawing/2014/main" id="{0C47B911-8AAB-4EA6-A014-06BB58376E65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76200" cy="419100"/>
          </a:xfrm>
          <a:prstGeom prst="rect">
            <a:avLst/>
          </a:prstGeom>
          <a:solidFill>
            <a:srgbClr val="156082"/>
          </a:solidFill>
          <a:ln w="0">
            <a:solidFill>
              <a:srgbClr val="156082"/>
            </a:solidFill>
            <a:prstDash val="solid"/>
          </a:ln>
        </p:spPr>
      </p:sp>
      <p:sp>
        <p:nvSpPr>
          <p:cNvPr id="2" name="slide-4-title">
            <a:extLst>
              <a:ext uri="{FF2B5EF4-FFF2-40B4-BE49-F238E27FC236}">
                <a16:creationId xmlns:a16="http://schemas.microsoft.com/office/drawing/2014/main" id="{4C82B5B9-8338-4B0A-873A-27080557E1B1}"/>
              </a:ext>
            </a:extLst>
          </p:cNvPr>
          <p:cNvSpPr>
            <a:spLocks noGrp="1"/>
          </p:cNvSpPr>
          <p:nvPr/>
        </p:nvSpPr>
        <p:spPr>
          <a:xfrm>
            <a:off x="590550" y="276225"/>
            <a:ext cx="10001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2250" b="1">
                <a:solidFill>
                  <a:srgbClr val="111827"/>
                </a:solidFill>
              </a:defRPr>
            </a:pPr>
            <a:r>
              <a:rPr sz="2250" b="1" dirty="0" err="1">
                <a:solidFill>
                  <a:srgbClr val="111827"/>
                </a:solidFill>
              </a:rPr>
              <a:t>MoEGambit</a:t>
            </a:r>
            <a:r>
              <a:rPr sz="2250" b="1" dirty="0">
                <a:solidFill>
                  <a:srgbClr val="111827"/>
                </a:solidFill>
              </a:rPr>
              <a:t> </a:t>
            </a:r>
            <a:r>
              <a:rPr sz="2250" b="1" dirty="0" err="1">
                <a:solidFill>
                  <a:srgbClr val="111827"/>
                </a:solidFill>
              </a:rPr>
              <a:t>热替换：逻辑</a:t>
            </a:r>
            <a:r>
              <a:rPr sz="2250" b="1" dirty="0">
                <a:solidFill>
                  <a:srgbClr val="111827"/>
                </a:solidFill>
              </a:rPr>
              <a:t> rank </a:t>
            </a:r>
            <a:r>
              <a:rPr sz="2250" b="1" dirty="0" err="1">
                <a:solidFill>
                  <a:srgbClr val="111827"/>
                </a:solidFill>
              </a:rPr>
              <a:t>不变，物理</a:t>
            </a:r>
            <a:r>
              <a:rPr sz="2250" b="1" dirty="0">
                <a:solidFill>
                  <a:srgbClr val="111827"/>
                </a:solidFill>
              </a:rPr>
              <a:t> worker </a:t>
            </a:r>
            <a:r>
              <a:rPr sz="2250" b="1" dirty="0" err="1">
                <a:solidFill>
                  <a:srgbClr val="111827"/>
                </a:solidFill>
              </a:rPr>
              <a:t>原位替换</a:t>
            </a:r>
            <a:endParaRPr sz="2250" b="1" dirty="0">
              <a:solidFill>
                <a:srgbClr val="111827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D61F187-F7FA-46A7-B439-2D4AE0E9F7C3}"/>
              </a:ext>
            </a:extLst>
          </p:cNvPr>
          <p:cNvSpPr>
            <a:spLocks noGrp="1"/>
          </p:cNvSpPr>
          <p:nvPr/>
        </p:nvSpPr>
        <p:spPr>
          <a:xfrm>
            <a:off x="10953750" y="361950"/>
            <a:ext cx="685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defRPr sz="1200" b="1">
                <a:solidFill>
                  <a:srgbClr val="667085"/>
                </a:solidFill>
              </a:defRPr>
            </a:pPr>
            <a:r>
              <a:rPr sz="1200" b="1">
                <a:solidFill>
                  <a:srgbClr val="667085"/>
                </a:solidFill>
              </a:rPr>
              <a:t>04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D75ABC6-8F20-472C-8542-31CAF35EC49B}"/>
              </a:ext>
            </a:extLst>
          </p:cNvPr>
          <p:cNvSpPr>
            <a:spLocks noGrp="1"/>
          </p:cNvSpPr>
          <p:nvPr/>
        </p:nvSpPr>
        <p:spPr>
          <a:xfrm>
            <a:off x="590550" y="74295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框架 hook 只报告阶段；公共 runtime 负责恢复事务；launcher / watcher 负责跨进程编排</a:t>
            </a:r>
          </a:p>
        </p:txBody>
      </p:sp>
      <p:sp>
        <p:nvSpPr>
          <p:cNvPr id="5" name="直线连接符 4">
            <a:extLst>
              <a:ext uri="{FF2B5EF4-FFF2-40B4-BE49-F238E27FC236}">
                <a16:creationId xmlns:a16="http://schemas.microsoft.com/office/drawing/2014/main" id="{C1278691-34BA-4102-B023-69DA1C9B7EBA}"/>
              </a:ext>
            </a:extLst>
          </p:cNvPr>
          <p:cNvSpPr>
            <a:spLocks noGrp="1"/>
          </p:cNvSpPr>
          <p:nvPr/>
        </p:nvSpPr>
        <p:spPr>
          <a:xfrm>
            <a:off x="400050" y="1047750"/>
            <a:ext cx="11239500" cy="0"/>
          </a:xfrm>
          <a:prstGeom prst="line">
            <a:avLst/>
          </a:prstGeom>
          <a:noFill/>
          <a:ln w="9525">
            <a:solidFill>
              <a:srgbClr val="D0D5DD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2294CC0-80B7-49ED-B8E9-ACB88EB2607F}"/>
              </a:ext>
            </a:extLst>
          </p:cNvPr>
          <p:cNvSpPr>
            <a:spLocks noGrp="1"/>
          </p:cNvSpPr>
          <p:nvPr/>
        </p:nvSpPr>
        <p:spPr>
          <a:xfrm>
            <a:off x="495300" y="1352550"/>
            <a:ext cx="857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200" b="1">
                <a:solidFill>
                  <a:srgbClr val="156082"/>
                </a:solidFill>
              </a:defRPr>
            </a:pPr>
            <a:r>
              <a:rPr sz="1200" b="1">
                <a:solidFill>
                  <a:srgbClr val="156082"/>
                </a:solidFill>
              </a:rPr>
              <a:t>控制面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1026DCA-FA4E-4AA9-87D8-1F1733F8CFD1}"/>
              </a:ext>
            </a:extLst>
          </p:cNvPr>
          <p:cNvSpPr>
            <a:spLocks noGrp="1"/>
          </p:cNvSpPr>
          <p:nvPr/>
        </p:nvSpPr>
        <p:spPr>
          <a:xfrm>
            <a:off x="495300" y="2733675"/>
            <a:ext cx="857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200" b="1">
                <a:solidFill>
                  <a:srgbClr val="196B24"/>
                </a:solidFill>
              </a:defRPr>
            </a:pPr>
            <a:r>
              <a:rPr sz="1200" b="1">
                <a:solidFill>
                  <a:srgbClr val="196B24"/>
                </a:solidFill>
              </a:rPr>
              <a:t>训练面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236C8C5-82F0-449E-A36A-5E0F33327016}"/>
              </a:ext>
            </a:extLst>
          </p:cNvPr>
          <p:cNvSpPr>
            <a:spLocks noGrp="1"/>
          </p:cNvSpPr>
          <p:nvPr/>
        </p:nvSpPr>
        <p:spPr>
          <a:xfrm>
            <a:off x="495300" y="4305300"/>
            <a:ext cx="857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200" b="1">
                <a:solidFill>
                  <a:srgbClr val="E97132"/>
                </a:solidFill>
              </a:defRPr>
            </a:pPr>
            <a:r>
              <a:rPr sz="1200" b="1">
                <a:solidFill>
                  <a:srgbClr val="E97132"/>
                </a:solidFill>
              </a:rPr>
              <a:t>状态面</a:t>
            </a:r>
          </a:p>
        </p:txBody>
      </p:sp>
      <p:sp>
        <p:nvSpPr>
          <p:cNvPr id="9" name="直线连接符 8">
            <a:extLst>
              <a:ext uri="{FF2B5EF4-FFF2-40B4-BE49-F238E27FC236}">
                <a16:creationId xmlns:a16="http://schemas.microsoft.com/office/drawing/2014/main" id="{59919365-B076-4CD0-A2EC-4E706D12D053}"/>
              </a:ext>
            </a:extLst>
          </p:cNvPr>
          <p:cNvSpPr>
            <a:spLocks noGrp="1"/>
          </p:cNvSpPr>
          <p:nvPr/>
        </p:nvSpPr>
        <p:spPr>
          <a:xfrm>
            <a:off x="1409700" y="1495425"/>
            <a:ext cx="10048875" cy="0"/>
          </a:xfrm>
          <a:prstGeom prst="line">
            <a:avLst/>
          </a:prstGeom>
          <a:noFill/>
          <a:ln w="9525">
            <a:solidFill>
              <a:srgbClr val="D9E8EE"/>
            </a:solidFill>
            <a:prstDash val="solid"/>
          </a:ln>
        </p:spPr>
      </p:sp>
      <p:sp>
        <p:nvSpPr>
          <p:cNvPr id="10" name="直线连接符 9">
            <a:extLst>
              <a:ext uri="{FF2B5EF4-FFF2-40B4-BE49-F238E27FC236}">
                <a16:creationId xmlns:a16="http://schemas.microsoft.com/office/drawing/2014/main" id="{5516AF18-C3AF-4E81-8AD3-2E51233890A8}"/>
              </a:ext>
            </a:extLst>
          </p:cNvPr>
          <p:cNvSpPr>
            <a:spLocks noGrp="1"/>
          </p:cNvSpPr>
          <p:nvPr/>
        </p:nvSpPr>
        <p:spPr>
          <a:xfrm>
            <a:off x="1409700" y="2876550"/>
            <a:ext cx="10048875" cy="0"/>
          </a:xfrm>
          <a:prstGeom prst="line">
            <a:avLst/>
          </a:prstGeom>
          <a:noFill/>
          <a:ln w="9525">
            <a:solidFill>
              <a:srgbClr val="DCEBDE"/>
            </a:solidFill>
            <a:prstDash val="solid"/>
          </a:ln>
        </p:spPr>
      </p:sp>
      <p:sp>
        <p:nvSpPr>
          <p:cNvPr id="11" name="直线连接符 10">
            <a:extLst>
              <a:ext uri="{FF2B5EF4-FFF2-40B4-BE49-F238E27FC236}">
                <a16:creationId xmlns:a16="http://schemas.microsoft.com/office/drawing/2014/main" id="{58F4A42C-5E46-45C9-BF5C-7E108C97D39C}"/>
              </a:ext>
            </a:extLst>
          </p:cNvPr>
          <p:cNvSpPr>
            <a:spLocks noGrp="1"/>
          </p:cNvSpPr>
          <p:nvPr/>
        </p:nvSpPr>
        <p:spPr>
          <a:xfrm>
            <a:off x="1409700" y="4448175"/>
            <a:ext cx="10048875" cy="0"/>
          </a:xfrm>
          <a:prstGeom prst="line">
            <a:avLst/>
          </a:prstGeom>
          <a:noFill/>
          <a:ln w="9525">
            <a:solidFill>
              <a:srgbClr val="F6D8C5"/>
            </a:solidFill>
            <a:prstDash val="solid"/>
          </a:ln>
        </p:spPr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99EE0B54-690C-4BFE-A143-9E41B79BD26F}"/>
              </a:ext>
            </a:extLst>
          </p:cNvPr>
          <p:cNvSpPr>
            <a:spLocks noGrp="1"/>
          </p:cNvSpPr>
          <p:nvPr/>
        </p:nvSpPr>
        <p:spPr>
          <a:xfrm>
            <a:off x="1571625" y="1257300"/>
            <a:ext cx="2114550" cy="78105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 wrap="square" lIns="95250" tIns="57150" rIns="95250" bIns="57150" anchor="ctr">
            <a:normAutofit/>
          </a:bodyPr>
          <a:lstStyle/>
          <a:p>
            <a:pPr algn="ctr">
              <a:defRPr sz="1125" b="0">
                <a:solidFill>
                  <a:srgbClr val="111827"/>
                </a:solidFill>
              </a:defRPr>
            </a:pPr>
            <a:r>
              <a:rPr sz="1125" b="0" dirty="0">
                <a:solidFill>
                  <a:srgbClr val="111827"/>
                </a:solidFill>
              </a:rPr>
              <a:t>1  Hook / heartbeat</a:t>
            </a:r>
          </a:p>
          <a:p>
            <a:pPr algn="ctr">
              <a:defRPr sz="1125" b="0">
                <a:solidFill>
                  <a:srgbClr val="111827"/>
                </a:solidFill>
              </a:defRPr>
            </a:pPr>
            <a:r>
              <a:rPr sz="1125" b="0" dirty="0" err="1">
                <a:solidFill>
                  <a:srgbClr val="111827"/>
                </a:solidFill>
              </a:rPr>
              <a:t>上报</a:t>
            </a:r>
            <a:r>
              <a:rPr sz="1125" b="0" dirty="0">
                <a:solidFill>
                  <a:srgbClr val="111827"/>
                </a:solidFill>
              </a:rPr>
              <a:t> </a:t>
            </a:r>
            <a:r>
              <a:rPr sz="1125" b="0" dirty="0" err="1">
                <a:solidFill>
                  <a:srgbClr val="111827"/>
                </a:solidFill>
              </a:rPr>
              <a:t>iteration、phase、rank</a:t>
            </a:r>
            <a:r>
              <a:rPr sz="1125" b="0" dirty="0">
                <a:solidFill>
                  <a:srgbClr val="111827"/>
                </a:solidFill>
              </a:rPr>
              <a:t> state</a:t>
            </a:r>
          </a:p>
        </p:txBody>
      </p:sp>
      <p:sp>
        <p:nvSpPr>
          <p:cNvPr id="13" name="右箭头 12">
            <a:extLst>
              <a:ext uri="{FF2B5EF4-FFF2-40B4-BE49-F238E27FC236}">
                <a16:creationId xmlns:a16="http://schemas.microsoft.com/office/drawing/2014/main" id="{D599E3B1-B6CF-47EF-8D2A-B53270814B7C}"/>
              </a:ext>
            </a:extLst>
          </p:cNvPr>
          <p:cNvSpPr>
            <a:spLocks noGrp="1"/>
          </p:cNvSpPr>
          <p:nvPr/>
        </p:nvSpPr>
        <p:spPr>
          <a:xfrm>
            <a:off x="3724275" y="1571625"/>
            <a:ext cx="228600" cy="114300"/>
          </a:xfrm>
          <a:prstGeom prst="rightArrow">
            <a:avLst/>
          </a:prstGeom>
          <a:solidFill>
            <a:srgbClr val="156082"/>
          </a:solidFill>
          <a:ln w="4763">
            <a:solidFill>
              <a:srgbClr val="156082"/>
            </a:solidFill>
            <a:prstDash val="solid"/>
          </a:ln>
        </p:spPr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7A85EAE1-6C76-47AE-A7CD-AA5A3D9D20FA}"/>
              </a:ext>
            </a:extLst>
          </p:cNvPr>
          <p:cNvSpPr>
            <a:spLocks noGrp="1"/>
          </p:cNvSpPr>
          <p:nvPr/>
        </p:nvSpPr>
        <p:spPr>
          <a:xfrm>
            <a:off x="3990975" y="1257300"/>
            <a:ext cx="2114550" cy="78105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 wrap="square" lIns="95250" tIns="57150" rIns="95250" bIns="57150" anchor="ctr">
            <a:normAutofit/>
          </a:bodyPr>
          <a:lstStyle/>
          <a:p>
            <a:pPr algn="ctr">
              <a:defRPr sz="1125" b="0">
                <a:solidFill>
                  <a:srgbClr val="111827"/>
                </a:solidFill>
              </a:defRPr>
            </a:pPr>
            <a:r>
              <a:rPr sz="1125" b="0" dirty="0">
                <a:solidFill>
                  <a:srgbClr val="111827"/>
                </a:solidFill>
              </a:rPr>
              <a:t>2  Launcher</a:t>
            </a:r>
          </a:p>
          <a:p>
            <a:pPr algn="ctr">
              <a:defRPr sz="1125" b="0">
                <a:solidFill>
                  <a:srgbClr val="111827"/>
                </a:solidFill>
              </a:defRPr>
            </a:pPr>
            <a:r>
              <a:rPr sz="1125" b="0" dirty="0" err="1">
                <a:solidFill>
                  <a:srgbClr val="111827"/>
                </a:solidFill>
              </a:rPr>
              <a:t>捕获</a:t>
            </a:r>
            <a:r>
              <a:rPr sz="1125" b="0" dirty="0">
                <a:solidFill>
                  <a:srgbClr val="111827"/>
                </a:solidFill>
              </a:rPr>
              <a:t> worker </a:t>
            </a:r>
            <a:r>
              <a:rPr sz="1125" b="0" dirty="0" err="1">
                <a:solidFill>
                  <a:srgbClr val="111827"/>
                </a:solidFill>
              </a:rPr>
              <a:t>exit；发</a:t>
            </a:r>
            <a:r>
              <a:rPr sz="1125" b="0" dirty="0">
                <a:solidFill>
                  <a:srgbClr val="111827"/>
                </a:solidFill>
              </a:rPr>
              <a:t> </a:t>
            </a:r>
            <a:r>
              <a:rPr sz="1125" b="0" dirty="0" err="1">
                <a:solidFill>
                  <a:srgbClr val="111827"/>
                </a:solidFill>
              </a:rPr>
              <a:t>worker_failure</a:t>
            </a:r>
            <a:endParaRPr sz="1125" b="0" dirty="0">
              <a:solidFill>
                <a:srgbClr val="111827"/>
              </a:solidFill>
            </a:endParaRPr>
          </a:p>
        </p:txBody>
      </p:sp>
      <p:sp>
        <p:nvSpPr>
          <p:cNvPr id="15" name="右箭头 14">
            <a:extLst>
              <a:ext uri="{FF2B5EF4-FFF2-40B4-BE49-F238E27FC236}">
                <a16:creationId xmlns:a16="http://schemas.microsoft.com/office/drawing/2014/main" id="{18E42899-6C5B-463E-B5C5-97643C29ACD1}"/>
              </a:ext>
            </a:extLst>
          </p:cNvPr>
          <p:cNvSpPr>
            <a:spLocks noGrp="1"/>
          </p:cNvSpPr>
          <p:nvPr/>
        </p:nvSpPr>
        <p:spPr>
          <a:xfrm>
            <a:off x="6143625" y="1571625"/>
            <a:ext cx="228600" cy="114300"/>
          </a:xfrm>
          <a:prstGeom prst="rightArrow">
            <a:avLst/>
          </a:prstGeom>
          <a:solidFill>
            <a:srgbClr val="156082"/>
          </a:solidFill>
          <a:ln w="4763">
            <a:solidFill>
              <a:srgbClr val="156082"/>
            </a:solidFill>
            <a:prstDash val="solid"/>
          </a:ln>
        </p:spPr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77C73740-D62B-4AC7-8889-2CED324DA89C}"/>
              </a:ext>
            </a:extLst>
          </p:cNvPr>
          <p:cNvSpPr>
            <a:spLocks noGrp="1"/>
          </p:cNvSpPr>
          <p:nvPr/>
        </p:nvSpPr>
        <p:spPr>
          <a:xfrm>
            <a:off x="6410325" y="1257300"/>
            <a:ext cx="2114550" cy="781050"/>
          </a:xfrm>
          <a:prstGeom prst="roundRect">
            <a:avLst>
              <a:gd name="adj" fmla="val 9756"/>
            </a:avLst>
          </a:prstGeom>
          <a:solidFill>
            <a:srgbClr val="E8F2F6"/>
          </a:solidFill>
          <a:ln w="9525">
            <a:solidFill>
              <a:srgbClr val="156082"/>
            </a:solidFill>
            <a:prstDash val="solid"/>
          </a:ln>
        </p:spPr>
        <p:txBody>
          <a:bodyPr wrap="square" lIns="95250" tIns="57150" rIns="95250" bIns="57150" anchor="ctr">
            <a:normAutofit/>
          </a:bodyPr>
          <a:lstStyle/>
          <a:p>
            <a:pPr algn="ctr">
              <a:defRPr sz="1125" b="1">
                <a:solidFill>
                  <a:srgbClr val="111827"/>
                </a:solidFill>
              </a:defRPr>
            </a:pPr>
            <a:r>
              <a:rPr sz="1125" b="1" dirty="0">
                <a:solidFill>
                  <a:srgbClr val="111827"/>
                </a:solidFill>
              </a:rPr>
              <a:t>3  Watcher</a:t>
            </a:r>
          </a:p>
          <a:p>
            <a:pPr algn="ctr">
              <a:defRPr sz="1125" b="1">
                <a:solidFill>
                  <a:srgbClr val="111827"/>
                </a:solidFill>
              </a:defRPr>
            </a:pPr>
            <a:r>
              <a:rPr sz="1125" b="1" dirty="0" err="1">
                <a:solidFill>
                  <a:srgbClr val="111827"/>
                </a:solidFill>
              </a:rPr>
              <a:t>冻结</a:t>
            </a:r>
            <a:r>
              <a:rPr sz="1125" b="1" dirty="0">
                <a:solidFill>
                  <a:srgbClr val="111827"/>
                </a:solidFill>
              </a:rPr>
              <a:t> </a:t>
            </a:r>
            <a:r>
              <a:rPr sz="1125" b="1" dirty="0" err="1">
                <a:solidFill>
                  <a:srgbClr val="111827"/>
                </a:solidFill>
              </a:rPr>
              <a:t>recovery_epoch；选择</a:t>
            </a:r>
            <a:r>
              <a:rPr sz="1125" b="1" dirty="0">
                <a:solidFill>
                  <a:srgbClr val="111827"/>
                </a:solidFill>
              </a:rPr>
              <a:t> safe point</a:t>
            </a:r>
          </a:p>
        </p:txBody>
      </p:sp>
      <p:sp>
        <p:nvSpPr>
          <p:cNvPr id="17" name="右箭头 16">
            <a:extLst>
              <a:ext uri="{FF2B5EF4-FFF2-40B4-BE49-F238E27FC236}">
                <a16:creationId xmlns:a16="http://schemas.microsoft.com/office/drawing/2014/main" id="{D50B1484-ECE0-4623-B30B-8C554A37F2A6}"/>
              </a:ext>
            </a:extLst>
          </p:cNvPr>
          <p:cNvSpPr>
            <a:spLocks noGrp="1"/>
          </p:cNvSpPr>
          <p:nvPr/>
        </p:nvSpPr>
        <p:spPr>
          <a:xfrm>
            <a:off x="8562975" y="1571625"/>
            <a:ext cx="228600" cy="114300"/>
          </a:xfrm>
          <a:prstGeom prst="rightArrow">
            <a:avLst/>
          </a:prstGeom>
          <a:solidFill>
            <a:srgbClr val="156082"/>
          </a:solidFill>
          <a:ln w="4763">
            <a:solidFill>
              <a:srgbClr val="156082"/>
            </a:solidFill>
            <a:prstDash val="solid"/>
          </a:ln>
        </p:spPr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84086490-8F1C-466E-9A86-669833C4BFA2}"/>
              </a:ext>
            </a:extLst>
          </p:cNvPr>
          <p:cNvSpPr>
            <a:spLocks noGrp="1"/>
          </p:cNvSpPr>
          <p:nvPr/>
        </p:nvSpPr>
        <p:spPr>
          <a:xfrm>
            <a:off x="8829675" y="1257300"/>
            <a:ext cx="2114550" cy="78105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 wrap="square" lIns="95250" tIns="57150" rIns="95250" bIns="57150" anchor="ctr">
            <a:normAutofit/>
          </a:bodyPr>
          <a:lstStyle/>
          <a:p>
            <a:pPr algn="ctr">
              <a:defRPr sz="1125" b="0">
                <a:solidFill>
                  <a:srgbClr val="111827"/>
                </a:solidFill>
              </a:defRPr>
            </a:pPr>
            <a:r>
              <a:rPr sz="1125" b="0" dirty="0">
                <a:solidFill>
                  <a:srgbClr val="111827"/>
                </a:solidFill>
              </a:rPr>
              <a:t>4  Rebuild descriptor</a:t>
            </a:r>
          </a:p>
          <a:p>
            <a:pPr algn="ctr">
              <a:defRPr sz="1125" b="0">
                <a:solidFill>
                  <a:srgbClr val="111827"/>
                </a:solidFill>
              </a:defRPr>
            </a:pPr>
            <a:r>
              <a:rPr sz="1125" b="0" dirty="0" err="1">
                <a:solidFill>
                  <a:srgbClr val="111827"/>
                </a:solidFill>
              </a:rPr>
              <a:t>固化</a:t>
            </a:r>
            <a:r>
              <a:rPr sz="1125" b="0" dirty="0">
                <a:solidFill>
                  <a:srgbClr val="111827"/>
                </a:solidFill>
              </a:rPr>
              <a:t> logical </a:t>
            </a:r>
            <a:r>
              <a:rPr sz="1125" b="0" dirty="0" err="1">
                <a:solidFill>
                  <a:srgbClr val="111827"/>
                </a:solidFill>
              </a:rPr>
              <a:t>rank、状态来源、版本</a:t>
            </a:r>
            <a:endParaRPr sz="1125" b="0" dirty="0">
              <a:solidFill>
                <a:srgbClr val="111827"/>
              </a:solidFill>
            </a:endParaRP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C3352F99-01A2-4EF3-996D-3040E8CA1309}"/>
              </a:ext>
            </a:extLst>
          </p:cNvPr>
          <p:cNvSpPr>
            <a:spLocks noGrp="1"/>
          </p:cNvSpPr>
          <p:nvPr/>
        </p:nvSpPr>
        <p:spPr>
          <a:xfrm>
            <a:off x="1666875" y="2476500"/>
            <a:ext cx="2495550" cy="1057275"/>
          </a:xfrm>
          <a:prstGeom prst="roundRect">
            <a:avLst>
              <a:gd name="adj" fmla="val 7207"/>
            </a:avLst>
          </a:prstGeom>
          <a:solidFill>
            <a:srgbClr val="EAF5EC"/>
          </a:solidFill>
          <a:ln w="9525">
            <a:solidFill>
              <a:srgbClr val="196B24"/>
            </a:solidFill>
            <a:prstDash val="solid"/>
          </a:ln>
        </p:spPr>
        <p:txBody>
          <a:bodyPr wrap="square" lIns="95250" tIns="57150" rIns="95250" bIns="57150" anchor="ctr">
            <a:normAutofit/>
          </a:bodyPr>
          <a:lstStyle/>
          <a:p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健康 ranks</a:t>
            </a:r>
          </a:p>
          <a:p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到达 committed safe point</a:t>
            </a:r>
          </a:p>
          <a:p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冻结 optimizer replica</a:t>
            </a:r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D7B8883D-59E6-4781-83AA-5E7C7AA99AB5}"/>
              </a:ext>
            </a:extLst>
          </p:cNvPr>
          <p:cNvSpPr>
            <a:spLocks noGrp="1"/>
          </p:cNvSpPr>
          <p:nvPr/>
        </p:nvSpPr>
        <p:spPr>
          <a:xfrm>
            <a:off x="4857750" y="2476500"/>
            <a:ext cx="2667000" cy="1057275"/>
          </a:xfrm>
          <a:prstGeom prst="roundRect">
            <a:avLst>
              <a:gd name="adj" fmla="val 7207"/>
            </a:avLst>
          </a:prstGeom>
          <a:solidFill>
            <a:srgbClr val="FFFFFF"/>
          </a:solidFill>
          <a:ln w="9525">
            <a:solidFill>
              <a:srgbClr val="156082"/>
            </a:solidFill>
            <a:prstDash val="solid"/>
          </a:ln>
        </p:spPr>
        <p:txBody>
          <a:bodyPr wrap="square" lIns="95250" tIns="57150" rIns="95250" bIns="57150" anchor="ctr">
            <a:normAutofit/>
          </a:bodyPr>
          <a:lstStyle/>
          <a:p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通信代际切换</a:t>
            </a:r>
          </a:p>
          <a:p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retire old WORLD</a:t>
            </a:r>
          </a:p>
          <a:p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new TCPStore + selective groups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45C8C7B0-6152-4A55-BE91-5BFDADAAA05D}"/>
              </a:ext>
            </a:extLst>
          </p:cNvPr>
          <p:cNvSpPr>
            <a:spLocks noGrp="1"/>
          </p:cNvSpPr>
          <p:nvPr/>
        </p:nvSpPr>
        <p:spPr>
          <a:xfrm>
            <a:off x="8239125" y="2476500"/>
            <a:ext cx="2495550" cy="1057275"/>
          </a:xfrm>
          <a:prstGeom prst="roundRect">
            <a:avLst>
              <a:gd name="adj" fmla="val 7207"/>
            </a:avLst>
          </a:prstGeom>
          <a:solidFill>
            <a:srgbClr val="FFF1E8"/>
          </a:solidFill>
          <a:ln w="9525">
            <a:solidFill>
              <a:srgbClr val="E97132"/>
            </a:solidFill>
            <a:prstDash val="solid"/>
          </a:ln>
        </p:spPr>
        <p:txBody>
          <a:bodyPr wrap="square" lIns="95250" tIns="57150" rIns="95250" bIns="57150" anchor="ctr">
            <a:normAutofit/>
          </a:bodyPr>
          <a:lstStyle/>
          <a:p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replacement worker</a:t>
            </a:r>
          </a:p>
          <a:p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继承原 logical RANK</a:t>
            </a:r>
          </a:p>
          <a:p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恢复后加入同一拓扑</a:t>
            </a:r>
          </a:p>
        </p:txBody>
      </p:sp>
      <p:cxnSp>
        <p:nvCxnSpPr>
          <p:cNvPr id="55" name="直线箭头连接符 54"/>
          <p:cNvCxnSpPr>
            <a:stCxn id="19" idx="3"/>
            <a:endCxn id="20" idx="1"/>
          </p:cNvCxnSpPr>
          <p:nvPr/>
        </p:nvCxnSpPr>
        <p:spPr>
          <a:xfrm>
            <a:off x="4162425" y="3005138"/>
            <a:ext cx="695325" cy="0"/>
          </a:xfrm>
          <a:prstGeom prst="straightConnector1">
            <a:avLst/>
          </a:prstGeom>
          <a:ln w="19050">
            <a:solidFill>
              <a:srgbClr val="156082"/>
            </a:solidFill>
            <a:prstDash val="solid"/>
            <a:tailEnd type="arrow" w="sm" len="sm"/>
          </a:ln>
        </p:spPr>
      </p:cxnSp>
      <p:cxnSp>
        <p:nvCxnSpPr>
          <p:cNvPr id="56" name="直线箭头连接符 55"/>
          <p:cNvCxnSpPr>
            <a:stCxn id="20" idx="3"/>
            <a:endCxn id="21" idx="1"/>
          </p:cNvCxnSpPr>
          <p:nvPr/>
        </p:nvCxnSpPr>
        <p:spPr>
          <a:xfrm>
            <a:off x="7524750" y="3005138"/>
            <a:ext cx="714375" cy="0"/>
          </a:xfrm>
          <a:prstGeom prst="straightConnector1">
            <a:avLst/>
          </a:prstGeom>
          <a:ln w="19050">
            <a:solidFill>
              <a:srgbClr val="156082"/>
            </a:solidFill>
            <a:prstDash val="solid"/>
            <a:tailEnd type="arrow" w="sm" len="sm"/>
          </a:ln>
        </p:spPr>
      </p:cxn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002BE01E-8625-4EAA-B76A-12796F370E1A}"/>
              </a:ext>
            </a:extLst>
          </p:cNvPr>
          <p:cNvSpPr>
            <a:spLocks noGrp="1"/>
          </p:cNvSpPr>
          <p:nvPr/>
        </p:nvSpPr>
        <p:spPr>
          <a:xfrm>
            <a:off x="1571625" y="4143375"/>
            <a:ext cx="2114550" cy="819150"/>
          </a:xfrm>
          <a:prstGeom prst="roundRect">
            <a:avLst>
              <a:gd name="adj" fmla="val 9302"/>
            </a:avLst>
          </a:prstGeom>
          <a:solidFill>
            <a:srgbClr val="E8F2F6"/>
          </a:solidFill>
          <a:ln w="9525">
            <a:solidFill>
              <a:srgbClr val="156082"/>
            </a:solidFill>
            <a:prstDash val="solid"/>
          </a:ln>
        </p:spPr>
        <p:txBody>
          <a:bodyPr wrap="square" lIns="95250" tIns="57150" rIns="95250" bIns="57150" anchor="ctr">
            <a:normAutofit/>
          </a:bodyPr>
          <a:lstStyle/>
          <a:p>
            <a:pPr algn="ctr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D2H 本机完整快照</a:t>
            </a:r>
          </a:p>
          <a:p>
            <a:pPr algn="ctr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model + optimizer + metadata</a:t>
            </a:r>
          </a:p>
        </p:txBody>
      </p:sp>
      <p:sp>
        <p:nvSpPr>
          <p:cNvPr id="25" name="右箭头 24">
            <a:extLst>
              <a:ext uri="{FF2B5EF4-FFF2-40B4-BE49-F238E27FC236}">
                <a16:creationId xmlns:a16="http://schemas.microsoft.com/office/drawing/2014/main" id="{D61BBB96-FCE0-4D06-9351-F23BA1A1C111}"/>
              </a:ext>
            </a:extLst>
          </p:cNvPr>
          <p:cNvSpPr>
            <a:spLocks noGrp="1"/>
          </p:cNvSpPr>
          <p:nvPr/>
        </p:nvSpPr>
        <p:spPr>
          <a:xfrm>
            <a:off x="3724275" y="4495800"/>
            <a:ext cx="228600" cy="114300"/>
          </a:xfrm>
          <a:prstGeom prst="rightArrow">
            <a:avLst/>
          </a:prstGeom>
          <a:solidFill>
            <a:srgbClr val="156082"/>
          </a:solidFill>
          <a:ln w="4763">
            <a:solidFill>
              <a:srgbClr val="156082"/>
            </a:solidFill>
            <a:prstDash val="solid"/>
          </a:ln>
        </p:spPr>
      </p:sp>
      <p:sp>
        <p:nvSpPr>
          <p:cNvPr id="26" name="圆角矩形 25">
            <a:extLst>
              <a:ext uri="{FF2B5EF4-FFF2-40B4-BE49-F238E27FC236}">
                <a16:creationId xmlns:a16="http://schemas.microsoft.com/office/drawing/2014/main" id="{D96BB688-96F8-4EF9-9C02-F49E1ABA2735}"/>
              </a:ext>
            </a:extLst>
          </p:cNvPr>
          <p:cNvSpPr>
            <a:spLocks noGrp="1"/>
          </p:cNvSpPr>
          <p:nvPr/>
        </p:nvSpPr>
        <p:spPr>
          <a:xfrm>
            <a:off x="3990975" y="4143375"/>
            <a:ext cx="2114550" cy="819150"/>
          </a:xfrm>
          <a:prstGeom prst="roundRect">
            <a:avLst>
              <a:gd name="adj" fmla="val 9302"/>
            </a:avLst>
          </a:prstGeom>
          <a:solidFill>
            <a:srgbClr val="EAF5EC"/>
          </a:solidFill>
          <a:ln w="9525">
            <a:solidFill>
              <a:srgbClr val="196B24"/>
            </a:solidFill>
            <a:prstDash val="solid"/>
          </a:ln>
        </p:spPr>
        <p:txBody>
          <a:bodyPr wrap="square" lIns="95250" tIns="57150" rIns="95250" bIns="57150" anchor="ctr">
            <a:normAutofit/>
          </a:bodyPr>
          <a:lstStyle/>
          <a:p>
            <a:pPr algn="ctr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H2H 远端副本</a:t>
            </a:r>
          </a:p>
          <a:p>
            <a:pPr algn="ctr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optimizer-only，独立 TCP</a:t>
            </a:r>
          </a:p>
        </p:txBody>
      </p:sp>
      <p:sp>
        <p:nvSpPr>
          <p:cNvPr id="27" name="右箭头 26">
            <a:extLst>
              <a:ext uri="{FF2B5EF4-FFF2-40B4-BE49-F238E27FC236}">
                <a16:creationId xmlns:a16="http://schemas.microsoft.com/office/drawing/2014/main" id="{68EBEE37-68DA-48DD-98B0-AB90FA52DDF9}"/>
              </a:ext>
            </a:extLst>
          </p:cNvPr>
          <p:cNvSpPr>
            <a:spLocks noGrp="1"/>
          </p:cNvSpPr>
          <p:nvPr/>
        </p:nvSpPr>
        <p:spPr>
          <a:xfrm>
            <a:off x="6143625" y="4495800"/>
            <a:ext cx="228600" cy="114300"/>
          </a:xfrm>
          <a:prstGeom prst="rightArrow">
            <a:avLst/>
          </a:prstGeom>
          <a:solidFill>
            <a:srgbClr val="156082"/>
          </a:solidFill>
          <a:ln w="4763">
            <a:solidFill>
              <a:srgbClr val="156082"/>
            </a:solidFill>
            <a:prstDash val="solid"/>
          </a:ln>
        </p:spPr>
      </p:sp>
      <p:sp>
        <p:nvSpPr>
          <p:cNvPr id="28" name="圆角矩形 27">
            <a:extLst>
              <a:ext uri="{FF2B5EF4-FFF2-40B4-BE49-F238E27FC236}">
                <a16:creationId xmlns:a16="http://schemas.microsoft.com/office/drawing/2014/main" id="{D305377D-53AA-457E-B91A-649BBE814CD1}"/>
              </a:ext>
            </a:extLst>
          </p:cNvPr>
          <p:cNvSpPr>
            <a:spLocks noGrp="1"/>
          </p:cNvSpPr>
          <p:nvPr/>
        </p:nvSpPr>
        <p:spPr>
          <a:xfrm>
            <a:off x="6410325" y="4143375"/>
            <a:ext cx="2114550" cy="819150"/>
          </a:xfrm>
          <a:prstGeom prst="roundRect">
            <a:avLst>
              <a:gd name="adj" fmla="val 9302"/>
            </a:avLst>
          </a:prstGeom>
          <a:solidFill>
            <a:srgbClr val="FFF1E8"/>
          </a:solidFill>
          <a:ln w="9525">
            <a:solidFill>
              <a:srgbClr val="E97132"/>
            </a:solidFill>
            <a:prstDash val="solid"/>
          </a:ln>
        </p:spPr>
        <p:txBody>
          <a:bodyPr wrap="square" lIns="95250" tIns="57150" rIns="95250" bIns="57150" anchor="ctr">
            <a:normAutofit/>
          </a:bodyPr>
          <a:lstStyle/>
          <a:p>
            <a:pPr algn="ctr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checkpoint shard</a:t>
            </a:r>
          </a:p>
          <a:p>
            <a:pPr algn="ctr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expert model / optimizer</a:t>
            </a:r>
          </a:p>
        </p:txBody>
      </p:sp>
      <p:sp>
        <p:nvSpPr>
          <p:cNvPr id="29" name="右箭头 28">
            <a:extLst>
              <a:ext uri="{FF2B5EF4-FFF2-40B4-BE49-F238E27FC236}">
                <a16:creationId xmlns:a16="http://schemas.microsoft.com/office/drawing/2014/main" id="{C7219B93-EBBA-486F-9AE9-D43698AFF509}"/>
              </a:ext>
            </a:extLst>
          </p:cNvPr>
          <p:cNvSpPr>
            <a:spLocks noGrp="1"/>
          </p:cNvSpPr>
          <p:nvPr/>
        </p:nvSpPr>
        <p:spPr>
          <a:xfrm>
            <a:off x="8562975" y="4495800"/>
            <a:ext cx="228600" cy="114300"/>
          </a:xfrm>
          <a:prstGeom prst="rightArrow">
            <a:avLst/>
          </a:prstGeom>
          <a:solidFill>
            <a:srgbClr val="E97132"/>
          </a:solidFill>
          <a:ln w="4763">
            <a:solidFill>
              <a:srgbClr val="E97132"/>
            </a:solidFill>
            <a:prstDash val="solid"/>
          </a:ln>
        </p:spPr>
      </p:sp>
      <p:sp>
        <p:nvSpPr>
          <p:cNvPr id="30" name="圆角矩形 29">
            <a:extLst>
              <a:ext uri="{FF2B5EF4-FFF2-40B4-BE49-F238E27FC236}">
                <a16:creationId xmlns:a16="http://schemas.microsoft.com/office/drawing/2014/main" id="{05979074-517E-4FCE-A7BA-B9677EC27E00}"/>
              </a:ext>
            </a:extLst>
          </p:cNvPr>
          <p:cNvSpPr>
            <a:spLocks noGrp="1"/>
          </p:cNvSpPr>
          <p:nvPr/>
        </p:nvSpPr>
        <p:spPr>
          <a:xfrm>
            <a:off x="8829675" y="4143375"/>
            <a:ext cx="2114550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111827"/>
            </a:solidFill>
            <a:prstDash val="solid"/>
          </a:ln>
        </p:spPr>
        <p:txBody>
          <a:bodyPr wrap="square" lIns="95250" tIns="57150" rIns="95250" bIns="57150" anchor="ctr">
            <a:normAutofit/>
          </a:bodyPr>
          <a:lstStyle/>
          <a:p>
            <a:pPr algn="ctr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恢复提交</a:t>
            </a:r>
          </a:p>
          <a:p>
            <a:pPr algn="ctr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首个完整 iteration 后 commit</a:t>
            </a:r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22412C61-860A-4C1B-B8BC-3C3505E3BA30}"/>
              </a:ext>
            </a:extLst>
          </p:cNvPr>
          <p:cNvSpPr>
            <a:spLocks noGrp="1"/>
          </p:cNvSpPr>
          <p:nvPr/>
        </p:nvSpPr>
        <p:spPr>
          <a:xfrm>
            <a:off x="1571625" y="5305425"/>
            <a:ext cx="9372600" cy="628650"/>
          </a:xfrm>
          <a:prstGeom prst="roundRect">
            <a:avLst>
              <a:gd name="adj" fmla="val 12121"/>
            </a:avLst>
          </a:prstGeom>
          <a:solidFill>
            <a:srgbClr val="F5F7F9"/>
          </a:solidFill>
          <a:ln w="9525">
            <a:solidFill>
              <a:srgbClr val="D0D5DD"/>
            </a:solidFill>
            <a:prstDash val="solid"/>
          </a:ln>
        </p:spPr>
        <p:txBody>
          <a:bodyPr wrap="square" lIns="171450" tIns="76200" rIns="171450" bIns="76200" anchor="ctr">
            <a:normAutofit/>
          </a:bodyPr>
          <a:lstStyle/>
          <a:p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核心不变量：任何 rank 恢复训练前，必须同时证明 topology generation、state version、group ordinal 与 descriptor 一致。</a:t>
            </a:r>
          </a:p>
        </p:txBody>
      </p:sp>
      <p:sp>
        <p:nvSpPr>
          <p:cNvPr id="32" name="直线连接符 31">
            <a:extLst>
              <a:ext uri="{FF2B5EF4-FFF2-40B4-BE49-F238E27FC236}">
                <a16:creationId xmlns:a16="http://schemas.microsoft.com/office/drawing/2014/main" id="{FA8D6F2A-AEBE-41C0-9B69-2F43FF38F02C}"/>
              </a:ext>
            </a:extLst>
          </p:cNvPr>
          <p:cNvSpPr>
            <a:spLocks noGrp="1"/>
          </p:cNvSpPr>
          <p:nvPr/>
        </p:nvSpPr>
        <p:spPr>
          <a:xfrm>
            <a:off x="400050" y="6486525"/>
            <a:ext cx="11239500" cy="0"/>
          </a:xfrm>
          <a:prstGeom prst="line">
            <a:avLst/>
          </a:prstGeom>
          <a:noFill/>
          <a:ln w="9525">
            <a:solidFill>
              <a:srgbClr val="E4E7EC"/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59FF60C-C72D-48BD-9411-908E82542BED}"/>
              </a:ext>
            </a:extLst>
          </p:cNvPr>
          <p:cNvSpPr>
            <a:spLocks noGrp="1"/>
          </p:cNvSpPr>
          <p:nvPr/>
        </p:nvSpPr>
        <p:spPr>
          <a:xfrm>
            <a:off x="419100" y="6543675"/>
            <a:ext cx="6000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825" b="0">
                <a:solidFill>
                  <a:srgbClr val="98A2B3"/>
                </a:solidFill>
              </a:defRPr>
            </a:pPr>
            <a:r>
              <a:rPr sz="825" b="0">
                <a:solidFill>
                  <a:srgbClr val="98A2B3"/>
                </a:solidFill>
              </a:rPr>
              <a:t>MoEGambit  |  end-to-end hot swap</a:t>
            </a:r>
          </a:p>
        </p:txBody>
      </p:sp>
    </p:spTree>
    <p:extLst>
      <p:ext uri="{BB962C8B-B14F-4D97-AF65-F5344CB8AC3E}">
        <p14:creationId xmlns:p14="http://schemas.microsoft.com/office/powerpoint/2010/main" val="26289318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D51A55B8-C133-47FE-A123-5DB03F18ED9A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76200" cy="419100"/>
          </a:xfrm>
          <a:prstGeom prst="rect">
            <a:avLst/>
          </a:prstGeom>
          <a:solidFill>
            <a:srgbClr val="156082"/>
          </a:solidFill>
          <a:ln w="0">
            <a:solidFill>
              <a:srgbClr val="156082"/>
            </a:solidFill>
            <a:prstDash val="solid"/>
          </a:ln>
        </p:spPr>
      </p:sp>
      <p:sp>
        <p:nvSpPr>
          <p:cNvPr id="2" name="slide-5-title">
            <a:extLst>
              <a:ext uri="{FF2B5EF4-FFF2-40B4-BE49-F238E27FC236}">
                <a16:creationId xmlns:a16="http://schemas.microsoft.com/office/drawing/2014/main" id="{F4AF950C-2C7C-4CCC-A06D-693900DD7AD5}"/>
              </a:ext>
            </a:extLst>
          </p:cNvPr>
          <p:cNvSpPr>
            <a:spLocks noGrp="1"/>
          </p:cNvSpPr>
          <p:nvPr/>
        </p:nvSpPr>
        <p:spPr>
          <a:xfrm>
            <a:off x="590550" y="276225"/>
            <a:ext cx="10001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2250" b="1">
                <a:solidFill>
                  <a:srgbClr val="111827"/>
                </a:solidFill>
              </a:defRPr>
            </a:pPr>
            <a:r>
              <a:rPr sz="2250" b="1">
                <a:solidFill>
                  <a:srgbClr val="111827"/>
                </a:solidFill>
              </a:rPr>
              <a:t>Launcher：把 OS 进程故障转换为 rank 级控制事件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4F12769-8125-4D42-A05C-9986BAE0E084}"/>
              </a:ext>
            </a:extLst>
          </p:cNvPr>
          <p:cNvSpPr>
            <a:spLocks noGrp="1"/>
          </p:cNvSpPr>
          <p:nvPr/>
        </p:nvSpPr>
        <p:spPr>
          <a:xfrm>
            <a:off x="10953750" y="361950"/>
            <a:ext cx="685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defRPr sz="1200" b="1">
                <a:solidFill>
                  <a:srgbClr val="667085"/>
                </a:solidFill>
              </a:defRPr>
            </a:pPr>
            <a:r>
              <a:rPr sz="1200" b="1">
                <a:solidFill>
                  <a:srgbClr val="667085"/>
                </a:solidFill>
              </a:rPr>
              <a:t>05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7B4B0F4-5846-485F-8EF2-B98F4485D74D}"/>
              </a:ext>
            </a:extLst>
          </p:cNvPr>
          <p:cNvSpPr>
            <a:spLocks noGrp="1"/>
          </p:cNvSpPr>
          <p:nvPr/>
        </p:nvSpPr>
        <p:spPr>
          <a:xfrm>
            <a:off x="590550" y="74295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Launcher 只管理本节点 worker 生命周期；全局恢复决策交给 watcher，避免节点各自推断</a:t>
            </a:r>
          </a:p>
        </p:txBody>
      </p:sp>
      <p:sp>
        <p:nvSpPr>
          <p:cNvPr id="5" name="直线连接符 4">
            <a:extLst>
              <a:ext uri="{FF2B5EF4-FFF2-40B4-BE49-F238E27FC236}">
                <a16:creationId xmlns:a16="http://schemas.microsoft.com/office/drawing/2014/main" id="{E0C05237-4D40-470E-A816-CDEBBF782B09}"/>
              </a:ext>
            </a:extLst>
          </p:cNvPr>
          <p:cNvSpPr>
            <a:spLocks noGrp="1"/>
          </p:cNvSpPr>
          <p:nvPr/>
        </p:nvSpPr>
        <p:spPr>
          <a:xfrm>
            <a:off x="400050" y="1047750"/>
            <a:ext cx="11239500" cy="0"/>
          </a:xfrm>
          <a:prstGeom prst="line">
            <a:avLst/>
          </a:prstGeom>
          <a:noFill/>
          <a:ln w="9525">
            <a:solidFill>
              <a:srgbClr val="D0D5DD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A15EF22-77EB-432E-AE5C-6ADF697CE280}"/>
              </a:ext>
            </a:extLst>
          </p:cNvPr>
          <p:cNvSpPr>
            <a:spLocks noGrp="1"/>
          </p:cNvSpPr>
          <p:nvPr/>
        </p:nvSpPr>
        <p:spPr>
          <a:xfrm>
            <a:off x="533400" y="1257300"/>
            <a:ext cx="619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350" b="1">
                <a:solidFill>
                  <a:srgbClr val="111827"/>
                </a:solidFill>
              </a:defRPr>
            </a:pPr>
            <a:r>
              <a:rPr sz="1350" b="1" dirty="0" err="1">
                <a:solidFill>
                  <a:srgbClr val="111827"/>
                </a:solidFill>
              </a:rPr>
              <a:t>关键代码：worker_failure</a:t>
            </a:r>
            <a:r>
              <a:rPr sz="1350" b="1" dirty="0">
                <a:solidFill>
                  <a:srgbClr val="111827"/>
                </a:solidFill>
              </a:rPr>
              <a:t> </a:t>
            </a:r>
            <a:r>
              <a:rPr sz="1350" b="1" dirty="0" err="1">
                <a:solidFill>
                  <a:srgbClr val="111827"/>
                </a:solidFill>
              </a:rPr>
              <a:t>包含物理位置与最后</a:t>
            </a:r>
            <a:r>
              <a:rPr sz="1350" b="1" dirty="0">
                <a:solidFill>
                  <a:srgbClr val="111827"/>
                </a:solidFill>
              </a:rPr>
              <a:t> rank state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2454E9B7-A84A-4F2E-8E46-B64EE28C9999}"/>
              </a:ext>
            </a:extLst>
          </p:cNvPr>
          <p:cNvSpPr>
            <a:spLocks noGrp="1"/>
          </p:cNvSpPr>
          <p:nvPr/>
        </p:nvSpPr>
        <p:spPr>
          <a:xfrm>
            <a:off x="533400" y="1600200"/>
            <a:ext cx="6191250" cy="2990850"/>
          </a:xfrm>
          <a:prstGeom prst="roundRect">
            <a:avLst>
              <a:gd name="adj" fmla="val 2229"/>
            </a:avLst>
          </a:prstGeom>
          <a:solidFill>
            <a:srgbClr val="17212B"/>
          </a:solidFill>
          <a:ln w="9525">
            <a:solidFill>
              <a:srgbClr val="344054"/>
            </a:solidFill>
            <a:prstDash val="solid"/>
          </a:ln>
        </p:spPr>
        <p:txBody>
          <a:bodyPr wrap="square" lIns="152400" tIns="114300" rIns="133350" bIns="952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>
                <a:solidFill>
                  <a:srgbClr val="F2F4F7"/>
                </a:solidFill>
              </a:defRPr>
            </a:pPr>
            <a:r>
              <a:rPr sz="1125" dirty="0">
                <a:solidFill>
                  <a:srgbClr val="F2F4F7"/>
                </a:solidFill>
              </a:rPr>
              <a:t>payload = {</a:t>
            </a:r>
          </a:p>
          <a:p>
            <a:pPr algn="l">
              <a:lnSpc>
                <a:spcPct val="105000"/>
              </a:lnSpc>
              <a:buNone/>
              <a:defRPr sz="1125">
                <a:solidFill>
                  <a:srgbClr val="F2F4F7"/>
                </a:solidFill>
              </a:defRPr>
            </a:pPr>
            <a:r>
              <a:rPr sz="1125" dirty="0">
                <a:solidFill>
                  <a:srgbClr val="F2F4F7"/>
                </a:solidFill>
              </a:rPr>
              <a:t>  "type": "</a:t>
            </a:r>
            <a:r>
              <a:rPr sz="1125" dirty="0" err="1">
                <a:solidFill>
                  <a:srgbClr val="F2F4F7"/>
                </a:solidFill>
              </a:rPr>
              <a:t>worker_failure</a:t>
            </a:r>
            <a:r>
              <a:rPr sz="1125" dirty="0">
                <a:solidFill>
                  <a:srgbClr val="F2F4F7"/>
                </a:solidFill>
              </a:rPr>
              <a:t>",</a:t>
            </a:r>
          </a:p>
          <a:p>
            <a:pPr algn="l">
              <a:lnSpc>
                <a:spcPct val="105000"/>
              </a:lnSpc>
              <a:buNone/>
              <a:defRPr sz="1125">
                <a:solidFill>
                  <a:srgbClr val="F2F4F7"/>
                </a:solidFill>
              </a:defRPr>
            </a:pPr>
            <a:r>
              <a:rPr sz="1125" dirty="0">
                <a:solidFill>
                  <a:srgbClr val="F2F4F7"/>
                </a:solidFill>
              </a:rPr>
              <a:t>  "</a:t>
            </a:r>
            <a:r>
              <a:rPr sz="1125" dirty="0" err="1">
                <a:solidFill>
                  <a:srgbClr val="F2F4F7"/>
                </a:solidFill>
              </a:rPr>
              <a:t>node_rank</a:t>
            </a:r>
            <a:r>
              <a:rPr sz="1125" dirty="0">
                <a:solidFill>
                  <a:srgbClr val="F2F4F7"/>
                </a:solidFill>
              </a:rPr>
              <a:t>": </a:t>
            </a:r>
            <a:r>
              <a:rPr sz="1125" dirty="0" err="1">
                <a:solidFill>
                  <a:srgbClr val="F2F4F7"/>
                </a:solidFill>
              </a:rPr>
              <a:t>self.node_rank</a:t>
            </a:r>
            <a:r>
              <a:rPr sz="1125" dirty="0">
                <a:solidFill>
                  <a:srgbClr val="F2F4F7"/>
                </a:solidFill>
              </a:rPr>
              <a:t>,</a:t>
            </a:r>
          </a:p>
          <a:p>
            <a:pPr algn="l">
              <a:lnSpc>
                <a:spcPct val="105000"/>
              </a:lnSpc>
              <a:buNone/>
              <a:defRPr sz="1125">
                <a:solidFill>
                  <a:srgbClr val="F2F4F7"/>
                </a:solidFill>
              </a:defRPr>
            </a:pPr>
            <a:r>
              <a:rPr sz="1125" dirty="0">
                <a:solidFill>
                  <a:srgbClr val="F2F4F7"/>
                </a:solidFill>
              </a:rPr>
              <a:t>  "</a:t>
            </a:r>
            <a:r>
              <a:rPr sz="1125" dirty="0" err="1">
                <a:solidFill>
                  <a:srgbClr val="F2F4F7"/>
                </a:solidFill>
              </a:rPr>
              <a:t>local_rank</a:t>
            </a:r>
            <a:r>
              <a:rPr sz="1125" dirty="0">
                <a:solidFill>
                  <a:srgbClr val="F2F4F7"/>
                </a:solidFill>
              </a:rPr>
              <a:t>": </a:t>
            </a:r>
            <a:r>
              <a:rPr sz="1125" dirty="0" err="1">
                <a:solidFill>
                  <a:srgbClr val="F2F4F7"/>
                </a:solidFill>
              </a:rPr>
              <a:t>local_rank</a:t>
            </a:r>
            <a:r>
              <a:rPr sz="1125" dirty="0">
                <a:solidFill>
                  <a:srgbClr val="F2F4F7"/>
                </a:solidFill>
              </a:rPr>
              <a:t>,</a:t>
            </a:r>
          </a:p>
          <a:p>
            <a:pPr algn="l">
              <a:lnSpc>
                <a:spcPct val="105000"/>
              </a:lnSpc>
              <a:buNone/>
              <a:defRPr sz="1125">
                <a:solidFill>
                  <a:srgbClr val="F2F4F7"/>
                </a:solidFill>
              </a:defRPr>
            </a:pPr>
            <a:r>
              <a:rPr sz="1125" dirty="0">
                <a:solidFill>
                  <a:srgbClr val="F2F4F7"/>
                </a:solidFill>
              </a:rPr>
              <a:t>  "</a:t>
            </a:r>
            <a:r>
              <a:rPr sz="1125" dirty="0" err="1">
                <a:solidFill>
                  <a:srgbClr val="F2F4F7"/>
                </a:solidFill>
              </a:rPr>
              <a:t>global_rank</a:t>
            </a:r>
            <a:r>
              <a:rPr sz="1125" dirty="0">
                <a:solidFill>
                  <a:srgbClr val="F2F4F7"/>
                </a:solidFill>
              </a:rPr>
              <a:t>": </a:t>
            </a:r>
            <a:r>
              <a:rPr sz="1125" dirty="0" err="1">
                <a:solidFill>
                  <a:srgbClr val="F2F4F7"/>
                </a:solidFill>
              </a:rPr>
              <a:t>self.node_rank</a:t>
            </a:r>
            <a:r>
              <a:rPr sz="1125" dirty="0">
                <a:solidFill>
                  <a:srgbClr val="F2F4F7"/>
                </a:solidFill>
              </a:rPr>
              <a:t> * </a:t>
            </a:r>
            <a:r>
              <a:rPr sz="1125" dirty="0" err="1">
                <a:solidFill>
                  <a:srgbClr val="F2F4F7"/>
                </a:solidFill>
              </a:rPr>
              <a:t>self.nproc</a:t>
            </a:r>
            <a:r>
              <a:rPr sz="1125" dirty="0">
                <a:solidFill>
                  <a:srgbClr val="F2F4F7"/>
                </a:solidFill>
              </a:rPr>
              <a:t> + </a:t>
            </a:r>
            <a:r>
              <a:rPr sz="1125" dirty="0" err="1">
                <a:solidFill>
                  <a:srgbClr val="F2F4F7"/>
                </a:solidFill>
              </a:rPr>
              <a:t>local_rank</a:t>
            </a:r>
            <a:r>
              <a:rPr sz="1125" dirty="0">
                <a:solidFill>
                  <a:srgbClr val="F2F4F7"/>
                </a:solidFill>
              </a:rPr>
              <a:t>,</a:t>
            </a:r>
          </a:p>
          <a:p>
            <a:pPr algn="l">
              <a:lnSpc>
                <a:spcPct val="105000"/>
              </a:lnSpc>
              <a:buNone/>
              <a:defRPr sz="1125">
                <a:solidFill>
                  <a:srgbClr val="F2F4F7"/>
                </a:solidFill>
              </a:defRPr>
            </a:pPr>
            <a:r>
              <a:rPr sz="1125" dirty="0">
                <a:solidFill>
                  <a:srgbClr val="F2F4F7"/>
                </a:solidFill>
              </a:rPr>
              <a:t>  "</a:t>
            </a:r>
            <a:r>
              <a:rPr sz="1125" dirty="0" err="1">
                <a:solidFill>
                  <a:srgbClr val="F2F4F7"/>
                </a:solidFill>
              </a:rPr>
              <a:t>exit_code</a:t>
            </a:r>
            <a:r>
              <a:rPr sz="1125" dirty="0">
                <a:solidFill>
                  <a:srgbClr val="F2F4F7"/>
                </a:solidFill>
              </a:rPr>
              <a:t>": int(</a:t>
            </a:r>
            <a:r>
              <a:rPr sz="1125" dirty="0" err="1">
                <a:solidFill>
                  <a:srgbClr val="F2F4F7"/>
                </a:solidFill>
              </a:rPr>
              <a:t>returncode</a:t>
            </a:r>
            <a:r>
              <a:rPr sz="1125" dirty="0">
                <a:solidFill>
                  <a:srgbClr val="F2F4F7"/>
                </a:solidFill>
              </a:rPr>
              <a:t>),</a:t>
            </a:r>
          </a:p>
          <a:p>
            <a:pPr algn="l">
              <a:lnSpc>
                <a:spcPct val="105000"/>
              </a:lnSpc>
              <a:buNone/>
              <a:defRPr sz="1125">
                <a:solidFill>
                  <a:srgbClr val="F2F4F7"/>
                </a:solidFill>
              </a:defRPr>
            </a:pPr>
            <a:r>
              <a:rPr sz="1125" dirty="0">
                <a:solidFill>
                  <a:srgbClr val="F2F4F7"/>
                </a:solidFill>
              </a:rPr>
              <a:t>  "</a:t>
            </a:r>
            <a:r>
              <a:rPr sz="1125" dirty="0" err="1">
                <a:solidFill>
                  <a:srgbClr val="F2F4F7"/>
                </a:solidFill>
              </a:rPr>
              <a:t>rank_state</a:t>
            </a:r>
            <a:r>
              <a:rPr sz="1125" dirty="0">
                <a:solidFill>
                  <a:srgbClr val="F2F4F7"/>
                </a:solidFill>
              </a:rPr>
              <a:t>": </a:t>
            </a:r>
            <a:r>
              <a:rPr sz="1125" dirty="0" err="1">
                <a:solidFill>
                  <a:srgbClr val="F2F4F7"/>
                </a:solidFill>
              </a:rPr>
              <a:t>self.rank_states.get</a:t>
            </a:r>
            <a:r>
              <a:rPr sz="1125" dirty="0">
                <a:solidFill>
                  <a:srgbClr val="F2F4F7"/>
                </a:solidFill>
              </a:rPr>
              <a:t>(</a:t>
            </a:r>
            <a:r>
              <a:rPr sz="1125" dirty="0" err="1">
                <a:solidFill>
                  <a:srgbClr val="F2F4F7"/>
                </a:solidFill>
              </a:rPr>
              <a:t>global_rank</a:t>
            </a:r>
            <a:r>
              <a:rPr sz="1125" dirty="0">
                <a:solidFill>
                  <a:srgbClr val="F2F4F7"/>
                </a:solidFill>
              </a:rPr>
              <a:t>, {}),</a:t>
            </a:r>
          </a:p>
          <a:p>
            <a:pPr algn="l">
              <a:lnSpc>
                <a:spcPct val="105000"/>
              </a:lnSpc>
              <a:buNone/>
              <a:defRPr sz="1125">
                <a:solidFill>
                  <a:srgbClr val="F2F4F7"/>
                </a:solidFill>
              </a:defRPr>
            </a:pPr>
            <a:r>
              <a:rPr sz="1125" dirty="0">
                <a:solidFill>
                  <a:srgbClr val="F2F4F7"/>
                </a:solidFill>
              </a:rPr>
              <a:t>  "</a:t>
            </a:r>
            <a:r>
              <a:rPr sz="1125" dirty="0" err="1">
                <a:solidFill>
                  <a:srgbClr val="F2F4F7"/>
                </a:solidFill>
              </a:rPr>
              <a:t>control_owner</a:t>
            </a:r>
            <a:r>
              <a:rPr sz="1125" dirty="0">
                <a:solidFill>
                  <a:srgbClr val="F2F4F7"/>
                </a:solidFill>
              </a:rPr>
              <a:t>": "launcher",</a:t>
            </a:r>
          </a:p>
          <a:p>
            <a:pPr algn="l">
              <a:lnSpc>
                <a:spcPct val="105000"/>
              </a:lnSpc>
              <a:buNone/>
              <a:defRPr sz="1125">
                <a:solidFill>
                  <a:srgbClr val="F2F4F7"/>
                </a:solidFill>
              </a:defRPr>
            </a:pPr>
            <a:r>
              <a:rPr sz="1125" dirty="0">
                <a:solidFill>
                  <a:srgbClr val="F2F4F7"/>
                </a:solidFill>
              </a:rPr>
              <a:t>}</a:t>
            </a:r>
          </a:p>
          <a:p>
            <a:pPr algn="l">
              <a:lnSpc>
                <a:spcPct val="105000"/>
              </a:lnSpc>
              <a:buNone/>
              <a:defRPr sz="1125">
                <a:solidFill>
                  <a:srgbClr val="F2F4F7"/>
                </a:solidFill>
              </a:defRPr>
            </a:pPr>
            <a:r>
              <a:rPr sz="1125" dirty="0">
                <a:solidFill>
                  <a:srgbClr val="F2F4F7"/>
                </a:solidFill>
              </a:rPr>
              <a:t>self._</a:t>
            </a:r>
            <a:r>
              <a:rPr sz="1125" dirty="0" err="1">
                <a:solidFill>
                  <a:srgbClr val="F2F4F7"/>
                </a:solidFill>
              </a:rPr>
              <a:t>send_watcher</a:t>
            </a:r>
            <a:r>
              <a:rPr sz="1125" dirty="0">
                <a:solidFill>
                  <a:srgbClr val="F2F4F7"/>
                </a:solidFill>
              </a:rPr>
              <a:t>(payload)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5773ADE-5DD6-4D4B-A10E-ECAB46175DFD}"/>
              </a:ext>
            </a:extLst>
          </p:cNvPr>
          <p:cNvSpPr>
            <a:spLocks noGrp="1"/>
          </p:cNvSpPr>
          <p:nvPr/>
        </p:nvSpPr>
        <p:spPr>
          <a:xfrm>
            <a:off x="7181850" y="1257300"/>
            <a:ext cx="409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Launcher 与 watcher 的双向协议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C511DC2D-68D2-408F-872A-CE7D9342C54C}"/>
              </a:ext>
            </a:extLst>
          </p:cNvPr>
          <p:cNvSpPr>
            <a:spLocks noGrp="1"/>
          </p:cNvSpPr>
          <p:nvPr/>
        </p:nvSpPr>
        <p:spPr>
          <a:xfrm>
            <a:off x="7334250" y="1657350"/>
            <a:ext cx="3562350" cy="666750"/>
          </a:xfrm>
          <a:prstGeom prst="roundRect">
            <a:avLst>
              <a:gd name="adj" fmla="val 11429"/>
            </a:avLst>
          </a:prstGeom>
          <a:solidFill>
            <a:srgbClr val="E8F2F6"/>
          </a:solidFill>
          <a:ln w="9525">
            <a:solidFill>
              <a:srgbClr val="156082"/>
            </a:solidFill>
            <a:prstDash val="solid"/>
          </a:ln>
        </p:spPr>
        <p:txBody>
          <a:bodyPr wrap="square" lIns="95250" tIns="57150" rIns="95250" bIns="57150" anchor="ctr">
            <a:normAutofit/>
          </a:bodyPr>
          <a:lstStyle/>
          <a:p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 dirty="0">
                <a:solidFill>
                  <a:srgbClr val="111827"/>
                </a:solidFill>
              </a:rPr>
              <a:t>heartbeat →</a:t>
            </a:r>
          </a:p>
          <a:p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 dirty="0">
                <a:solidFill>
                  <a:srgbClr val="111827"/>
                </a:solidFill>
              </a:rPr>
              <a:t>step / phase / </a:t>
            </a:r>
            <a:r>
              <a:rPr sz="1200" b="1" dirty="0" err="1">
                <a:solidFill>
                  <a:srgbClr val="111827"/>
                </a:solidFill>
              </a:rPr>
              <a:t>rank_states</a:t>
            </a:r>
            <a:r>
              <a:rPr sz="1200" b="1" dirty="0">
                <a:solidFill>
                  <a:srgbClr val="111827"/>
                </a:solidFill>
              </a:rPr>
              <a:t> / workers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BB37D5CE-FBDC-4620-9AE6-9851DF7BE423}"/>
              </a:ext>
            </a:extLst>
          </p:cNvPr>
          <p:cNvSpPr>
            <a:spLocks noGrp="1"/>
          </p:cNvSpPr>
          <p:nvPr/>
        </p:nvSpPr>
        <p:spPr>
          <a:xfrm>
            <a:off x="7334250" y="2571750"/>
            <a:ext cx="3562350" cy="666750"/>
          </a:xfrm>
          <a:prstGeom prst="roundRect">
            <a:avLst>
              <a:gd name="adj" fmla="val 11429"/>
            </a:avLst>
          </a:prstGeom>
          <a:solidFill>
            <a:srgbClr val="FDECEC"/>
          </a:solidFill>
          <a:ln w="9525">
            <a:solidFill>
              <a:srgbClr val="B42318"/>
            </a:solidFill>
            <a:prstDash val="solid"/>
          </a:ln>
        </p:spPr>
        <p:txBody>
          <a:bodyPr wrap="square" lIns="95250" tIns="57150" rIns="95250" bIns="57150" anchor="ctr">
            <a:normAutofit/>
          </a:bodyPr>
          <a:lstStyle/>
          <a:p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 dirty="0" err="1">
                <a:solidFill>
                  <a:srgbClr val="111827"/>
                </a:solidFill>
              </a:rPr>
              <a:t>worker_failure</a:t>
            </a:r>
            <a:r>
              <a:rPr sz="1200" b="1" dirty="0">
                <a:solidFill>
                  <a:srgbClr val="111827"/>
                </a:solidFill>
              </a:rPr>
              <a:t> →</a:t>
            </a:r>
          </a:p>
          <a:p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 dirty="0">
                <a:solidFill>
                  <a:srgbClr val="111827"/>
                </a:solidFill>
              </a:rPr>
              <a:t>failed node / local rank / exit code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DE733278-5278-4B9D-88A5-963A036B8994}"/>
              </a:ext>
            </a:extLst>
          </p:cNvPr>
          <p:cNvSpPr>
            <a:spLocks noGrp="1"/>
          </p:cNvSpPr>
          <p:nvPr/>
        </p:nvSpPr>
        <p:spPr>
          <a:xfrm>
            <a:off x="7334250" y="3486150"/>
            <a:ext cx="3562350" cy="666750"/>
          </a:xfrm>
          <a:prstGeom prst="roundRect">
            <a:avLst>
              <a:gd name="adj" fmla="val 11429"/>
            </a:avLst>
          </a:prstGeom>
          <a:solidFill>
            <a:srgbClr val="FFF1E8"/>
          </a:solidFill>
          <a:ln w="9525">
            <a:solidFill>
              <a:srgbClr val="E97132"/>
            </a:solidFill>
            <a:prstDash val="solid"/>
          </a:ln>
        </p:spPr>
        <p:txBody>
          <a:bodyPr wrap="square" lIns="95250" tIns="57150" rIns="95250" bIns="57150" anchor="ctr">
            <a:normAutofit/>
          </a:bodyPr>
          <a:lstStyle/>
          <a:p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← pause</a:t>
            </a:r>
          </a:p>
          <a:p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写入 node-local pause_signal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9C11E4FC-25B6-4423-BCD6-6D4F6180C52E}"/>
              </a:ext>
            </a:extLst>
          </p:cNvPr>
          <p:cNvSpPr>
            <a:spLocks noGrp="1"/>
          </p:cNvSpPr>
          <p:nvPr/>
        </p:nvSpPr>
        <p:spPr>
          <a:xfrm>
            <a:off x="7334250" y="4400550"/>
            <a:ext cx="3562350" cy="666750"/>
          </a:xfrm>
          <a:prstGeom prst="roundRect">
            <a:avLst>
              <a:gd name="adj" fmla="val 11429"/>
            </a:avLst>
          </a:prstGeom>
          <a:solidFill>
            <a:srgbClr val="EAF5EC"/>
          </a:solidFill>
          <a:ln w="9525">
            <a:solidFill>
              <a:srgbClr val="196B24"/>
            </a:solidFill>
            <a:prstDash val="solid"/>
          </a:ln>
        </p:spPr>
        <p:txBody>
          <a:bodyPr wrap="square" lIns="95250" tIns="57150" rIns="95250" bIns="57150" anchor="ctr">
            <a:normAutofit fontScale="96797"/>
          </a:bodyPr>
          <a:lstStyle/>
          <a:p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← rebuild</a:t>
            </a:r>
          </a:p>
          <a:p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descriptor + recovery_epoch + new rendezvous</a:t>
            </a:r>
          </a:p>
        </p:txBody>
      </p:sp>
      <p:cxnSp>
        <p:nvCxnSpPr>
          <p:cNvPr id="33" name="直线箭头连接符 32"/>
          <p:cNvCxnSpPr>
            <a:stCxn id="9" idx="2"/>
            <a:endCxn id="10" idx="0"/>
          </p:cNvCxnSpPr>
          <p:nvPr/>
        </p:nvCxnSpPr>
        <p:spPr>
          <a:xfrm>
            <a:off x="9115425" y="2324100"/>
            <a:ext cx="0" cy="247650"/>
          </a:xfrm>
          <a:prstGeom prst="straightConnector1">
            <a:avLst/>
          </a:prstGeom>
          <a:ln w="14288">
            <a:solidFill>
              <a:srgbClr val="D0D5DD"/>
            </a:solidFill>
            <a:prstDash val="solid"/>
            <a:tailEnd type="arrow" w="sm" len="sm"/>
          </a:ln>
        </p:spPr>
      </p:cxnSp>
      <p:cxnSp>
        <p:nvCxnSpPr>
          <p:cNvPr id="34" name="直线箭头连接符 33"/>
          <p:cNvCxnSpPr>
            <a:stCxn id="10" idx="2"/>
            <a:endCxn id="11" idx="0"/>
          </p:cNvCxnSpPr>
          <p:nvPr/>
        </p:nvCxnSpPr>
        <p:spPr>
          <a:xfrm>
            <a:off x="9115425" y="3238500"/>
            <a:ext cx="0" cy="247650"/>
          </a:xfrm>
          <a:prstGeom prst="straightConnector1">
            <a:avLst/>
          </a:prstGeom>
          <a:ln w="14288">
            <a:solidFill>
              <a:srgbClr val="D0D5DD"/>
            </a:solidFill>
            <a:prstDash val="solid"/>
            <a:tailEnd type="arrow" w="sm" len="sm"/>
          </a:ln>
        </p:spPr>
      </p:cxnSp>
      <p:cxnSp>
        <p:nvCxnSpPr>
          <p:cNvPr id="35" name="直线箭头连接符 34"/>
          <p:cNvCxnSpPr>
            <a:stCxn id="11" idx="2"/>
            <a:endCxn id="12" idx="0"/>
          </p:cNvCxnSpPr>
          <p:nvPr/>
        </p:nvCxnSpPr>
        <p:spPr>
          <a:xfrm>
            <a:off x="9115425" y="4152900"/>
            <a:ext cx="0" cy="247650"/>
          </a:xfrm>
          <a:prstGeom prst="straightConnector1">
            <a:avLst/>
          </a:prstGeom>
          <a:ln w="14288">
            <a:solidFill>
              <a:srgbClr val="D0D5DD"/>
            </a:solidFill>
            <a:prstDash val="solid"/>
            <a:tailEnd type="arrow" w="sm" len="sm"/>
          </a:ln>
        </p:spPr>
      </p:cxn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E86794E3-DD0D-468F-BD4B-C8597DF1C8D0}"/>
              </a:ext>
            </a:extLst>
          </p:cNvPr>
          <p:cNvSpPr>
            <a:spLocks noGrp="1"/>
          </p:cNvSpPr>
          <p:nvPr/>
        </p:nvSpPr>
        <p:spPr>
          <a:xfrm>
            <a:off x="533400" y="4876800"/>
            <a:ext cx="1162050" cy="323850"/>
          </a:xfrm>
          <a:prstGeom prst="roundRect">
            <a:avLst>
              <a:gd name="adj" fmla="val 23529"/>
            </a:avLst>
          </a:prstGeom>
          <a:solidFill>
            <a:srgbClr val="111827"/>
          </a:solidFill>
          <a:ln w="9525">
            <a:solidFill>
              <a:srgbClr val="111827"/>
            </a:solidFill>
            <a:prstDash val="solid"/>
          </a:ln>
        </p:spPr>
        <p:txBody>
          <a:bodyPr wrap="square" lIns="95250" tIns="57150" rIns="95250" bIns="57150" anchor="ctr">
            <a:normAutofit fontScale="96188" lnSpcReduction="10000"/>
          </a:bodyPr>
          <a:lstStyle/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设计边界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2678305-1604-420C-8B03-45168ABE1F1D}"/>
              </a:ext>
            </a:extLst>
          </p:cNvPr>
          <p:cNvSpPr>
            <a:spLocks noGrp="1"/>
          </p:cNvSpPr>
          <p:nvPr/>
        </p:nvSpPr>
        <p:spPr>
          <a:xfrm>
            <a:off x="1809750" y="4829175"/>
            <a:ext cx="49149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275" b="0">
                <a:solidFill>
                  <a:srgbClr val="263238"/>
                </a:solidFill>
              </a:defRPr>
            </a:pPr>
            <a:r>
              <a:rPr sz="1275" b="0">
                <a:solidFill>
                  <a:srgbClr val="263238"/>
                </a:solidFill>
              </a:rPr>
              <a:t>控制所有 node-local workers，但不调用训练 collective；pause / rebuild 通过 watcher TCP 与本地原子文件传递。</a:t>
            </a: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FBC6D3F4-BE7D-4D4F-9EC6-3452BD427CCA}"/>
              </a:ext>
            </a:extLst>
          </p:cNvPr>
          <p:cNvSpPr>
            <a:spLocks noGrp="1"/>
          </p:cNvSpPr>
          <p:nvPr/>
        </p:nvSpPr>
        <p:spPr>
          <a:xfrm>
            <a:off x="533400" y="5476875"/>
            <a:ext cx="10363200" cy="523875"/>
          </a:xfrm>
          <a:prstGeom prst="roundRect">
            <a:avLst>
              <a:gd name="adj" fmla="val 14545"/>
            </a:avLst>
          </a:prstGeom>
          <a:solidFill>
            <a:srgbClr val="F5F7F9"/>
          </a:solidFill>
          <a:ln w="9525">
            <a:solidFill>
              <a:srgbClr val="D0D5DD"/>
            </a:solidFill>
            <a:prstDash val="solid"/>
          </a:ln>
        </p:spPr>
        <p:txBody>
          <a:bodyPr wrap="square" lIns="171450" tIns="76200" rIns="171450" bIns="76200" anchor="ctr">
            <a:normAutofit/>
          </a:bodyPr>
          <a:lstStyle/>
          <a:p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替换进程启动时继承原 global RANK，仅物理 PID / host endpoint 改变。</a:t>
            </a:r>
          </a:p>
        </p:txBody>
      </p:sp>
      <p:sp>
        <p:nvSpPr>
          <p:cNvPr id="19" name="直线连接符 18">
            <a:extLst>
              <a:ext uri="{FF2B5EF4-FFF2-40B4-BE49-F238E27FC236}">
                <a16:creationId xmlns:a16="http://schemas.microsoft.com/office/drawing/2014/main" id="{AC129C8A-82FF-4611-B464-73001934AECB}"/>
              </a:ext>
            </a:extLst>
          </p:cNvPr>
          <p:cNvSpPr>
            <a:spLocks noGrp="1"/>
          </p:cNvSpPr>
          <p:nvPr/>
        </p:nvSpPr>
        <p:spPr>
          <a:xfrm>
            <a:off x="400050" y="6486525"/>
            <a:ext cx="11239500" cy="0"/>
          </a:xfrm>
          <a:prstGeom prst="line">
            <a:avLst/>
          </a:prstGeom>
          <a:noFill/>
          <a:ln w="9525">
            <a:solidFill>
              <a:srgbClr val="E4E7EC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50827BC-4278-4598-9B8C-F0BCB67B8DBD}"/>
              </a:ext>
            </a:extLst>
          </p:cNvPr>
          <p:cNvSpPr>
            <a:spLocks noGrp="1"/>
          </p:cNvSpPr>
          <p:nvPr/>
        </p:nvSpPr>
        <p:spPr>
          <a:xfrm>
            <a:off x="419100" y="6543675"/>
            <a:ext cx="6000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825" b="0">
                <a:solidFill>
                  <a:srgbClr val="98A2B3"/>
                </a:solidFill>
              </a:defRPr>
            </a:pPr>
            <a:r>
              <a:rPr sz="825" b="0">
                <a:solidFill>
                  <a:srgbClr val="98A2B3"/>
                </a:solidFill>
              </a:rPr>
              <a:t>MoEGambit  |  launcher control protocol</a:t>
            </a:r>
          </a:p>
        </p:txBody>
      </p:sp>
    </p:spTree>
    <p:extLst>
      <p:ext uri="{BB962C8B-B14F-4D97-AF65-F5344CB8AC3E}">
        <p14:creationId xmlns:p14="http://schemas.microsoft.com/office/powerpoint/2010/main" val="26289318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B51F1042-2349-42D8-A440-519EB5C9003B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76200" cy="419100"/>
          </a:xfrm>
          <a:prstGeom prst="rect">
            <a:avLst/>
          </a:prstGeom>
          <a:solidFill>
            <a:srgbClr val="156082"/>
          </a:solidFill>
          <a:ln w="0">
            <a:solidFill>
              <a:srgbClr val="156082"/>
            </a:solidFill>
            <a:prstDash val="solid"/>
          </a:ln>
        </p:spPr>
      </p:sp>
      <p:sp>
        <p:nvSpPr>
          <p:cNvPr id="2" name="slide-6-title">
            <a:extLst>
              <a:ext uri="{FF2B5EF4-FFF2-40B4-BE49-F238E27FC236}">
                <a16:creationId xmlns:a16="http://schemas.microsoft.com/office/drawing/2014/main" id="{BC8B557F-9A12-4880-A5DA-522ADE0251B3}"/>
              </a:ext>
            </a:extLst>
          </p:cNvPr>
          <p:cNvSpPr>
            <a:spLocks noGrp="1"/>
          </p:cNvSpPr>
          <p:nvPr/>
        </p:nvSpPr>
        <p:spPr>
          <a:xfrm>
            <a:off x="590550" y="276225"/>
            <a:ext cx="10001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2250" b="1">
                <a:solidFill>
                  <a:srgbClr val="111827"/>
                </a:solidFill>
              </a:defRPr>
            </a:pPr>
            <a:r>
              <a:rPr sz="2250" b="1">
                <a:solidFill>
                  <a:srgbClr val="111827"/>
                </a:solidFill>
              </a:rPr>
              <a:t>Watcher：冻结 recovery epoch，证明健康 ranks 位于同一安全版本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214C95F-419B-4C9E-9173-374D5932C484}"/>
              </a:ext>
            </a:extLst>
          </p:cNvPr>
          <p:cNvSpPr>
            <a:spLocks noGrp="1"/>
          </p:cNvSpPr>
          <p:nvPr/>
        </p:nvSpPr>
        <p:spPr>
          <a:xfrm>
            <a:off x="10953750" y="361950"/>
            <a:ext cx="685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defRPr sz="1200" b="1">
                <a:solidFill>
                  <a:srgbClr val="667085"/>
                </a:solidFill>
              </a:defRPr>
            </a:pPr>
            <a:r>
              <a:rPr sz="1200" b="1">
                <a:solidFill>
                  <a:srgbClr val="667085"/>
                </a:solidFill>
              </a:rPr>
              <a:t>06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DA241D6-B4EE-4948-8299-5E9B1810F63C}"/>
              </a:ext>
            </a:extLst>
          </p:cNvPr>
          <p:cNvSpPr>
            <a:spLocks noGrp="1"/>
          </p:cNvSpPr>
          <p:nvPr/>
        </p:nvSpPr>
        <p:spPr>
          <a:xfrm>
            <a:off x="590550" y="74295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恢复不是“发现 spare 就重启”，而是先建立 quiescence proof，再决定热替换或 checkpoint fallback</a:t>
            </a:r>
          </a:p>
        </p:txBody>
      </p:sp>
      <p:sp>
        <p:nvSpPr>
          <p:cNvPr id="5" name="直线连接符 4">
            <a:extLst>
              <a:ext uri="{FF2B5EF4-FFF2-40B4-BE49-F238E27FC236}">
                <a16:creationId xmlns:a16="http://schemas.microsoft.com/office/drawing/2014/main" id="{CDBBEAD7-B5EE-4B43-9B48-D55F25525727}"/>
              </a:ext>
            </a:extLst>
          </p:cNvPr>
          <p:cNvSpPr>
            <a:spLocks noGrp="1"/>
          </p:cNvSpPr>
          <p:nvPr/>
        </p:nvSpPr>
        <p:spPr>
          <a:xfrm>
            <a:off x="400050" y="1047750"/>
            <a:ext cx="11239500" cy="0"/>
          </a:xfrm>
          <a:prstGeom prst="line">
            <a:avLst/>
          </a:prstGeom>
          <a:noFill/>
          <a:ln w="9525">
            <a:solidFill>
              <a:srgbClr val="D0D5DD"/>
            </a:solidFill>
            <a:prstDash val="solid"/>
          </a:ln>
        </p:spPr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4E2CD155-0327-4B66-8636-AEBBC44E0313}"/>
              </a:ext>
            </a:extLst>
          </p:cNvPr>
          <p:cNvSpPr>
            <a:spLocks noGrp="1"/>
          </p:cNvSpPr>
          <p:nvPr/>
        </p:nvSpPr>
        <p:spPr>
          <a:xfrm>
            <a:off x="533400" y="1381125"/>
            <a:ext cx="5905500" cy="4114800"/>
          </a:xfrm>
          <a:prstGeom prst="roundRect">
            <a:avLst>
              <a:gd name="adj" fmla="val 1620"/>
            </a:avLst>
          </a:prstGeom>
          <a:solidFill>
            <a:srgbClr val="17212B"/>
          </a:solidFill>
          <a:ln w="9525">
            <a:solidFill>
              <a:srgbClr val="344054"/>
            </a:solidFill>
            <a:prstDash val="solid"/>
          </a:ln>
        </p:spPr>
        <p:txBody>
          <a:bodyPr wrap="square" lIns="152400" tIns="114300" rIns="133350" bIns="952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>
                <a:solidFill>
                  <a:srgbClr val="F2F4F7"/>
                </a:solidFill>
              </a:defRPr>
            </a:pPr>
            <a:r>
              <a:rPr sz="1050">
                <a:solidFill>
                  <a:srgbClr val="F2F4F7"/>
                </a:solidFill>
              </a:rPr>
              <a:t>self.recovery_epoch += 1</a:t>
            </a:r>
          </a:p>
          <a:p>
            <a:pPr algn="l">
              <a:lnSpc>
                <a:spcPct val="105000"/>
              </a:lnSpc>
              <a:buNone/>
              <a:defRPr sz="1050">
                <a:solidFill>
                  <a:srgbClr val="F2F4F7"/>
                </a:solidFill>
              </a:defRPr>
            </a:pPr>
            <a:r>
              <a:rPr sz="1050">
                <a:solidFill>
                  <a:srgbClr val="F2F4F7"/>
                </a:solidFill>
              </a:rPr>
              <a:t>self.recovery_in_progress = True</a:t>
            </a:r>
          </a:p>
          <a:p>
            <a:pPr algn="l">
              <a:lnSpc>
                <a:spcPct val="105000"/>
              </a:lnSpc>
              <a:buNone/>
              <a:defRPr sz="1050">
                <a:solidFill>
                  <a:srgbClr val="F2F4F7"/>
                </a:solidFill>
              </a:defRPr>
            </a:pPr>
            <a:r>
              <a:rPr sz="1050">
                <a:solidFill>
                  <a:srgbClr val="F2F4F7"/>
                </a:solidFill>
              </a:rPr>
              <a:t>send_pause_to_all_launchers(epoch)</a:t>
            </a:r>
          </a:p>
          <a:p>
            <a:endParaRPr sz="1050">
              <a:solidFill>
                <a:srgbClr val="F2F4F7"/>
              </a:solidFill>
            </a:endParaRPr>
          </a:p>
          <a:p>
            <a:pPr algn="l">
              <a:lnSpc>
                <a:spcPct val="105000"/>
              </a:lnSpc>
              <a:buNone/>
              <a:defRPr sz="1050">
                <a:solidFill>
                  <a:srgbClr val="F2F4F7"/>
                </a:solidFill>
              </a:defRPr>
            </a:pPr>
            <a:r>
              <a:rPr sz="1050">
                <a:solidFill>
                  <a:srgbClr val="F2F4F7"/>
                </a:solidFill>
              </a:rPr>
              <a:t>resume_iteration = self._select_resume_iteration(</a:t>
            </a:r>
          </a:p>
          <a:p>
            <a:pPr algn="l">
              <a:lnSpc>
                <a:spcPct val="105000"/>
              </a:lnSpc>
              <a:buNone/>
              <a:defRPr sz="1050">
                <a:solidFill>
                  <a:srgbClr val="F2F4F7"/>
                </a:solidFill>
              </a:defRPr>
            </a:pPr>
            <a:r>
              <a:rPr sz="1050">
                <a:solidFill>
                  <a:srgbClr val="F2F4F7"/>
                </a:solidFill>
              </a:rPr>
              <a:t>    ready_steps, ready_step_tags, ready_phases)</a:t>
            </a:r>
          </a:p>
          <a:p>
            <a:pPr algn="l">
              <a:lnSpc>
                <a:spcPct val="105000"/>
              </a:lnSpc>
              <a:buNone/>
              <a:defRPr sz="1050">
                <a:solidFill>
                  <a:srgbClr val="F2F4F7"/>
                </a:solidFill>
              </a:defRPr>
            </a:pPr>
            <a:r>
              <a:rPr sz="1050">
                <a:solidFill>
                  <a:srgbClr val="F2F4F7"/>
                </a:solidFill>
              </a:rPr>
              <a:t>proof = self._build_rank_quiescence_proof(</a:t>
            </a:r>
          </a:p>
          <a:p>
            <a:pPr algn="l">
              <a:lnSpc>
                <a:spcPct val="105000"/>
              </a:lnSpc>
              <a:buNone/>
              <a:defRPr sz="1050">
                <a:solidFill>
                  <a:srgbClr val="F2F4F7"/>
                </a:solidFill>
              </a:defRPr>
            </a:pPr>
            <a:r>
              <a:rPr sz="1050">
                <a:solidFill>
                  <a:srgbClr val="F2F4F7"/>
                </a:solidFill>
              </a:rPr>
              <a:t>    resume_iteration, killed_global_rank)</a:t>
            </a:r>
          </a:p>
          <a:p>
            <a:pPr algn="l">
              <a:lnSpc>
                <a:spcPct val="105000"/>
              </a:lnSpc>
              <a:buNone/>
              <a:defRPr sz="1050">
                <a:solidFill>
                  <a:srgbClr val="F2F4F7"/>
                </a:solidFill>
              </a:defRPr>
            </a:pPr>
            <a:r>
              <a:rPr sz="1050">
                <a:solidFill>
                  <a:srgbClr val="F2F4F7"/>
                </a:solidFill>
              </a:rPr>
              <a:t>descriptor = self._write_recovery_descriptor(...)</a:t>
            </a:r>
          </a:p>
          <a:p>
            <a:endParaRPr sz="1050">
              <a:solidFill>
                <a:srgbClr val="F2F4F7"/>
              </a:solidFill>
            </a:endParaRPr>
          </a:p>
          <a:p>
            <a:pPr algn="l">
              <a:lnSpc>
                <a:spcPct val="105000"/>
              </a:lnSpc>
              <a:buNone/>
              <a:defRPr sz="1050">
                <a:solidFill>
                  <a:srgbClr val="F2F4F7"/>
                </a:solidFill>
              </a:defRPr>
            </a:pPr>
            <a:r>
              <a:rPr sz="1050">
                <a:solidFill>
                  <a:srgbClr val="F2F4F7"/>
                </a:solidFill>
              </a:rPr>
              <a:t>if not descriptor["recovery"]["hot_swap_feasible"]:</a:t>
            </a:r>
          </a:p>
          <a:p>
            <a:pPr algn="l">
              <a:lnSpc>
                <a:spcPct val="105000"/>
              </a:lnSpc>
              <a:buNone/>
              <a:defRPr sz="1050">
                <a:solidFill>
                  <a:srgbClr val="F2F4F7"/>
                </a:solidFill>
              </a:defRPr>
            </a:pPr>
            <a:r>
              <a:rPr sz="1050">
                <a:solidFill>
                  <a:srgbClr val="F2F4F7"/>
                </a:solidFill>
              </a:rPr>
              <a:t>    return self._initiate_fallback_relaunch(reason)</a:t>
            </a:r>
          </a:p>
          <a:p>
            <a:endParaRPr sz="1050">
              <a:solidFill>
                <a:srgbClr val="F2F4F7"/>
              </a:solidFill>
            </a:endParaRPr>
          </a:p>
          <a:p>
            <a:pPr algn="l">
              <a:lnSpc>
                <a:spcPct val="105000"/>
              </a:lnSpc>
              <a:buNone/>
              <a:defRPr sz="1050">
                <a:solidFill>
                  <a:srgbClr val="F2F4F7"/>
                </a:solidFill>
              </a:defRPr>
            </a:pPr>
            <a:r>
              <a:rPr sz="1050">
                <a:solidFill>
                  <a:srgbClr val="F2F4F7"/>
                </a:solidFill>
              </a:rPr>
              <a:t>self._launch_spare_worker(...)</a:t>
            </a:r>
          </a:p>
          <a:p>
            <a:pPr algn="l">
              <a:lnSpc>
                <a:spcPct val="105000"/>
              </a:lnSpc>
              <a:buNone/>
              <a:defRPr sz="1050">
                <a:solidFill>
                  <a:srgbClr val="F2F4F7"/>
                </a:solidFill>
              </a:defRPr>
            </a:pPr>
            <a:r>
              <a:rPr sz="1050">
                <a:solidFill>
                  <a:srgbClr val="F2F4F7"/>
                </a:solidFill>
              </a:rPr>
              <a:t>send_rebuild_to_all_launchers(descriptor)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DCEAAA8-B8D6-4FA2-8799-05BF5AEAA4DA}"/>
              </a:ext>
            </a:extLst>
          </p:cNvPr>
          <p:cNvSpPr>
            <a:spLocks noGrp="1"/>
          </p:cNvSpPr>
          <p:nvPr/>
        </p:nvSpPr>
        <p:spPr>
          <a:xfrm>
            <a:off x="6896100" y="1314450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Watcher 状态机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D95262A9-3715-4A05-8328-5FFB033B3E8D}"/>
              </a:ext>
            </a:extLst>
          </p:cNvPr>
          <p:cNvSpPr>
            <a:spLocks noGrp="1"/>
          </p:cNvSpPr>
          <p:nvPr/>
        </p:nvSpPr>
        <p:spPr>
          <a:xfrm>
            <a:off x="7105650" y="1676400"/>
            <a:ext cx="3657600" cy="571500"/>
          </a:xfrm>
          <a:prstGeom prst="roundRect">
            <a:avLst>
              <a:gd name="adj" fmla="val 13333"/>
            </a:avLst>
          </a:prstGeom>
          <a:solidFill>
            <a:srgbClr val="FDECEC"/>
          </a:solidFill>
          <a:ln w="9525">
            <a:solidFill>
              <a:srgbClr val="B42318"/>
            </a:solidFill>
            <a:prstDash val="solid"/>
          </a:ln>
        </p:spPr>
        <p:txBody>
          <a:bodyPr wrap="square" lIns="95250" tIns="57150" rIns="95250" bIns="57150" anchor="ctr">
            <a:normAutofit/>
          </a:bodyPr>
          <a:lstStyle/>
          <a:p>
            <a:pPr algn="ctr">
              <a:defRPr sz="1125" b="1">
                <a:solidFill>
                  <a:srgbClr val="111827"/>
                </a:solidFill>
              </a:defRPr>
            </a:pPr>
            <a:r>
              <a:rPr sz="1125" b="1" dirty="0">
                <a:solidFill>
                  <a:srgbClr val="111827"/>
                </a:solidFill>
              </a:rPr>
              <a:t>DETECT</a:t>
            </a:r>
          </a:p>
          <a:p>
            <a:pPr algn="ctr">
              <a:defRPr sz="1125" b="1">
                <a:solidFill>
                  <a:srgbClr val="111827"/>
                </a:solidFill>
              </a:defRPr>
            </a:pPr>
            <a:r>
              <a:rPr sz="1125" b="1" dirty="0" err="1">
                <a:solidFill>
                  <a:srgbClr val="111827"/>
                </a:solidFill>
              </a:rPr>
              <a:t>去重故障；锁定</a:t>
            </a:r>
            <a:r>
              <a:rPr sz="1125" b="1" dirty="0">
                <a:solidFill>
                  <a:srgbClr val="111827"/>
                </a:solidFill>
              </a:rPr>
              <a:t> failed rank</a:t>
            </a:r>
          </a:p>
        </p:txBody>
      </p:sp>
      <p:sp>
        <p:nvSpPr>
          <p:cNvPr id="9" name="下箭头 8">
            <a:extLst>
              <a:ext uri="{FF2B5EF4-FFF2-40B4-BE49-F238E27FC236}">
                <a16:creationId xmlns:a16="http://schemas.microsoft.com/office/drawing/2014/main" id="{FF5340C7-F8BF-4202-941F-8260DE1C8B09}"/>
              </a:ext>
            </a:extLst>
          </p:cNvPr>
          <p:cNvSpPr>
            <a:spLocks noGrp="1"/>
          </p:cNvSpPr>
          <p:nvPr/>
        </p:nvSpPr>
        <p:spPr>
          <a:xfrm>
            <a:off x="8867775" y="2266950"/>
            <a:ext cx="133350" cy="171450"/>
          </a:xfrm>
          <a:prstGeom prst="downArrow">
            <a:avLst/>
          </a:prstGeom>
          <a:solidFill>
            <a:srgbClr val="D0D5DD"/>
          </a:solidFill>
          <a:ln w="4763">
            <a:solidFill>
              <a:srgbClr val="D0D5DD"/>
            </a:solidFill>
            <a:prstDash val="solid"/>
          </a:ln>
        </p:spPr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5EDB13D7-AE50-4F08-86C3-93F26EE68276}"/>
              </a:ext>
            </a:extLst>
          </p:cNvPr>
          <p:cNvSpPr>
            <a:spLocks noGrp="1"/>
          </p:cNvSpPr>
          <p:nvPr/>
        </p:nvSpPr>
        <p:spPr>
          <a:xfrm>
            <a:off x="7105650" y="2457450"/>
            <a:ext cx="3657600" cy="571500"/>
          </a:xfrm>
          <a:prstGeom prst="roundRect">
            <a:avLst>
              <a:gd name="adj" fmla="val 13333"/>
            </a:avLst>
          </a:prstGeom>
          <a:solidFill>
            <a:srgbClr val="FFF1E8"/>
          </a:solidFill>
          <a:ln w="9525">
            <a:solidFill>
              <a:srgbClr val="E97132"/>
            </a:solidFill>
            <a:prstDash val="solid"/>
          </a:ln>
        </p:spPr>
        <p:txBody>
          <a:bodyPr wrap="square" lIns="95250" tIns="57150" rIns="95250" bIns="57150" anchor="ctr">
            <a:normAutofit/>
          </a:bodyPr>
          <a:lstStyle/>
          <a:p>
            <a:pPr algn="ctr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FREEZE</a:t>
            </a:r>
          </a:p>
          <a:p>
            <a:pPr algn="ctr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epoch + 1；PAUSE 发给所有节点</a:t>
            </a:r>
          </a:p>
        </p:txBody>
      </p:sp>
      <p:sp>
        <p:nvSpPr>
          <p:cNvPr id="11" name="下箭头 10">
            <a:extLst>
              <a:ext uri="{FF2B5EF4-FFF2-40B4-BE49-F238E27FC236}">
                <a16:creationId xmlns:a16="http://schemas.microsoft.com/office/drawing/2014/main" id="{DFB982F9-1A4F-45EE-A3F4-1F581F76673F}"/>
              </a:ext>
            </a:extLst>
          </p:cNvPr>
          <p:cNvSpPr>
            <a:spLocks noGrp="1"/>
          </p:cNvSpPr>
          <p:nvPr/>
        </p:nvSpPr>
        <p:spPr>
          <a:xfrm>
            <a:off x="8867775" y="3048000"/>
            <a:ext cx="133350" cy="171450"/>
          </a:xfrm>
          <a:prstGeom prst="downArrow">
            <a:avLst/>
          </a:prstGeom>
          <a:solidFill>
            <a:srgbClr val="D0D5DD"/>
          </a:solidFill>
          <a:ln w="4763">
            <a:solidFill>
              <a:srgbClr val="D0D5DD"/>
            </a:solidFill>
            <a:prstDash val="solid"/>
          </a:ln>
        </p:spPr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EBE41227-9339-4F0E-BFED-93B4C8DDC66A}"/>
              </a:ext>
            </a:extLst>
          </p:cNvPr>
          <p:cNvSpPr>
            <a:spLocks noGrp="1"/>
          </p:cNvSpPr>
          <p:nvPr/>
        </p:nvSpPr>
        <p:spPr>
          <a:xfrm>
            <a:off x="7105650" y="3238500"/>
            <a:ext cx="3657600" cy="571500"/>
          </a:xfrm>
          <a:prstGeom prst="roundRect">
            <a:avLst>
              <a:gd name="adj" fmla="val 13333"/>
            </a:avLst>
          </a:prstGeom>
          <a:solidFill>
            <a:srgbClr val="E8F2F6"/>
          </a:solidFill>
          <a:ln w="9525">
            <a:solidFill>
              <a:srgbClr val="156082"/>
            </a:solidFill>
            <a:prstDash val="solid"/>
          </a:ln>
        </p:spPr>
        <p:txBody>
          <a:bodyPr wrap="square" lIns="95250" tIns="57150" rIns="95250" bIns="57150" anchor="ctr">
            <a:normAutofit/>
          </a:bodyPr>
          <a:lstStyle/>
          <a:p>
            <a:pPr algn="ctr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PROVE</a:t>
            </a:r>
          </a:p>
          <a:p>
            <a:pPr algn="ctr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汇总 step / phase / rank states</a:t>
            </a:r>
          </a:p>
        </p:txBody>
      </p:sp>
      <p:sp>
        <p:nvSpPr>
          <p:cNvPr id="13" name="下箭头 12">
            <a:extLst>
              <a:ext uri="{FF2B5EF4-FFF2-40B4-BE49-F238E27FC236}">
                <a16:creationId xmlns:a16="http://schemas.microsoft.com/office/drawing/2014/main" id="{898016F8-034A-4EF5-B69C-862884DB2387}"/>
              </a:ext>
            </a:extLst>
          </p:cNvPr>
          <p:cNvSpPr>
            <a:spLocks noGrp="1"/>
          </p:cNvSpPr>
          <p:nvPr/>
        </p:nvSpPr>
        <p:spPr>
          <a:xfrm>
            <a:off x="8867775" y="3829050"/>
            <a:ext cx="133350" cy="171450"/>
          </a:xfrm>
          <a:prstGeom prst="downArrow">
            <a:avLst/>
          </a:prstGeom>
          <a:solidFill>
            <a:srgbClr val="D0D5DD"/>
          </a:solidFill>
          <a:ln w="4763">
            <a:solidFill>
              <a:srgbClr val="D0D5DD"/>
            </a:solidFill>
            <a:prstDash val="solid"/>
          </a:ln>
        </p:spPr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46DE29E9-C4E4-4E3A-98E8-0E213A08C560}"/>
              </a:ext>
            </a:extLst>
          </p:cNvPr>
          <p:cNvSpPr>
            <a:spLocks noGrp="1"/>
          </p:cNvSpPr>
          <p:nvPr/>
        </p:nvSpPr>
        <p:spPr>
          <a:xfrm>
            <a:off x="7105650" y="4019550"/>
            <a:ext cx="3657600" cy="571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11827"/>
            </a:solidFill>
            <a:prstDash val="solid"/>
          </a:ln>
        </p:spPr>
        <p:txBody>
          <a:bodyPr wrap="square" lIns="95250" tIns="57150" rIns="95250" bIns="57150" anchor="ctr">
            <a:normAutofit/>
          </a:bodyPr>
          <a:lstStyle/>
          <a:p>
            <a:pPr algn="ctr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ADMIT</a:t>
            </a:r>
          </a:p>
          <a:p>
            <a:pPr algn="ctr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检查 quiescence 与恢复合同</a:t>
            </a:r>
          </a:p>
        </p:txBody>
      </p:sp>
      <p:sp>
        <p:nvSpPr>
          <p:cNvPr id="15" name="下箭头 14">
            <a:extLst>
              <a:ext uri="{FF2B5EF4-FFF2-40B4-BE49-F238E27FC236}">
                <a16:creationId xmlns:a16="http://schemas.microsoft.com/office/drawing/2014/main" id="{243C014D-A5D8-4E0C-BA54-E5DB0294644D}"/>
              </a:ext>
            </a:extLst>
          </p:cNvPr>
          <p:cNvSpPr>
            <a:spLocks noGrp="1"/>
          </p:cNvSpPr>
          <p:nvPr/>
        </p:nvSpPr>
        <p:spPr>
          <a:xfrm>
            <a:off x="8867775" y="4610100"/>
            <a:ext cx="133350" cy="171450"/>
          </a:xfrm>
          <a:prstGeom prst="downArrow">
            <a:avLst/>
          </a:prstGeom>
          <a:solidFill>
            <a:srgbClr val="D0D5DD"/>
          </a:solidFill>
          <a:ln w="4763">
            <a:solidFill>
              <a:srgbClr val="D0D5DD"/>
            </a:solidFill>
            <a:prstDash val="solid"/>
          </a:ln>
        </p:spPr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93F5B74D-C966-4A56-A735-33C355A9FF78}"/>
              </a:ext>
            </a:extLst>
          </p:cNvPr>
          <p:cNvSpPr>
            <a:spLocks noGrp="1"/>
          </p:cNvSpPr>
          <p:nvPr/>
        </p:nvSpPr>
        <p:spPr>
          <a:xfrm>
            <a:off x="7105650" y="4800600"/>
            <a:ext cx="3657600" cy="571500"/>
          </a:xfrm>
          <a:prstGeom prst="roundRect">
            <a:avLst>
              <a:gd name="adj" fmla="val 13333"/>
            </a:avLst>
          </a:prstGeom>
          <a:solidFill>
            <a:srgbClr val="EAF5EC"/>
          </a:solidFill>
          <a:ln w="9525">
            <a:solidFill>
              <a:srgbClr val="196B24"/>
            </a:solidFill>
            <a:prstDash val="solid"/>
          </a:ln>
        </p:spPr>
        <p:txBody>
          <a:bodyPr wrap="square" lIns="95250" tIns="57150" rIns="95250" bIns="57150" anchor="ctr">
            <a:normAutofit/>
          </a:bodyPr>
          <a:lstStyle/>
          <a:p>
            <a:pPr algn="ctr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REBUILD</a:t>
            </a:r>
          </a:p>
          <a:p>
            <a:pPr algn="ctr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启动 spare；广播 descriptor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08BAB8E0-9C5C-4A2F-B89E-D92EA17A77E8}"/>
              </a:ext>
            </a:extLst>
          </p:cNvPr>
          <p:cNvSpPr>
            <a:spLocks noGrp="1"/>
          </p:cNvSpPr>
          <p:nvPr/>
        </p:nvSpPr>
        <p:spPr>
          <a:xfrm>
            <a:off x="6743700" y="5657850"/>
            <a:ext cx="4438650" cy="581025"/>
          </a:xfrm>
          <a:prstGeom prst="roundRect">
            <a:avLst>
              <a:gd name="adj" fmla="val 13115"/>
            </a:avLst>
          </a:prstGeom>
          <a:solidFill>
            <a:srgbClr val="FDECEC"/>
          </a:solidFill>
          <a:ln w="9525">
            <a:solidFill>
              <a:srgbClr val="B42318"/>
            </a:solidFill>
            <a:prstDash val="solid"/>
          </a:ln>
        </p:spPr>
        <p:txBody>
          <a:bodyPr wrap="square" lIns="133350" tIns="66675" rIns="133350" bIns="66675" anchor="ctr">
            <a:normAutofit/>
          </a:bodyPr>
          <a:lstStyle/>
          <a:p>
            <a:pPr algn="l">
              <a:defRPr sz="1200" b="1">
                <a:solidFill>
                  <a:srgbClr val="B42318"/>
                </a:solidFill>
              </a:defRPr>
            </a:pPr>
            <a:r>
              <a:rPr sz="1200" b="1">
                <a:solidFill>
                  <a:srgbClr val="B42318"/>
                </a:solidFill>
              </a:rPr>
              <a:t>任一条件不成立：descriptor 不发布，所有 survivor 走 checkpoint relaunch；不允许带着不一致状态继续。</a:t>
            </a:r>
          </a:p>
        </p:txBody>
      </p:sp>
      <p:sp>
        <p:nvSpPr>
          <p:cNvPr id="18" name="直线连接符 17">
            <a:extLst>
              <a:ext uri="{FF2B5EF4-FFF2-40B4-BE49-F238E27FC236}">
                <a16:creationId xmlns:a16="http://schemas.microsoft.com/office/drawing/2014/main" id="{A9B789B1-1A37-4942-8905-EA1FFBB60BC1}"/>
              </a:ext>
            </a:extLst>
          </p:cNvPr>
          <p:cNvSpPr>
            <a:spLocks noGrp="1"/>
          </p:cNvSpPr>
          <p:nvPr/>
        </p:nvSpPr>
        <p:spPr>
          <a:xfrm>
            <a:off x="400050" y="6486525"/>
            <a:ext cx="11239500" cy="0"/>
          </a:xfrm>
          <a:prstGeom prst="line">
            <a:avLst/>
          </a:prstGeom>
          <a:noFill/>
          <a:ln w="9525">
            <a:solidFill>
              <a:srgbClr val="E4E7EC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847489B-721F-4323-9E34-6101B5574F8E}"/>
              </a:ext>
            </a:extLst>
          </p:cNvPr>
          <p:cNvSpPr>
            <a:spLocks noGrp="1"/>
          </p:cNvSpPr>
          <p:nvPr/>
        </p:nvSpPr>
        <p:spPr>
          <a:xfrm>
            <a:off x="419100" y="6543675"/>
            <a:ext cx="6000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825" b="0">
                <a:solidFill>
                  <a:srgbClr val="98A2B3"/>
                </a:solidFill>
              </a:defRPr>
            </a:pPr>
            <a:r>
              <a:rPr sz="825" b="0">
                <a:solidFill>
                  <a:srgbClr val="98A2B3"/>
                </a:solidFill>
              </a:rPr>
              <a:t>MoEGambit  |  watcher epoch and admission</a:t>
            </a:r>
          </a:p>
        </p:txBody>
      </p:sp>
    </p:spTree>
    <p:extLst>
      <p:ext uri="{BB962C8B-B14F-4D97-AF65-F5344CB8AC3E}">
        <p14:creationId xmlns:p14="http://schemas.microsoft.com/office/powerpoint/2010/main" val="26289318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40">
            <a:extLst>
              <a:ext uri="{FF2B5EF4-FFF2-40B4-BE49-F238E27FC236}">
                <a16:creationId xmlns:a16="http://schemas.microsoft.com/office/drawing/2014/main" id="{8F326AE4-5630-45B8-B463-D0D1BDEF7855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76200" cy="419100"/>
          </a:xfrm>
          <a:prstGeom prst="rect">
            <a:avLst/>
          </a:prstGeom>
          <a:solidFill>
            <a:srgbClr val="156082"/>
          </a:solidFill>
          <a:ln w="0">
            <a:solidFill>
              <a:srgbClr val="156082"/>
            </a:solidFill>
            <a:prstDash val="solid"/>
          </a:ln>
        </p:spPr>
      </p:sp>
      <p:sp>
        <p:nvSpPr>
          <p:cNvPr id="2" name="slide-7-title">
            <a:extLst>
              <a:ext uri="{FF2B5EF4-FFF2-40B4-BE49-F238E27FC236}">
                <a16:creationId xmlns:a16="http://schemas.microsoft.com/office/drawing/2014/main" id="{7BED6DDD-B05A-4460-BD95-9A4C41848BE7}"/>
              </a:ext>
            </a:extLst>
          </p:cNvPr>
          <p:cNvSpPr>
            <a:spLocks noGrp="1"/>
          </p:cNvSpPr>
          <p:nvPr/>
        </p:nvSpPr>
        <p:spPr>
          <a:xfrm>
            <a:off x="590550" y="276225"/>
            <a:ext cx="10001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2250" b="1">
                <a:solidFill>
                  <a:srgbClr val="111827"/>
                </a:solidFill>
              </a:defRPr>
            </a:pPr>
            <a:r>
              <a:rPr sz="2250" b="1">
                <a:solidFill>
                  <a:srgbClr val="111827"/>
                </a:solidFill>
              </a:rPr>
              <a:t>Recovery descriptor：把恢复来源与版本固化成可验证合同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722E481-1AA1-493E-89D4-C98799D965E0}"/>
              </a:ext>
            </a:extLst>
          </p:cNvPr>
          <p:cNvSpPr>
            <a:spLocks noGrp="1"/>
          </p:cNvSpPr>
          <p:nvPr/>
        </p:nvSpPr>
        <p:spPr>
          <a:xfrm>
            <a:off x="10953750" y="361950"/>
            <a:ext cx="685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defRPr sz="1200" b="1">
                <a:solidFill>
                  <a:srgbClr val="667085"/>
                </a:solidFill>
              </a:defRPr>
            </a:pPr>
            <a:r>
              <a:rPr sz="1200" b="1">
                <a:solidFill>
                  <a:srgbClr val="667085"/>
                </a:solidFill>
              </a:rPr>
              <a:t>07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8542C61-91B2-47AE-9D32-177039C355EB}"/>
              </a:ext>
            </a:extLst>
          </p:cNvPr>
          <p:cNvSpPr>
            <a:spLocks noGrp="1"/>
          </p:cNvSpPr>
          <p:nvPr/>
        </p:nvSpPr>
        <p:spPr>
          <a:xfrm>
            <a:off x="590550" y="74295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Replacement 与 survivors 读取同一个 descriptor；任何来源、step 或 identity 不匹配都终止热替换</a:t>
            </a:r>
          </a:p>
        </p:txBody>
      </p:sp>
      <p:sp>
        <p:nvSpPr>
          <p:cNvPr id="5" name="直线连接符 4">
            <a:extLst>
              <a:ext uri="{FF2B5EF4-FFF2-40B4-BE49-F238E27FC236}">
                <a16:creationId xmlns:a16="http://schemas.microsoft.com/office/drawing/2014/main" id="{1B621972-988E-4DAD-9DF3-1D90ED636B72}"/>
              </a:ext>
            </a:extLst>
          </p:cNvPr>
          <p:cNvSpPr>
            <a:spLocks noGrp="1"/>
          </p:cNvSpPr>
          <p:nvPr/>
        </p:nvSpPr>
        <p:spPr>
          <a:xfrm>
            <a:off x="400050" y="1047750"/>
            <a:ext cx="11239500" cy="0"/>
          </a:xfrm>
          <a:prstGeom prst="line">
            <a:avLst/>
          </a:prstGeom>
          <a:noFill/>
          <a:ln w="9525">
            <a:solidFill>
              <a:srgbClr val="D0D5DD"/>
            </a:solidFill>
            <a:prstDash val="solid"/>
          </a:ln>
        </p:spPr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28D48434-AA8D-4DB4-AA9F-9E746FF4E3A4}"/>
              </a:ext>
            </a:extLst>
          </p:cNvPr>
          <p:cNvSpPr>
            <a:spLocks noGrp="1"/>
          </p:cNvSpPr>
          <p:nvPr/>
        </p:nvSpPr>
        <p:spPr>
          <a:xfrm>
            <a:off x="533400" y="1381125"/>
            <a:ext cx="2647950" cy="400050"/>
          </a:xfrm>
          <a:prstGeom prst="roundRect">
            <a:avLst>
              <a:gd name="adj" fmla="val 19048"/>
            </a:avLst>
          </a:prstGeom>
          <a:solidFill>
            <a:srgbClr val="111827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57150" rIns="95250" bIns="57150" anchor="ctr">
            <a:normAutofit/>
          </a:bodyPr>
          <a:lstStyle/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状态对象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70F52641-AA65-4E3A-821E-B9FF32C99917}"/>
              </a:ext>
            </a:extLst>
          </p:cNvPr>
          <p:cNvSpPr>
            <a:spLocks noGrp="1"/>
          </p:cNvSpPr>
          <p:nvPr/>
        </p:nvSpPr>
        <p:spPr>
          <a:xfrm>
            <a:off x="3181350" y="1381125"/>
            <a:ext cx="2105025" cy="400050"/>
          </a:xfrm>
          <a:prstGeom prst="roundRect">
            <a:avLst>
              <a:gd name="adj" fmla="val 19048"/>
            </a:avLst>
          </a:prstGeom>
          <a:solidFill>
            <a:srgbClr val="111827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57150" rIns="95250" bIns="57150" anchor="ctr">
            <a:normAutofit/>
          </a:bodyPr>
          <a:lstStyle/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目标版本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EBAF3736-B752-4EB4-B0B0-5BE1445A05BE}"/>
              </a:ext>
            </a:extLst>
          </p:cNvPr>
          <p:cNvSpPr>
            <a:spLocks noGrp="1"/>
          </p:cNvSpPr>
          <p:nvPr/>
        </p:nvSpPr>
        <p:spPr>
          <a:xfrm>
            <a:off x="5286375" y="1381125"/>
            <a:ext cx="2381250" cy="400050"/>
          </a:xfrm>
          <a:prstGeom prst="roundRect">
            <a:avLst>
              <a:gd name="adj" fmla="val 19048"/>
            </a:avLst>
          </a:prstGeom>
          <a:solidFill>
            <a:srgbClr val="111827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57150" rIns="95250" bIns="57150" anchor="ctr">
            <a:normAutofit/>
          </a:bodyPr>
          <a:lstStyle/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来源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5B0AD289-DEE2-47E7-A462-D1C77A5F2ED8}"/>
              </a:ext>
            </a:extLst>
          </p:cNvPr>
          <p:cNvSpPr>
            <a:spLocks noGrp="1"/>
          </p:cNvSpPr>
          <p:nvPr/>
        </p:nvSpPr>
        <p:spPr>
          <a:xfrm>
            <a:off x="7667625" y="1381125"/>
            <a:ext cx="2428875" cy="400050"/>
          </a:xfrm>
          <a:prstGeom prst="roundRect">
            <a:avLst>
              <a:gd name="adj" fmla="val 19048"/>
            </a:avLst>
          </a:prstGeom>
          <a:solidFill>
            <a:srgbClr val="111827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57150" rIns="95250" bIns="57150" anchor="ctr">
            <a:normAutofit/>
          </a:bodyPr>
          <a:lstStyle/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传输 / 恢复方式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EA637D20-F152-481A-962B-A6B0C659E1BA}"/>
              </a:ext>
            </a:extLst>
          </p:cNvPr>
          <p:cNvSpPr>
            <a:spLocks noGrp="1"/>
          </p:cNvSpPr>
          <p:nvPr/>
        </p:nvSpPr>
        <p:spPr>
          <a:xfrm>
            <a:off x="10096500" y="1381125"/>
            <a:ext cx="1333500" cy="400050"/>
          </a:xfrm>
          <a:prstGeom prst="roundRect">
            <a:avLst>
              <a:gd name="adj" fmla="val 19048"/>
            </a:avLst>
          </a:prstGeom>
          <a:solidFill>
            <a:srgbClr val="111827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57150" rIns="95250" bIns="57150" anchor="ctr">
            <a:normAutofit/>
          </a:bodyPr>
          <a:lstStyle/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验证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EE965489-9184-47F7-B312-8EC729E1C1F9}"/>
              </a:ext>
            </a:extLst>
          </p:cNvPr>
          <p:cNvSpPr>
            <a:spLocks noGrp="1"/>
          </p:cNvSpPr>
          <p:nvPr/>
        </p:nvSpPr>
        <p:spPr>
          <a:xfrm>
            <a:off x="533400" y="1781175"/>
            <a:ext cx="2647950" cy="552450"/>
          </a:xfrm>
          <a:prstGeom prst="roundRect">
            <a:avLst>
              <a:gd name="adj" fmla="val 13793"/>
            </a:avLst>
          </a:prstGeom>
          <a:solidFill>
            <a:srgbClr val="F5F7F9"/>
          </a:solidFill>
          <a:ln w="9525">
            <a:solidFill>
              <a:srgbClr val="D0D5DD"/>
            </a:solidFill>
            <a:prstDash val="solid"/>
          </a:ln>
        </p:spPr>
        <p:txBody>
          <a:bodyPr wrap="square" lIns="114300" tIns="57150" rIns="57150" bIns="57150" anchor="ctr">
            <a:normAutofit/>
          </a:bodyPr>
          <a:lstStyle/>
          <a:p>
            <a:pPr algn="l">
              <a:defRPr sz="1050" b="1">
                <a:solidFill>
                  <a:srgbClr val="263238"/>
                </a:solidFill>
              </a:defRPr>
            </a:pPr>
            <a:r>
              <a:rPr sz="1050" b="1">
                <a:solidFill>
                  <a:srgbClr val="263238"/>
                </a:solidFill>
              </a:rPr>
              <a:t>non-expert parameters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257C3886-8A1C-458B-873F-388AA32B7C6D}"/>
              </a:ext>
            </a:extLst>
          </p:cNvPr>
          <p:cNvSpPr>
            <a:spLocks noGrp="1"/>
          </p:cNvSpPr>
          <p:nvPr/>
        </p:nvSpPr>
        <p:spPr>
          <a:xfrm>
            <a:off x="3181350" y="1781175"/>
            <a:ext cx="2105025" cy="552450"/>
          </a:xfrm>
          <a:prstGeom prst="roundRect">
            <a:avLst>
              <a:gd name="adj" fmla="val 13793"/>
            </a:avLst>
          </a:prstGeom>
          <a:solidFill>
            <a:srgbClr val="F5F7F9"/>
          </a:solidFill>
          <a:ln w="9525">
            <a:solidFill>
              <a:srgbClr val="D0D5DD"/>
            </a:solidFill>
            <a:prstDash val="solid"/>
          </a:ln>
        </p:spPr>
        <p:txBody>
          <a:bodyPr wrap="square" lIns="57150" tIns="57150" rIns="57150" bIns="57150" anchor="ctr">
            <a:normAutofit/>
          </a:bodyPr>
          <a:lstStyle/>
          <a:p>
            <a:pPr algn="ctr">
              <a:defRPr sz="1050" b="0">
                <a:solidFill>
                  <a:srgbClr val="156082"/>
                </a:solidFill>
              </a:defRPr>
            </a:pPr>
            <a:r>
              <a:rPr sz="1050" b="0">
                <a:solidFill>
                  <a:srgbClr val="156082"/>
                </a:solidFill>
              </a:rPr>
              <a:t>resume step t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5424DDA2-47C4-4B97-97EF-10EDA2F22C5A}"/>
              </a:ext>
            </a:extLst>
          </p:cNvPr>
          <p:cNvSpPr>
            <a:spLocks noGrp="1"/>
          </p:cNvSpPr>
          <p:nvPr/>
        </p:nvSpPr>
        <p:spPr>
          <a:xfrm>
            <a:off x="5286375" y="1781175"/>
            <a:ext cx="2381250" cy="552450"/>
          </a:xfrm>
          <a:prstGeom prst="roundRect">
            <a:avLst>
              <a:gd name="adj" fmla="val 13793"/>
            </a:avLst>
          </a:prstGeom>
          <a:solidFill>
            <a:srgbClr val="F5F7F9"/>
          </a:solidFill>
          <a:ln w="9525">
            <a:solidFill>
              <a:srgbClr val="D0D5DD"/>
            </a:solidFill>
            <a:prstDash val="solid"/>
          </a:ln>
        </p:spPr>
        <p:txBody>
          <a:bodyPr wrap="square" lIns="57150" tIns="57150" rIns="57150" bIns="57150" anchor="ctr">
            <a:normAutofit/>
          </a:bodyPr>
          <a:lstStyle/>
          <a:p>
            <a:pPr algn="ctr">
              <a:defRPr sz="1050" b="0">
                <a:solidFill>
                  <a:srgbClr val="263238"/>
                </a:solidFill>
              </a:defRPr>
            </a:pPr>
            <a:r>
              <a:rPr sz="1050" b="0">
                <a:solidFill>
                  <a:srgbClr val="263238"/>
                </a:solidFill>
              </a:rPr>
              <a:t>dense peer</a:t>
            </a:r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AD853D83-8F70-4134-97B3-67372DE630A8}"/>
              </a:ext>
            </a:extLst>
          </p:cNvPr>
          <p:cNvSpPr>
            <a:spLocks noGrp="1"/>
          </p:cNvSpPr>
          <p:nvPr/>
        </p:nvSpPr>
        <p:spPr>
          <a:xfrm>
            <a:off x="7667625" y="1781175"/>
            <a:ext cx="2428875" cy="552450"/>
          </a:xfrm>
          <a:prstGeom prst="roundRect">
            <a:avLst>
              <a:gd name="adj" fmla="val 13793"/>
            </a:avLst>
          </a:prstGeom>
          <a:solidFill>
            <a:srgbClr val="F5F7F9"/>
          </a:solidFill>
          <a:ln w="9525">
            <a:solidFill>
              <a:srgbClr val="D0D5DD"/>
            </a:solidFill>
            <a:prstDash val="solid"/>
          </a:ln>
        </p:spPr>
        <p:txBody>
          <a:bodyPr wrap="square" lIns="57150" tIns="57150" rIns="57150" bIns="57150" anchor="ctr">
            <a:normAutofit/>
          </a:bodyPr>
          <a:lstStyle/>
          <a:p>
            <a:pPr algn="ctr">
              <a:defRPr sz="1050" b="0">
                <a:solidFill>
                  <a:srgbClr val="263238"/>
                </a:solidFill>
              </a:defRPr>
            </a:pPr>
            <a:r>
              <a:rPr sz="1050" b="0">
                <a:solidFill>
                  <a:srgbClr val="263238"/>
                </a:solidFill>
              </a:rPr>
              <a:t>peer stream / broadcast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0D91FBD4-DC6C-4C23-9205-1A21E947EF48}"/>
              </a:ext>
            </a:extLst>
          </p:cNvPr>
          <p:cNvSpPr>
            <a:spLocks noGrp="1"/>
          </p:cNvSpPr>
          <p:nvPr/>
        </p:nvSpPr>
        <p:spPr>
          <a:xfrm>
            <a:off x="10096500" y="1781175"/>
            <a:ext cx="1333500" cy="552450"/>
          </a:xfrm>
          <a:prstGeom prst="roundRect">
            <a:avLst>
              <a:gd name="adj" fmla="val 13793"/>
            </a:avLst>
          </a:prstGeom>
          <a:solidFill>
            <a:srgbClr val="F5F7F9"/>
          </a:solidFill>
          <a:ln w="9525">
            <a:solidFill>
              <a:srgbClr val="D0D5DD"/>
            </a:solidFill>
            <a:prstDash val="solid"/>
          </a:ln>
        </p:spPr>
        <p:txBody>
          <a:bodyPr wrap="square" lIns="57150" tIns="57150" rIns="57150" bIns="57150" anchor="ctr">
            <a:normAutofit/>
          </a:bodyPr>
          <a:lstStyle/>
          <a:p>
            <a:pPr algn="ctr">
              <a:defRPr sz="1050" b="0">
                <a:solidFill>
                  <a:srgbClr val="263238"/>
                </a:solidFill>
              </a:defRPr>
            </a:pPr>
            <a:r>
              <a:rPr sz="1050" b="0">
                <a:solidFill>
                  <a:srgbClr val="263238"/>
                </a:solidFill>
              </a:rPr>
              <a:t>identity</a:t>
            </a:r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88BC7775-1E7D-4FEB-97AB-44C347A030B3}"/>
              </a:ext>
            </a:extLst>
          </p:cNvPr>
          <p:cNvSpPr>
            <a:spLocks noGrp="1"/>
          </p:cNvSpPr>
          <p:nvPr/>
        </p:nvSpPr>
        <p:spPr>
          <a:xfrm>
            <a:off x="533400" y="2333625"/>
            <a:ext cx="26479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 wrap="square" lIns="114300" tIns="57150" rIns="57150" bIns="57150" anchor="ctr">
            <a:normAutofit/>
          </a:bodyPr>
          <a:lstStyle/>
          <a:p>
            <a:pPr algn="l">
              <a:defRPr sz="1050" b="1">
                <a:solidFill>
                  <a:srgbClr val="263238"/>
                </a:solidFill>
              </a:defRPr>
            </a:pPr>
            <a:r>
              <a:rPr sz="1050" b="1">
                <a:solidFill>
                  <a:srgbClr val="263238"/>
                </a:solidFill>
              </a:rPr>
              <a:t>non-expert optimizer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2E6A19BB-BB44-4D79-A3C3-299B8B269B2F}"/>
              </a:ext>
            </a:extLst>
          </p:cNvPr>
          <p:cNvSpPr>
            <a:spLocks noGrp="1"/>
          </p:cNvSpPr>
          <p:nvPr/>
        </p:nvSpPr>
        <p:spPr>
          <a:xfrm>
            <a:off x="3181350" y="2333625"/>
            <a:ext cx="2105025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 wrap="square" lIns="57150" tIns="57150" rIns="57150" bIns="57150" anchor="ctr">
            <a:normAutofit/>
          </a:bodyPr>
          <a:lstStyle/>
          <a:p>
            <a:pPr algn="ctr">
              <a:defRPr sz="1050" b="0">
                <a:solidFill>
                  <a:srgbClr val="156082"/>
                </a:solidFill>
              </a:defRPr>
            </a:pPr>
            <a:r>
              <a:rPr sz="1050" b="0">
                <a:solidFill>
                  <a:srgbClr val="156082"/>
                </a:solidFill>
              </a:rPr>
              <a:t>resume step t</a:t>
            </a: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BEF777AF-E457-4C61-A47F-312D50B478D1}"/>
              </a:ext>
            </a:extLst>
          </p:cNvPr>
          <p:cNvSpPr>
            <a:spLocks noGrp="1"/>
          </p:cNvSpPr>
          <p:nvPr/>
        </p:nvSpPr>
        <p:spPr>
          <a:xfrm>
            <a:off x="5286375" y="2333625"/>
            <a:ext cx="23812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 wrap="square" lIns="57150" tIns="57150" rIns="57150" bIns="57150" anchor="ctr">
            <a:normAutofit/>
          </a:bodyPr>
          <a:lstStyle/>
          <a:p>
            <a:pPr algn="ctr">
              <a:defRPr sz="1050" b="0">
                <a:solidFill>
                  <a:srgbClr val="263238"/>
                </a:solidFill>
              </a:defRPr>
            </a:pPr>
            <a:r>
              <a:rPr sz="1050" b="0">
                <a:solidFill>
                  <a:srgbClr val="263238"/>
                </a:solidFill>
              </a:rPr>
              <a:t>H2H peer replica</a:t>
            </a: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C280725D-0E6D-4DC4-A403-2F68B267C55B}"/>
              </a:ext>
            </a:extLst>
          </p:cNvPr>
          <p:cNvSpPr>
            <a:spLocks noGrp="1"/>
          </p:cNvSpPr>
          <p:nvPr/>
        </p:nvSpPr>
        <p:spPr>
          <a:xfrm>
            <a:off x="7667625" y="2333625"/>
            <a:ext cx="2428875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 wrap="square" lIns="57150" tIns="57150" rIns="57150" bIns="57150" anchor="ctr">
            <a:normAutofit/>
          </a:bodyPr>
          <a:lstStyle/>
          <a:p>
            <a:pPr algn="ctr">
              <a:defRPr sz="1050" b="0">
                <a:solidFill>
                  <a:srgbClr val="263238"/>
                </a:solidFill>
              </a:defRPr>
            </a:pPr>
            <a:r>
              <a:rPr sz="1050" b="0">
                <a:solidFill>
                  <a:srgbClr val="263238"/>
                </a:solidFill>
              </a:rPr>
              <a:t>CPU snapshot restore</a:t>
            </a:r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3447935C-8A12-479E-B4BB-29470ABD01DC}"/>
              </a:ext>
            </a:extLst>
          </p:cNvPr>
          <p:cNvSpPr>
            <a:spLocks noGrp="1"/>
          </p:cNvSpPr>
          <p:nvPr/>
        </p:nvSpPr>
        <p:spPr>
          <a:xfrm>
            <a:off x="10096500" y="2333625"/>
            <a:ext cx="13335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 wrap="square" lIns="57150" tIns="57150" rIns="57150" bIns="57150" anchor="ctr">
            <a:normAutofit/>
          </a:bodyPr>
          <a:lstStyle/>
          <a:p>
            <a:pPr algn="ctr">
              <a:defRPr sz="1050" b="0">
                <a:solidFill>
                  <a:srgbClr val="263238"/>
                </a:solidFill>
              </a:defRPr>
            </a:pPr>
            <a:r>
              <a:rPr sz="1050" b="0">
                <a:solidFill>
                  <a:srgbClr val="263238"/>
                </a:solidFill>
              </a:rPr>
              <a:t>manifest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B1AF3A62-5313-43D0-8CE9-F5AD8606CB58}"/>
              </a:ext>
            </a:extLst>
          </p:cNvPr>
          <p:cNvSpPr>
            <a:spLocks noGrp="1"/>
          </p:cNvSpPr>
          <p:nvPr/>
        </p:nvSpPr>
        <p:spPr>
          <a:xfrm>
            <a:off x="533400" y="2886075"/>
            <a:ext cx="2647950" cy="552450"/>
          </a:xfrm>
          <a:prstGeom prst="roundRect">
            <a:avLst>
              <a:gd name="adj" fmla="val 13793"/>
            </a:avLst>
          </a:prstGeom>
          <a:solidFill>
            <a:srgbClr val="F5F7F9"/>
          </a:solidFill>
          <a:ln w="9525">
            <a:solidFill>
              <a:srgbClr val="D0D5DD"/>
            </a:solidFill>
            <a:prstDash val="solid"/>
          </a:ln>
        </p:spPr>
        <p:txBody>
          <a:bodyPr wrap="square" lIns="114300" tIns="57150" rIns="57150" bIns="57150" anchor="ctr">
            <a:normAutofit/>
          </a:bodyPr>
          <a:lstStyle/>
          <a:p>
            <a:pPr algn="l">
              <a:defRPr sz="1050" b="1">
                <a:solidFill>
                  <a:srgbClr val="263238"/>
                </a:solidFill>
              </a:defRPr>
            </a:pPr>
            <a:r>
              <a:rPr sz="1050" b="1">
                <a:solidFill>
                  <a:srgbClr val="263238"/>
                </a:solidFill>
              </a:rPr>
              <a:t>expert parameters</a:t>
            </a:r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2A7BFEF8-6D49-4E29-AE1F-8B0A922E0172}"/>
              </a:ext>
            </a:extLst>
          </p:cNvPr>
          <p:cNvSpPr>
            <a:spLocks noGrp="1"/>
          </p:cNvSpPr>
          <p:nvPr/>
        </p:nvSpPr>
        <p:spPr>
          <a:xfrm>
            <a:off x="3181350" y="2886075"/>
            <a:ext cx="2105025" cy="552450"/>
          </a:xfrm>
          <a:prstGeom prst="roundRect">
            <a:avLst>
              <a:gd name="adj" fmla="val 13793"/>
            </a:avLst>
          </a:prstGeom>
          <a:solidFill>
            <a:srgbClr val="F5F7F9"/>
          </a:solidFill>
          <a:ln w="9525">
            <a:solidFill>
              <a:srgbClr val="D0D5DD"/>
            </a:solidFill>
            <a:prstDash val="solid"/>
          </a:ln>
        </p:spPr>
        <p:txBody>
          <a:bodyPr wrap="square" lIns="57150" tIns="57150" rIns="57150" bIns="57150" anchor="ctr">
            <a:normAutofit/>
          </a:bodyPr>
          <a:lstStyle/>
          <a:p>
            <a:pPr algn="ctr">
              <a:defRPr sz="1050" b="0">
                <a:solidFill>
                  <a:srgbClr val="156082"/>
                </a:solidFill>
              </a:defRPr>
            </a:pPr>
            <a:r>
              <a:rPr sz="1050" b="0">
                <a:solidFill>
                  <a:srgbClr val="156082"/>
                </a:solidFill>
              </a:rPr>
              <a:t>checkpoint c</a:t>
            </a:r>
          </a:p>
        </p:txBody>
      </p:sp>
      <p:sp>
        <p:nvSpPr>
          <p:cNvPr id="23" name="圆角矩形 22">
            <a:extLst>
              <a:ext uri="{FF2B5EF4-FFF2-40B4-BE49-F238E27FC236}">
                <a16:creationId xmlns:a16="http://schemas.microsoft.com/office/drawing/2014/main" id="{66AFFC92-29BB-4A29-AA8E-96BC6F26870E}"/>
              </a:ext>
            </a:extLst>
          </p:cNvPr>
          <p:cNvSpPr>
            <a:spLocks noGrp="1"/>
          </p:cNvSpPr>
          <p:nvPr/>
        </p:nvSpPr>
        <p:spPr>
          <a:xfrm>
            <a:off x="5286375" y="2886075"/>
            <a:ext cx="2381250" cy="552450"/>
          </a:xfrm>
          <a:prstGeom prst="roundRect">
            <a:avLst>
              <a:gd name="adj" fmla="val 13793"/>
            </a:avLst>
          </a:prstGeom>
          <a:solidFill>
            <a:srgbClr val="F5F7F9"/>
          </a:solidFill>
          <a:ln w="9525">
            <a:solidFill>
              <a:srgbClr val="D0D5DD"/>
            </a:solidFill>
            <a:prstDash val="solid"/>
          </a:ln>
        </p:spPr>
        <p:txBody>
          <a:bodyPr wrap="square" lIns="57150" tIns="57150" rIns="57150" bIns="57150" anchor="ctr">
            <a:normAutofit/>
          </a:bodyPr>
          <a:lstStyle/>
          <a:p>
            <a:pPr algn="ctr">
              <a:defRPr sz="1050" b="0">
                <a:solidFill>
                  <a:srgbClr val="263238"/>
                </a:solidFill>
              </a:defRPr>
            </a:pPr>
            <a:r>
              <a:rPr sz="1050" b="0">
                <a:solidFill>
                  <a:srgbClr val="263238"/>
                </a:solidFill>
              </a:rPr>
              <a:t>checkpoint shard</a:t>
            </a:r>
          </a:p>
        </p:txBody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62601E2C-CF23-47A5-8B6A-40071528C9AB}"/>
              </a:ext>
            </a:extLst>
          </p:cNvPr>
          <p:cNvSpPr>
            <a:spLocks noGrp="1"/>
          </p:cNvSpPr>
          <p:nvPr/>
        </p:nvSpPr>
        <p:spPr>
          <a:xfrm>
            <a:off x="7667625" y="2886075"/>
            <a:ext cx="2428875" cy="552450"/>
          </a:xfrm>
          <a:prstGeom prst="roundRect">
            <a:avLst>
              <a:gd name="adj" fmla="val 13793"/>
            </a:avLst>
          </a:prstGeom>
          <a:solidFill>
            <a:srgbClr val="F5F7F9"/>
          </a:solidFill>
          <a:ln w="9525">
            <a:solidFill>
              <a:srgbClr val="D0D5DD"/>
            </a:solidFill>
            <a:prstDash val="solid"/>
          </a:ln>
        </p:spPr>
        <p:txBody>
          <a:bodyPr wrap="square" lIns="57150" tIns="57150" rIns="57150" bIns="57150" anchor="ctr">
            <a:normAutofit/>
          </a:bodyPr>
          <a:lstStyle/>
          <a:p>
            <a:pPr algn="ctr">
              <a:defRPr sz="1050" b="0">
                <a:solidFill>
                  <a:srgbClr val="263238"/>
                </a:solidFill>
              </a:defRPr>
            </a:pPr>
            <a:r>
              <a:rPr sz="1050" b="0">
                <a:solidFill>
                  <a:srgbClr val="263238"/>
                </a:solidFill>
              </a:rPr>
              <a:t>load expert sidecar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3E3CDFF7-54D9-4A00-A554-9EF317463797}"/>
              </a:ext>
            </a:extLst>
          </p:cNvPr>
          <p:cNvSpPr>
            <a:spLocks noGrp="1"/>
          </p:cNvSpPr>
          <p:nvPr/>
        </p:nvSpPr>
        <p:spPr>
          <a:xfrm>
            <a:off x="10096500" y="2886075"/>
            <a:ext cx="1333500" cy="552450"/>
          </a:xfrm>
          <a:prstGeom prst="roundRect">
            <a:avLst>
              <a:gd name="adj" fmla="val 13793"/>
            </a:avLst>
          </a:prstGeom>
          <a:solidFill>
            <a:srgbClr val="F5F7F9"/>
          </a:solidFill>
          <a:ln w="9525">
            <a:solidFill>
              <a:srgbClr val="D0D5DD"/>
            </a:solidFill>
            <a:prstDash val="solid"/>
          </a:ln>
        </p:spPr>
        <p:txBody>
          <a:bodyPr wrap="square" lIns="57150" tIns="57150" rIns="57150" bIns="57150" anchor="ctr">
            <a:normAutofit/>
          </a:bodyPr>
          <a:lstStyle/>
          <a:p>
            <a:pPr algn="ctr">
              <a:defRPr sz="1050" b="0">
                <a:solidFill>
                  <a:srgbClr val="263238"/>
                </a:solidFill>
              </a:defRPr>
            </a:pPr>
            <a:r>
              <a:rPr sz="1050" b="0">
                <a:solidFill>
                  <a:srgbClr val="263238"/>
                </a:solidFill>
              </a:rPr>
              <a:t>hash</a:t>
            </a:r>
          </a:p>
        </p:txBody>
      </p:sp>
      <p:sp>
        <p:nvSpPr>
          <p:cNvPr id="26" name="圆角矩形 25">
            <a:extLst>
              <a:ext uri="{FF2B5EF4-FFF2-40B4-BE49-F238E27FC236}">
                <a16:creationId xmlns:a16="http://schemas.microsoft.com/office/drawing/2014/main" id="{9A0500B6-7BCD-41CC-973A-8C2015DD4E57}"/>
              </a:ext>
            </a:extLst>
          </p:cNvPr>
          <p:cNvSpPr>
            <a:spLocks noGrp="1"/>
          </p:cNvSpPr>
          <p:nvPr/>
        </p:nvSpPr>
        <p:spPr>
          <a:xfrm>
            <a:off x="533400" y="3438525"/>
            <a:ext cx="26479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 wrap="square" lIns="114300" tIns="57150" rIns="57150" bIns="57150" anchor="ctr">
            <a:normAutofit/>
          </a:bodyPr>
          <a:lstStyle/>
          <a:p>
            <a:pPr algn="l">
              <a:defRPr sz="1050" b="1">
                <a:solidFill>
                  <a:srgbClr val="263238"/>
                </a:solidFill>
              </a:defRPr>
            </a:pPr>
            <a:r>
              <a:rPr sz="1050" b="1">
                <a:solidFill>
                  <a:srgbClr val="263238"/>
                </a:solidFill>
              </a:rPr>
              <a:t>expert optimizer</a:t>
            </a:r>
          </a:p>
        </p:txBody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56A677BE-EA0A-43A0-9CEF-6CB61B41148B}"/>
              </a:ext>
            </a:extLst>
          </p:cNvPr>
          <p:cNvSpPr>
            <a:spLocks noGrp="1"/>
          </p:cNvSpPr>
          <p:nvPr/>
        </p:nvSpPr>
        <p:spPr>
          <a:xfrm>
            <a:off x="3181350" y="3438525"/>
            <a:ext cx="2105025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 wrap="square" lIns="57150" tIns="57150" rIns="57150" bIns="57150" anchor="ctr">
            <a:normAutofit/>
          </a:bodyPr>
          <a:lstStyle/>
          <a:p>
            <a:pPr algn="ctr">
              <a:defRPr sz="1050" b="0">
                <a:solidFill>
                  <a:srgbClr val="156082"/>
                </a:solidFill>
              </a:defRPr>
            </a:pPr>
            <a:r>
              <a:rPr sz="1050" b="0">
                <a:solidFill>
                  <a:srgbClr val="156082"/>
                </a:solidFill>
              </a:rPr>
              <a:t>checkpoint c</a:t>
            </a:r>
          </a:p>
        </p:txBody>
      </p:sp>
      <p:sp>
        <p:nvSpPr>
          <p:cNvPr id="28" name="圆角矩形 27">
            <a:extLst>
              <a:ext uri="{FF2B5EF4-FFF2-40B4-BE49-F238E27FC236}">
                <a16:creationId xmlns:a16="http://schemas.microsoft.com/office/drawing/2014/main" id="{3E414436-AB71-49DC-B460-FA3A330C8AC8}"/>
              </a:ext>
            </a:extLst>
          </p:cNvPr>
          <p:cNvSpPr>
            <a:spLocks noGrp="1"/>
          </p:cNvSpPr>
          <p:nvPr/>
        </p:nvSpPr>
        <p:spPr>
          <a:xfrm>
            <a:off x="5286375" y="3438525"/>
            <a:ext cx="23812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 wrap="square" lIns="57150" tIns="57150" rIns="57150" bIns="57150" anchor="ctr">
            <a:normAutofit/>
          </a:bodyPr>
          <a:lstStyle/>
          <a:p>
            <a:pPr algn="ctr">
              <a:defRPr sz="1050" b="0">
                <a:solidFill>
                  <a:srgbClr val="263238"/>
                </a:solidFill>
              </a:defRPr>
            </a:pPr>
            <a:r>
              <a:rPr sz="1050" b="0">
                <a:solidFill>
                  <a:srgbClr val="263238"/>
                </a:solidFill>
              </a:rPr>
              <a:t>checkpoint shard</a:t>
            </a:r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29F9CECC-5ECB-4916-AC6D-35CEF67AFE4D}"/>
              </a:ext>
            </a:extLst>
          </p:cNvPr>
          <p:cNvSpPr>
            <a:spLocks noGrp="1"/>
          </p:cNvSpPr>
          <p:nvPr/>
        </p:nvSpPr>
        <p:spPr>
          <a:xfrm>
            <a:off x="7667625" y="3438525"/>
            <a:ext cx="2428875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 wrap="square" lIns="57150" tIns="57150" rIns="57150" bIns="57150" anchor="ctr">
            <a:normAutofit/>
          </a:bodyPr>
          <a:lstStyle/>
          <a:p>
            <a:pPr algn="ctr">
              <a:defRPr sz="1050" b="0">
                <a:solidFill>
                  <a:srgbClr val="263238"/>
                </a:solidFill>
              </a:defRPr>
            </a:pPr>
            <a:r>
              <a:rPr sz="1050" b="0">
                <a:solidFill>
                  <a:srgbClr val="263238"/>
                </a:solidFill>
              </a:rPr>
              <a:t>load optimizer shard</a:t>
            </a:r>
          </a:p>
        </p:txBody>
      </p:sp>
      <p:sp>
        <p:nvSpPr>
          <p:cNvPr id="30" name="圆角矩形 29">
            <a:extLst>
              <a:ext uri="{FF2B5EF4-FFF2-40B4-BE49-F238E27FC236}">
                <a16:creationId xmlns:a16="http://schemas.microsoft.com/office/drawing/2014/main" id="{DEB53179-C689-4A3E-ADAC-60A4DED14B56}"/>
              </a:ext>
            </a:extLst>
          </p:cNvPr>
          <p:cNvSpPr>
            <a:spLocks noGrp="1"/>
          </p:cNvSpPr>
          <p:nvPr/>
        </p:nvSpPr>
        <p:spPr>
          <a:xfrm>
            <a:off x="10096500" y="3438525"/>
            <a:ext cx="13335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 wrap="square" lIns="57150" tIns="57150" rIns="57150" bIns="57150" anchor="ctr">
            <a:normAutofit/>
          </a:bodyPr>
          <a:lstStyle/>
          <a:p>
            <a:pPr algn="ctr">
              <a:defRPr sz="1050" b="0">
                <a:solidFill>
                  <a:srgbClr val="263238"/>
                </a:solidFill>
              </a:defRPr>
            </a:pPr>
            <a:r>
              <a:rPr sz="1050" b="0">
                <a:solidFill>
                  <a:srgbClr val="263238"/>
                </a:solidFill>
              </a:rPr>
              <a:t>owner</a:t>
            </a:r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93B9DDB6-77F1-46D5-9933-DCB4A39C701A}"/>
              </a:ext>
            </a:extLst>
          </p:cNvPr>
          <p:cNvSpPr>
            <a:spLocks noGrp="1"/>
          </p:cNvSpPr>
          <p:nvPr/>
        </p:nvSpPr>
        <p:spPr>
          <a:xfrm>
            <a:off x="533400" y="3990975"/>
            <a:ext cx="2647950" cy="552450"/>
          </a:xfrm>
          <a:prstGeom prst="roundRect">
            <a:avLst>
              <a:gd name="adj" fmla="val 13793"/>
            </a:avLst>
          </a:prstGeom>
          <a:solidFill>
            <a:srgbClr val="F5F7F9"/>
          </a:solidFill>
          <a:ln w="9525">
            <a:solidFill>
              <a:srgbClr val="D0D5DD"/>
            </a:solidFill>
            <a:prstDash val="solid"/>
          </a:ln>
        </p:spPr>
        <p:txBody>
          <a:bodyPr wrap="square" lIns="114300" tIns="57150" rIns="57150" bIns="57150" anchor="ctr">
            <a:normAutofit/>
          </a:bodyPr>
          <a:lstStyle/>
          <a:p>
            <a:pPr algn="l">
              <a:defRPr sz="1050" b="1">
                <a:solidFill>
                  <a:srgbClr val="263238"/>
                </a:solidFill>
              </a:defRPr>
            </a:pPr>
            <a:r>
              <a:rPr sz="1050" b="1">
                <a:solidFill>
                  <a:srgbClr val="263238"/>
                </a:solidFill>
              </a:rPr>
              <a:t>runtime metadata</a:t>
            </a:r>
          </a:p>
        </p:txBody>
      </p:sp>
      <p:sp>
        <p:nvSpPr>
          <p:cNvPr id="32" name="圆角矩形 31">
            <a:extLst>
              <a:ext uri="{FF2B5EF4-FFF2-40B4-BE49-F238E27FC236}">
                <a16:creationId xmlns:a16="http://schemas.microsoft.com/office/drawing/2014/main" id="{2F9A8F57-5A94-4EEF-A519-4355F4A7EEE3}"/>
              </a:ext>
            </a:extLst>
          </p:cNvPr>
          <p:cNvSpPr>
            <a:spLocks noGrp="1"/>
          </p:cNvSpPr>
          <p:nvPr/>
        </p:nvSpPr>
        <p:spPr>
          <a:xfrm>
            <a:off x="3181350" y="3990975"/>
            <a:ext cx="2105025" cy="552450"/>
          </a:xfrm>
          <a:prstGeom prst="roundRect">
            <a:avLst>
              <a:gd name="adj" fmla="val 13793"/>
            </a:avLst>
          </a:prstGeom>
          <a:solidFill>
            <a:srgbClr val="F5F7F9"/>
          </a:solidFill>
          <a:ln w="9525">
            <a:solidFill>
              <a:srgbClr val="D0D5DD"/>
            </a:solidFill>
            <a:prstDash val="solid"/>
          </a:ln>
        </p:spPr>
        <p:txBody>
          <a:bodyPr wrap="square" lIns="57150" tIns="57150" rIns="57150" bIns="57150" anchor="ctr">
            <a:normAutofit/>
          </a:bodyPr>
          <a:lstStyle/>
          <a:p>
            <a:pPr algn="ctr">
              <a:defRPr sz="1050" b="0">
                <a:solidFill>
                  <a:srgbClr val="156082"/>
                </a:solidFill>
              </a:defRPr>
            </a:pPr>
            <a:r>
              <a:rPr sz="1050" b="0">
                <a:solidFill>
                  <a:srgbClr val="156082"/>
                </a:solidFill>
              </a:rPr>
              <a:t>recovery epoch e</a:t>
            </a:r>
          </a:p>
        </p:txBody>
      </p:sp>
      <p:sp>
        <p:nvSpPr>
          <p:cNvPr id="33" name="圆角矩形 32">
            <a:extLst>
              <a:ext uri="{FF2B5EF4-FFF2-40B4-BE49-F238E27FC236}">
                <a16:creationId xmlns:a16="http://schemas.microsoft.com/office/drawing/2014/main" id="{0A80B155-0372-4CC6-AB68-CB02EF32CD13}"/>
              </a:ext>
            </a:extLst>
          </p:cNvPr>
          <p:cNvSpPr>
            <a:spLocks noGrp="1"/>
          </p:cNvSpPr>
          <p:nvPr/>
        </p:nvSpPr>
        <p:spPr>
          <a:xfrm>
            <a:off x="5286375" y="3990975"/>
            <a:ext cx="2381250" cy="552450"/>
          </a:xfrm>
          <a:prstGeom prst="roundRect">
            <a:avLst>
              <a:gd name="adj" fmla="val 13793"/>
            </a:avLst>
          </a:prstGeom>
          <a:solidFill>
            <a:srgbClr val="F5F7F9"/>
          </a:solidFill>
          <a:ln w="9525">
            <a:solidFill>
              <a:srgbClr val="D0D5DD"/>
            </a:solidFill>
            <a:prstDash val="solid"/>
          </a:ln>
        </p:spPr>
        <p:txBody>
          <a:bodyPr wrap="square" lIns="57150" tIns="57150" rIns="57150" bIns="57150" anchor="ctr">
            <a:normAutofit/>
          </a:bodyPr>
          <a:lstStyle/>
          <a:p>
            <a:pPr algn="ctr">
              <a:defRPr sz="1050" b="0">
                <a:solidFill>
                  <a:srgbClr val="263238"/>
                </a:solidFill>
              </a:defRPr>
            </a:pPr>
            <a:r>
              <a:rPr sz="1050" b="0">
                <a:solidFill>
                  <a:srgbClr val="263238"/>
                </a:solidFill>
              </a:rPr>
              <a:t>descriptor</a:t>
            </a:r>
          </a:p>
        </p:txBody>
      </p:sp>
      <p:sp>
        <p:nvSpPr>
          <p:cNvPr id="34" name="圆角矩形 33">
            <a:extLst>
              <a:ext uri="{FF2B5EF4-FFF2-40B4-BE49-F238E27FC236}">
                <a16:creationId xmlns:a16="http://schemas.microsoft.com/office/drawing/2014/main" id="{CB154268-C72D-4E4F-8C1C-BAD9B911AD2C}"/>
              </a:ext>
            </a:extLst>
          </p:cNvPr>
          <p:cNvSpPr>
            <a:spLocks noGrp="1"/>
          </p:cNvSpPr>
          <p:nvPr/>
        </p:nvSpPr>
        <p:spPr>
          <a:xfrm>
            <a:off x="7667625" y="3990975"/>
            <a:ext cx="2428875" cy="552450"/>
          </a:xfrm>
          <a:prstGeom prst="roundRect">
            <a:avLst>
              <a:gd name="adj" fmla="val 13793"/>
            </a:avLst>
          </a:prstGeom>
          <a:solidFill>
            <a:srgbClr val="F5F7F9"/>
          </a:solidFill>
          <a:ln w="9525">
            <a:solidFill>
              <a:srgbClr val="D0D5DD"/>
            </a:solidFill>
            <a:prstDash val="solid"/>
          </a:ln>
        </p:spPr>
        <p:txBody>
          <a:bodyPr wrap="square" lIns="57150" tIns="57150" rIns="57150" bIns="57150" anchor="ctr">
            <a:normAutofit/>
          </a:bodyPr>
          <a:lstStyle/>
          <a:p>
            <a:pPr algn="ctr">
              <a:defRPr sz="1050" b="0">
                <a:solidFill>
                  <a:srgbClr val="263238"/>
                </a:solidFill>
              </a:defRPr>
            </a:pPr>
            <a:r>
              <a:rPr sz="1050" b="0">
                <a:solidFill>
                  <a:srgbClr val="263238"/>
                </a:solidFill>
              </a:rPr>
              <a:t>recompute + rebind</a:t>
            </a:r>
          </a:p>
        </p:txBody>
      </p:sp>
      <p:sp>
        <p:nvSpPr>
          <p:cNvPr id="35" name="圆角矩形 34">
            <a:extLst>
              <a:ext uri="{FF2B5EF4-FFF2-40B4-BE49-F238E27FC236}">
                <a16:creationId xmlns:a16="http://schemas.microsoft.com/office/drawing/2014/main" id="{03C2E8BB-0DE8-4099-B029-E01111BF00DC}"/>
              </a:ext>
            </a:extLst>
          </p:cNvPr>
          <p:cNvSpPr>
            <a:spLocks noGrp="1"/>
          </p:cNvSpPr>
          <p:nvPr/>
        </p:nvSpPr>
        <p:spPr>
          <a:xfrm>
            <a:off x="10096500" y="3990975"/>
            <a:ext cx="1333500" cy="552450"/>
          </a:xfrm>
          <a:prstGeom prst="roundRect">
            <a:avLst>
              <a:gd name="adj" fmla="val 13793"/>
            </a:avLst>
          </a:prstGeom>
          <a:solidFill>
            <a:srgbClr val="F5F7F9"/>
          </a:solidFill>
          <a:ln w="9525">
            <a:solidFill>
              <a:srgbClr val="D0D5DD"/>
            </a:solidFill>
            <a:prstDash val="solid"/>
          </a:ln>
        </p:spPr>
        <p:txBody>
          <a:bodyPr wrap="square" lIns="57150" tIns="57150" rIns="57150" bIns="57150" anchor="ctr">
            <a:normAutofit/>
          </a:bodyPr>
          <a:lstStyle/>
          <a:p>
            <a:pPr algn="ctr">
              <a:defRPr sz="1050" b="0">
                <a:solidFill>
                  <a:srgbClr val="263238"/>
                </a:solidFill>
              </a:defRPr>
            </a:pPr>
            <a:r>
              <a:rPr sz="1050" b="0">
                <a:solidFill>
                  <a:srgbClr val="263238"/>
                </a:solidFill>
              </a:rPr>
              <a:t>epoch</a:t>
            </a:r>
          </a:p>
        </p:txBody>
      </p:sp>
      <p:sp>
        <p:nvSpPr>
          <p:cNvPr id="36" name="圆角矩形 35">
            <a:extLst>
              <a:ext uri="{FF2B5EF4-FFF2-40B4-BE49-F238E27FC236}">
                <a16:creationId xmlns:a16="http://schemas.microsoft.com/office/drawing/2014/main" id="{1BDB00E3-5B8D-417B-BDF1-1069D9058FBD}"/>
              </a:ext>
            </a:extLst>
          </p:cNvPr>
          <p:cNvSpPr>
            <a:spLocks noGrp="1"/>
          </p:cNvSpPr>
          <p:nvPr/>
        </p:nvSpPr>
        <p:spPr>
          <a:xfrm>
            <a:off x="533400" y="4857750"/>
            <a:ext cx="6858000" cy="1285875"/>
          </a:xfrm>
          <a:prstGeom prst="roundRect">
            <a:avLst>
              <a:gd name="adj" fmla="val 5185"/>
            </a:avLst>
          </a:prstGeom>
          <a:solidFill>
            <a:srgbClr val="17212B"/>
          </a:solidFill>
          <a:ln w="9525">
            <a:solidFill>
              <a:srgbClr val="344054"/>
            </a:solidFill>
            <a:prstDash val="solid"/>
          </a:ln>
        </p:spPr>
        <p:txBody>
          <a:bodyPr wrap="square" lIns="152400" tIns="114300" rIns="133350" bIns="95250" anchor="t">
            <a:normAutofit fontScale="95692" lnSpcReduction="10000"/>
          </a:bodyPr>
          <a:lstStyle/>
          <a:p>
            <a:pPr algn="l">
              <a:lnSpc>
                <a:spcPct val="105000"/>
              </a:lnSpc>
              <a:buNone/>
              <a:defRPr sz="1050">
                <a:solidFill>
                  <a:srgbClr val="F2F4F7"/>
                </a:solidFill>
              </a:defRPr>
            </a:pPr>
            <a:r>
              <a:rPr sz="1050">
                <a:solidFill>
                  <a:srgbClr val="F2F4F7"/>
                </a:solidFill>
              </a:rPr>
              <a:t>"state_sources": {</a:t>
            </a:r>
          </a:p>
          <a:p>
            <a:pPr algn="l">
              <a:lnSpc>
                <a:spcPct val="105000"/>
              </a:lnSpc>
              <a:buNone/>
              <a:defRPr sz="1050">
                <a:solidFill>
                  <a:srgbClr val="F2F4F7"/>
                </a:solidFill>
              </a:defRPr>
            </a:pPr>
            <a:r>
              <a:rPr sz="1050">
                <a:solidFill>
                  <a:srgbClr val="F2F4F7"/>
                </a:solidFill>
              </a:rPr>
              <a:t>  "non_expert_parameters": {"kind": "peer_broadcast", "version_step": t},</a:t>
            </a:r>
          </a:p>
          <a:p>
            <a:pPr algn="l">
              <a:lnSpc>
                <a:spcPct val="105000"/>
              </a:lnSpc>
              <a:buNone/>
              <a:defRPr sz="1050">
                <a:solidFill>
                  <a:srgbClr val="F2F4F7"/>
                </a:solidFill>
              </a:defRPr>
            </a:pPr>
            <a:r>
              <a:rPr sz="1050">
                <a:solidFill>
                  <a:srgbClr val="F2F4F7"/>
                </a:solidFill>
              </a:rPr>
              <a:t>  "non_expert_optimizer":  {"kind": "peer_broadcast", "version_step": t},</a:t>
            </a:r>
          </a:p>
          <a:p>
            <a:pPr algn="l">
              <a:lnSpc>
                <a:spcPct val="105000"/>
              </a:lnSpc>
              <a:buNone/>
              <a:defRPr sz="1050">
                <a:solidFill>
                  <a:srgbClr val="F2F4F7"/>
                </a:solidFill>
              </a:defRPr>
            </a:pPr>
            <a:r>
              <a:rPr sz="1050">
                <a:solidFill>
                  <a:srgbClr val="F2F4F7"/>
                </a:solidFill>
              </a:rPr>
              <a:t>  "expert_parameters":     {"kind": "checkpoint_shard", "version_step": c},</a:t>
            </a:r>
          </a:p>
          <a:p>
            <a:pPr algn="l">
              <a:lnSpc>
                <a:spcPct val="105000"/>
              </a:lnSpc>
              <a:buNone/>
              <a:defRPr sz="1050">
                <a:solidFill>
                  <a:srgbClr val="F2F4F7"/>
                </a:solidFill>
              </a:defRPr>
            </a:pPr>
            <a:r>
              <a:rPr sz="1050">
                <a:solidFill>
                  <a:srgbClr val="F2F4F7"/>
                </a:solidFill>
              </a:rPr>
              <a:t>  "expert_optimizer":      {"kind": "checkpoint_shard", "version_step": c},</a:t>
            </a:r>
          </a:p>
          <a:p>
            <a:pPr algn="l">
              <a:lnSpc>
                <a:spcPct val="105000"/>
              </a:lnSpc>
              <a:buNone/>
              <a:defRPr sz="1050">
                <a:solidFill>
                  <a:srgbClr val="F2F4F7"/>
                </a:solidFill>
              </a:defRPr>
            </a:pPr>
            <a:r>
              <a:rPr sz="1050">
                <a:solidFill>
                  <a:srgbClr val="F2F4F7"/>
                </a:solidFill>
              </a:rPr>
              <a:t>  "runtime_metadata":      "recompute_from_descriptor"</a:t>
            </a:r>
          </a:p>
          <a:p>
            <a:pPr algn="l">
              <a:lnSpc>
                <a:spcPct val="105000"/>
              </a:lnSpc>
              <a:buNone/>
              <a:defRPr sz="1050">
                <a:solidFill>
                  <a:srgbClr val="F2F4F7"/>
                </a:solidFill>
              </a:defRPr>
            </a:pPr>
            <a:r>
              <a:rPr sz="1050">
                <a:solidFill>
                  <a:srgbClr val="F2F4F7"/>
                </a:solidFill>
              </a:rPr>
              <a:t>}</a:t>
            </a:r>
          </a:p>
        </p:txBody>
      </p:sp>
      <p:sp>
        <p:nvSpPr>
          <p:cNvPr id="37" name="圆角矩形 36">
            <a:extLst>
              <a:ext uri="{FF2B5EF4-FFF2-40B4-BE49-F238E27FC236}">
                <a16:creationId xmlns:a16="http://schemas.microsoft.com/office/drawing/2014/main" id="{451A177A-E0ED-4C72-8873-37BD4F34DA7F}"/>
              </a:ext>
            </a:extLst>
          </p:cNvPr>
          <p:cNvSpPr>
            <a:spLocks noGrp="1"/>
          </p:cNvSpPr>
          <p:nvPr/>
        </p:nvSpPr>
        <p:spPr>
          <a:xfrm>
            <a:off x="7772400" y="4857750"/>
            <a:ext cx="3409950" cy="342900"/>
          </a:xfrm>
          <a:prstGeom prst="roundRect">
            <a:avLst>
              <a:gd name="adj" fmla="val 22222"/>
            </a:avLst>
          </a:prstGeom>
          <a:solidFill>
            <a:srgbClr val="FFF1E8"/>
          </a:solidFill>
          <a:ln w="9525">
            <a:solidFill>
              <a:srgbClr val="E97132"/>
            </a:solidFill>
            <a:prstDash val="solid"/>
          </a:ln>
        </p:spPr>
        <p:txBody>
          <a:bodyPr wrap="square" lIns="95250" tIns="57150" rIns="95250" bIns="57150" anchor="ctr">
            <a:normAutofit/>
          </a:bodyPr>
          <a:lstStyle/>
          <a:p>
            <a:pPr algn="ctr">
              <a:defRPr sz="1200" b="1">
                <a:solidFill>
                  <a:srgbClr val="E97132"/>
                </a:solidFill>
              </a:defRPr>
            </a:pPr>
            <a:r>
              <a:rPr sz="1200" b="1">
                <a:solidFill>
                  <a:srgbClr val="E97132"/>
                </a:solidFill>
              </a:rPr>
              <a:t>intentional mixed version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92B588B3-35BE-4865-9FBB-44E5BD27643F}"/>
              </a:ext>
            </a:extLst>
          </p:cNvPr>
          <p:cNvSpPr>
            <a:spLocks noGrp="1"/>
          </p:cNvSpPr>
          <p:nvPr/>
        </p:nvSpPr>
        <p:spPr>
          <a:xfrm>
            <a:off x="7829550" y="5295900"/>
            <a:ext cx="3295650" cy="790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7826"/>
          </a:bodyPr>
          <a:lstStyle/>
          <a:p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稠密状态恢复到当前 committed step；专家状态允许从最近 checkpoint 恢复，但 checkpoint gap 必须满足 R2 合同。</a:t>
            </a:r>
          </a:p>
        </p:txBody>
      </p:sp>
      <p:sp>
        <p:nvSpPr>
          <p:cNvPr id="39" name="直线连接符 38">
            <a:extLst>
              <a:ext uri="{FF2B5EF4-FFF2-40B4-BE49-F238E27FC236}">
                <a16:creationId xmlns:a16="http://schemas.microsoft.com/office/drawing/2014/main" id="{80CEB747-B779-4037-8C4B-BC5D5015CB38}"/>
              </a:ext>
            </a:extLst>
          </p:cNvPr>
          <p:cNvSpPr>
            <a:spLocks noGrp="1"/>
          </p:cNvSpPr>
          <p:nvPr/>
        </p:nvSpPr>
        <p:spPr>
          <a:xfrm>
            <a:off x="400050" y="6486525"/>
            <a:ext cx="11239500" cy="0"/>
          </a:xfrm>
          <a:prstGeom prst="line">
            <a:avLst/>
          </a:prstGeom>
          <a:noFill/>
          <a:ln w="9525">
            <a:solidFill>
              <a:srgbClr val="E4E7EC"/>
            </a:solidFill>
            <a:prstDash val="solid"/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992CCED3-183F-4803-AF44-43A4A7A31E89}"/>
              </a:ext>
            </a:extLst>
          </p:cNvPr>
          <p:cNvSpPr>
            <a:spLocks noGrp="1"/>
          </p:cNvSpPr>
          <p:nvPr/>
        </p:nvSpPr>
        <p:spPr>
          <a:xfrm>
            <a:off x="419100" y="6543675"/>
            <a:ext cx="6000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825" b="0">
                <a:solidFill>
                  <a:srgbClr val="98A2B3"/>
                </a:solidFill>
              </a:defRPr>
            </a:pPr>
            <a:r>
              <a:rPr sz="825" b="0">
                <a:solidFill>
                  <a:srgbClr val="98A2B3"/>
                </a:solidFill>
              </a:rPr>
              <a:t>MoEGambit  |  versioned recovery descriptor</a:t>
            </a:r>
          </a:p>
        </p:txBody>
      </p:sp>
    </p:spTree>
    <p:extLst>
      <p:ext uri="{BB962C8B-B14F-4D97-AF65-F5344CB8AC3E}">
        <p14:creationId xmlns:p14="http://schemas.microsoft.com/office/powerpoint/2010/main" val="26289318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>
            <a:extLst>
              <a:ext uri="{FF2B5EF4-FFF2-40B4-BE49-F238E27FC236}">
                <a16:creationId xmlns:a16="http://schemas.microsoft.com/office/drawing/2014/main" id="{90EEDE72-DB8F-4173-9864-F56D5013B2C8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76200" cy="419100"/>
          </a:xfrm>
          <a:prstGeom prst="rect">
            <a:avLst/>
          </a:prstGeom>
          <a:solidFill>
            <a:srgbClr val="156082"/>
          </a:solidFill>
          <a:ln w="0">
            <a:solidFill>
              <a:srgbClr val="156082"/>
            </a:solidFill>
            <a:prstDash val="solid"/>
          </a:ln>
        </p:spPr>
      </p:sp>
      <p:sp>
        <p:nvSpPr>
          <p:cNvPr id="2" name="slide-8-title">
            <a:extLst>
              <a:ext uri="{FF2B5EF4-FFF2-40B4-BE49-F238E27FC236}">
                <a16:creationId xmlns:a16="http://schemas.microsoft.com/office/drawing/2014/main" id="{D35529E5-6782-4B35-AA5D-7F064FDA504C}"/>
              </a:ext>
            </a:extLst>
          </p:cNvPr>
          <p:cNvSpPr>
            <a:spLocks noGrp="1"/>
          </p:cNvSpPr>
          <p:nvPr/>
        </p:nvSpPr>
        <p:spPr>
          <a:xfrm>
            <a:off x="590550" y="276225"/>
            <a:ext cx="10001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2250" b="1">
                <a:solidFill>
                  <a:srgbClr val="111827"/>
                </a:solidFill>
              </a:defRPr>
            </a:pPr>
            <a:r>
              <a:rPr sz="2250" b="1">
                <a:solidFill>
                  <a:srgbClr val="111827"/>
                </a:solidFill>
              </a:rPr>
              <a:t>恢复期间的通信：旧 WORLD 不能承担停机协议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616F03C-4228-4592-9217-519ABCF812C8}"/>
              </a:ext>
            </a:extLst>
          </p:cNvPr>
          <p:cNvSpPr>
            <a:spLocks noGrp="1"/>
          </p:cNvSpPr>
          <p:nvPr/>
        </p:nvSpPr>
        <p:spPr>
          <a:xfrm>
            <a:off x="10953750" y="361950"/>
            <a:ext cx="685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defRPr sz="1200" b="1">
                <a:solidFill>
                  <a:srgbClr val="667085"/>
                </a:solidFill>
              </a:defRPr>
            </a:pPr>
            <a:r>
              <a:rPr sz="1200" b="1">
                <a:solidFill>
                  <a:srgbClr val="667085"/>
                </a:solidFill>
              </a:rPr>
              <a:t>08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EAE142C-EB53-4B80-9439-ABBB17943CBD}"/>
              </a:ext>
            </a:extLst>
          </p:cNvPr>
          <p:cNvSpPr>
            <a:spLocks noGrp="1"/>
          </p:cNvSpPr>
          <p:nvPr/>
        </p:nvSpPr>
        <p:spPr>
          <a:xfrm>
            <a:off x="590550" y="74295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故障 rank 已无法参与 collective；若用旧 WORLD 做 pause / barrier，健康 rank 会被 NCCL watchdog 一起拖死</a:t>
            </a:r>
          </a:p>
        </p:txBody>
      </p:sp>
      <p:sp>
        <p:nvSpPr>
          <p:cNvPr id="5" name="直线连接符 4">
            <a:extLst>
              <a:ext uri="{FF2B5EF4-FFF2-40B4-BE49-F238E27FC236}">
                <a16:creationId xmlns:a16="http://schemas.microsoft.com/office/drawing/2014/main" id="{AA993A98-139C-47F0-B200-946338771C75}"/>
              </a:ext>
            </a:extLst>
          </p:cNvPr>
          <p:cNvSpPr>
            <a:spLocks noGrp="1"/>
          </p:cNvSpPr>
          <p:nvPr/>
        </p:nvSpPr>
        <p:spPr>
          <a:xfrm>
            <a:off x="400050" y="1047750"/>
            <a:ext cx="11239500" cy="0"/>
          </a:xfrm>
          <a:prstGeom prst="line">
            <a:avLst/>
          </a:prstGeom>
          <a:noFill/>
          <a:ln w="9525">
            <a:solidFill>
              <a:srgbClr val="D0D5DD"/>
            </a:solidFill>
            <a:prstDash val="solid"/>
          </a:ln>
        </p:spPr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1A6D7174-D304-4E06-A9F0-18203BF28286}"/>
              </a:ext>
            </a:extLst>
          </p:cNvPr>
          <p:cNvSpPr>
            <a:spLocks noGrp="1"/>
          </p:cNvSpPr>
          <p:nvPr/>
        </p:nvSpPr>
        <p:spPr>
          <a:xfrm>
            <a:off x="533400" y="1323975"/>
            <a:ext cx="1095375" cy="323850"/>
          </a:xfrm>
          <a:prstGeom prst="roundRect">
            <a:avLst>
              <a:gd name="adj" fmla="val 23529"/>
            </a:avLst>
          </a:prstGeom>
          <a:solidFill>
            <a:srgbClr val="B42318"/>
          </a:solidFill>
          <a:ln w="9525">
            <a:solidFill>
              <a:srgbClr val="B42318"/>
            </a:solidFill>
            <a:prstDash val="solid"/>
          </a:ln>
        </p:spPr>
        <p:txBody>
          <a:bodyPr wrap="square" lIns="95250" tIns="57150" rIns="95250" bIns="57150" anchor="ctr">
            <a:normAutofit fontScale="96188" lnSpcReduction="10000"/>
          </a:bodyPr>
          <a:lstStyle/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危险路径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4A6A91D-1591-44DD-8543-1A12BDF6054E}"/>
              </a:ext>
            </a:extLst>
          </p:cNvPr>
          <p:cNvSpPr>
            <a:spLocks noGrp="1"/>
          </p:cNvSpPr>
          <p:nvPr/>
        </p:nvSpPr>
        <p:spPr>
          <a:xfrm>
            <a:off x="1752600" y="1295400"/>
            <a:ext cx="9429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425" b="1">
                <a:solidFill>
                  <a:srgbClr val="B42318"/>
                </a:solidFill>
              </a:defRPr>
            </a:pPr>
            <a:r>
              <a:rPr sz="1425" b="1" dirty="0">
                <a:solidFill>
                  <a:srgbClr val="B42318"/>
                </a:solidFill>
              </a:rPr>
              <a:t>dead rank → old WORLD collective </a:t>
            </a:r>
            <a:r>
              <a:rPr sz="1425" b="1" dirty="0" err="1">
                <a:solidFill>
                  <a:srgbClr val="B42318"/>
                </a:solidFill>
              </a:rPr>
              <a:t>永远等不齐</a:t>
            </a:r>
            <a:r>
              <a:rPr sz="1425" b="1" dirty="0">
                <a:solidFill>
                  <a:srgbClr val="B42318"/>
                </a:solidFill>
              </a:rPr>
              <a:t> → watchdog timeout / SIGABRT → </a:t>
            </a:r>
            <a:r>
              <a:rPr sz="1425" b="1" dirty="0" err="1">
                <a:solidFill>
                  <a:srgbClr val="B42318"/>
                </a:solidFill>
              </a:rPr>
              <a:t>故障扩散</a:t>
            </a:r>
            <a:endParaRPr sz="1425" b="1" dirty="0">
              <a:solidFill>
                <a:srgbClr val="B42318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0F40437-7946-43E8-B35F-E590CDB4B71D}"/>
              </a:ext>
            </a:extLst>
          </p:cNvPr>
          <p:cNvSpPr>
            <a:spLocks noGrp="1"/>
          </p:cNvSpPr>
          <p:nvPr/>
        </p:nvSpPr>
        <p:spPr>
          <a:xfrm>
            <a:off x="533400" y="1914525"/>
            <a:ext cx="3238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通信代际切换顺序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D9AFFD90-B9B4-4633-B0A8-E6800DBFCE6C}"/>
              </a:ext>
            </a:extLst>
          </p:cNvPr>
          <p:cNvSpPr>
            <a:spLocks noGrp="1"/>
          </p:cNvSpPr>
          <p:nvPr/>
        </p:nvSpPr>
        <p:spPr>
          <a:xfrm>
            <a:off x="533400" y="2333625"/>
            <a:ext cx="323850" cy="323850"/>
          </a:xfrm>
          <a:prstGeom prst="ellipse">
            <a:avLst/>
          </a:prstGeom>
          <a:solidFill>
            <a:srgbClr val="E97132"/>
          </a:solidFill>
          <a:ln w="9525">
            <a:solidFill>
              <a:srgbClr val="E97132"/>
            </a:solidFill>
            <a:prstDash val="solid"/>
          </a:ln>
        </p:spPr>
        <p:txBody>
          <a:bodyPr wrap="square" lIns="95250" tIns="57150" rIns="95250" bIns="57150" anchor="ctr">
            <a:normAutofit fontScale="78983" lnSpcReduction="20000"/>
          </a:bodyPr>
          <a:lstStyle/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F4E39EC-2168-40E7-8F0E-E9CECD3AAB92}"/>
              </a:ext>
            </a:extLst>
          </p:cNvPr>
          <p:cNvSpPr>
            <a:spLocks noGrp="1"/>
          </p:cNvSpPr>
          <p:nvPr/>
        </p:nvSpPr>
        <p:spPr>
          <a:xfrm>
            <a:off x="533400" y="2733675"/>
            <a:ext cx="1562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控制面 PAUSE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8B7D4FE-930D-4F77-A87C-508B7F3AFF2D}"/>
              </a:ext>
            </a:extLst>
          </p:cNvPr>
          <p:cNvSpPr>
            <a:spLocks noGrp="1"/>
          </p:cNvSpPr>
          <p:nvPr/>
        </p:nvSpPr>
        <p:spPr>
          <a:xfrm>
            <a:off x="533400" y="3028950"/>
            <a:ext cx="15621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watcher TCP + local file</a:t>
            </a:r>
          </a:p>
        </p:txBody>
      </p:sp>
      <p:sp>
        <p:nvSpPr>
          <p:cNvPr id="12" name="右箭头 11">
            <a:extLst>
              <a:ext uri="{FF2B5EF4-FFF2-40B4-BE49-F238E27FC236}">
                <a16:creationId xmlns:a16="http://schemas.microsoft.com/office/drawing/2014/main" id="{408BB889-BE17-4483-AB17-7F7696A828BF}"/>
              </a:ext>
            </a:extLst>
          </p:cNvPr>
          <p:cNvSpPr>
            <a:spLocks noGrp="1"/>
          </p:cNvSpPr>
          <p:nvPr/>
        </p:nvSpPr>
        <p:spPr>
          <a:xfrm>
            <a:off x="2057400" y="2438400"/>
            <a:ext cx="266700" cy="104775"/>
          </a:xfrm>
          <a:prstGeom prst="rightArrow">
            <a:avLst/>
          </a:prstGeom>
          <a:solidFill>
            <a:srgbClr val="E97132"/>
          </a:solidFill>
          <a:ln w="4763">
            <a:solidFill>
              <a:srgbClr val="E97132"/>
            </a:solidFill>
            <a:prstDash val="solid"/>
          </a:ln>
        </p:spPr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3F676CD9-FFD7-438C-8A14-A28740A6782C}"/>
              </a:ext>
            </a:extLst>
          </p:cNvPr>
          <p:cNvSpPr>
            <a:spLocks noGrp="1"/>
          </p:cNvSpPr>
          <p:nvPr/>
        </p:nvSpPr>
        <p:spPr>
          <a:xfrm>
            <a:off x="2381250" y="2333625"/>
            <a:ext cx="323850" cy="323850"/>
          </a:xfrm>
          <a:prstGeom prst="ellipse">
            <a:avLst/>
          </a:prstGeom>
          <a:solidFill>
            <a:srgbClr val="E97132"/>
          </a:solidFill>
          <a:ln w="9525">
            <a:solidFill>
              <a:srgbClr val="E97132"/>
            </a:solidFill>
            <a:prstDash val="solid"/>
          </a:ln>
        </p:spPr>
        <p:txBody>
          <a:bodyPr wrap="square" lIns="95250" tIns="57150" rIns="95250" bIns="57150" anchor="ctr">
            <a:normAutofit fontScale="78983" lnSpcReduction="20000"/>
          </a:bodyPr>
          <a:lstStyle/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F533730-60A8-4CEE-9DF1-F2F1FB537624}"/>
              </a:ext>
            </a:extLst>
          </p:cNvPr>
          <p:cNvSpPr>
            <a:spLocks noGrp="1"/>
          </p:cNvSpPr>
          <p:nvPr/>
        </p:nvSpPr>
        <p:spPr>
          <a:xfrm>
            <a:off x="2381250" y="2733675"/>
            <a:ext cx="1562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冻结副本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AF3EE84-A9A8-4289-9E41-4797214F69BC}"/>
              </a:ext>
            </a:extLst>
          </p:cNvPr>
          <p:cNvSpPr>
            <a:spLocks noGrp="1"/>
          </p:cNvSpPr>
          <p:nvPr/>
        </p:nvSpPr>
        <p:spPr>
          <a:xfrm>
            <a:off x="2381250" y="3028950"/>
            <a:ext cx="15621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完成 D2H/H2H committed step</a:t>
            </a:r>
          </a:p>
        </p:txBody>
      </p:sp>
      <p:sp>
        <p:nvSpPr>
          <p:cNvPr id="16" name="右箭头 15">
            <a:extLst>
              <a:ext uri="{FF2B5EF4-FFF2-40B4-BE49-F238E27FC236}">
                <a16:creationId xmlns:a16="http://schemas.microsoft.com/office/drawing/2014/main" id="{D1B3BBB7-08D4-49E1-9437-200A50241B74}"/>
              </a:ext>
            </a:extLst>
          </p:cNvPr>
          <p:cNvSpPr>
            <a:spLocks noGrp="1"/>
          </p:cNvSpPr>
          <p:nvPr/>
        </p:nvSpPr>
        <p:spPr>
          <a:xfrm>
            <a:off x="3905250" y="2438400"/>
            <a:ext cx="266700" cy="104775"/>
          </a:xfrm>
          <a:prstGeom prst="rightArrow">
            <a:avLst/>
          </a:prstGeom>
          <a:solidFill>
            <a:srgbClr val="E97132"/>
          </a:solidFill>
          <a:ln w="4763">
            <a:solidFill>
              <a:srgbClr val="E97132"/>
            </a:solidFill>
            <a:prstDash val="solid"/>
          </a:ln>
        </p:spPr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60955F28-8D84-4737-A659-E78C6D7BDF5B}"/>
              </a:ext>
            </a:extLst>
          </p:cNvPr>
          <p:cNvSpPr>
            <a:spLocks noGrp="1"/>
          </p:cNvSpPr>
          <p:nvPr/>
        </p:nvSpPr>
        <p:spPr>
          <a:xfrm>
            <a:off x="4229100" y="2333625"/>
            <a:ext cx="323850" cy="323850"/>
          </a:xfrm>
          <a:prstGeom prst="ellipse">
            <a:avLst/>
          </a:prstGeom>
          <a:solidFill>
            <a:srgbClr val="E97132"/>
          </a:solidFill>
          <a:ln w="9525">
            <a:solidFill>
              <a:srgbClr val="E97132"/>
            </a:solidFill>
            <a:prstDash val="solid"/>
          </a:ln>
        </p:spPr>
        <p:txBody>
          <a:bodyPr wrap="square" lIns="95250" tIns="57150" rIns="95250" bIns="57150" anchor="ctr">
            <a:normAutofit fontScale="78983" lnSpcReduction="20000"/>
          </a:bodyPr>
          <a:lstStyle/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234986F-DD5E-4443-9965-2EC223819F43}"/>
              </a:ext>
            </a:extLst>
          </p:cNvPr>
          <p:cNvSpPr>
            <a:spLocks noGrp="1"/>
          </p:cNvSpPr>
          <p:nvPr/>
        </p:nvSpPr>
        <p:spPr>
          <a:xfrm>
            <a:off x="4229100" y="2733675"/>
            <a:ext cx="1562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retire old gen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8E403D8-7009-4B52-BE62-964AFCA1FA62}"/>
              </a:ext>
            </a:extLst>
          </p:cNvPr>
          <p:cNvSpPr>
            <a:spLocks noGrp="1"/>
          </p:cNvSpPr>
          <p:nvPr/>
        </p:nvSpPr>
        <p:spPr>
          <a:xfrm>
            <a:off x="4229100" y="3028950"/>
            <a:ext cx="15621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destroy WORLD / affected groups</a:t>
            </a:r>
          </a:p>
        </p:txBody>
      </p:sp>
      <p:sp>
        <p:nvSpPr>
          <p:cNvPr id="20" name="右箭头 19">
            <a:extLst>
              <a:ext uri="{FF2B5EF4-FFF2-40B4-BE49-F238E27FC236}">
                <a16:creationId xmlns:a16="http://schemas.microsoft.com/office/drawing/2014/main" id="{43FF5370-AC48-4815-8CDB-8120801E41F9}"/>
              </a:ext>
            </a:extLst>
          </p:cNvPr>
          <p:cNvSpPr>
            <a:spLocks noGrp="1"/>
          </p:cNvSpPr>
          <p:nvPr/>
        </p:nvSpPr>
        <p:spPr>
          <a:xfrm>
            <a:off x="5753100" y="2438400"/>
            <a:ext cx="266700" cy="104775"/>
          </a:xfrm>
          <a:prstGeom prst="rightArrow">
            <a:avLst/>
          </a:prstGeom>
          <a:solidFill>
            <a:srgbClr val="156082"/>
          </a:solidFill>
          <a:ln w="4763">
            <a:solidFill>
              <a:srgbClr val="156082"/>
            </a:solidFill>
            <a:prstDash val="solid"/>
          </a:ln>
        </p:spPr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1FA9B0A8-1F9C-4342-A4D2-E4C7D0915D08}"/>
              </a:ext>
            </a:extLst>
          </p:cNvPr>
          <p:cNvSpPr>
            <a:spLocks noGrp="1"/>
          </p:cNvSpPr>
          <p:nvPr/>
        </p:nvSpPr>
        <p:spPr>
          <a:xfrm>
            <a:off x="6076950" y="2333625"/>
            <a:ext cx="323850" cy="323850"/>
          </a:xfrm>
          <a:prstGeom prst="ellipse">
            <a:avLst/>
          </a:prstGeom>
          <a:solidFill>
            <a:srgbClr val="156082"/>
          </a:solidFill>
          <a:ln w="9525">
            <a:solidFill>
              <a:srgbClr val="156082"/>
            </a:solidFill>
            <a:prstDash val="solid"/>
          </a:ln>
        </p:spPr>
        <p:txBody>
          <a:bodyPr wrap="square" lIns="95250" tIns="57150" rIns="95250" bIns="57150" anchor="ctr">
            <a:normAutofit fontScale="78983" lnSpcReduction="20000"/>
          </a:bodyPr>
          <a:lstStyle/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C32E2CA-2194-4F64-8AAC-356D8E25B962}"/>
              </a:ext>
            </a:extLst>
          </p:cNvPr>
          <p:cNvSpPr>
            <a:spLocks noGrp="1"/>
          </p:cNvSpPr>
          <p:nvPr/>
        </p:nvSpPr>
        <p:spPr>
          <a:xfrm>
            <a:off x="6076950" y="2733675"/>
            <a:ext cx="1562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new rendezvous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49A52C9-6375-4FB0-B53D-E35276B9C6BD}"/>
              </a:ext>
            </a:extLst>
          </p:cNvPr>
          <p:cNvSpPr>
            <a:spLocks noGrp="1"/>
          </p:cNvSpPr>
          <p:nvPr/>
        </p:nvSpPr>
        <p:spPr>
          <a:xfrm>
            <a:off x="6076950" y="3028950"/>
            <a:ext cx="15621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new TCPStore + master port</a:t>
            </a:r>
          </a:p>
        </p:txBody>
      </p:sp>
      <p:sp>
        <p:nvSpPr>
          <p:cNvPr id="24" name="右箭头 23">
            <a:extLst>
              <a:ext uri="{FF2B5EF4-FFF2-40B4-BE49-F238E27FC236}">
                <a16:creationId xmlns:a16="http://schemas.microsoft.com/office/drawing/2014/main" id="{D6BFAC50-F5F0-43DC-9947-3D15C2EF1BCC}"/>
              </a:ext>
            </a:extLst>
          </p:cNvPr>
          <p:cNvSpPr>
            <a:spLocks noGrp="1"/>
          </p:cNvSpPr>
          <p:nvPr/>
        </p:nvSpPr>
        <p:spPr>
          <a:xfrm>
            <a:off x="7600950" y="2438400"/>
            <a:ext cx="266700" cy="104775"/>
          </a:xfrm>
          <a:prstGeom prst="rightArrow">
            <a:avLst/>
          </a:prstGeom>
          <a:solidFill>
            <a:srgbClr val="156082"/>
          </a:solidFill>
          <a:ln w="4763">
            <a:solidFill>
              <a:srgbClr val="156082"/>
            </a:solidFill>
            <a:prstDash val="solid"/>
          </a:ln>
        </p:spPr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8166D1D6-C295-4014-9425-7A156A1E93DF}"/>
              </a:ext>
            </a:extLst>
          </p:cNvPr>
          <p:cNvSpPr>
            <a:spLocks noGrp="1"/>
          </p:cNvSpPr>
          <p:nvPr/>
        </p:nvSpPr>
        <p:spPr>
          <a:xfrm>
            <a:off x="7924800" y="2333625"/>
            <a:ext cx="323850" cy="323850"/>
          </a:xfrm>
          <a:prstGeom prst="ellipse">
            <a:avLst/>
          </a:prstGeom>
          <a:solidFill>
            <a:srgbClr val="156082"/>
          </a:solidFill>
          <a:ln w="9525">
            <a:solidFill>
              <a:srgbClr val="156082"/>
            </a:solidFill>
            <a:prstDash val="solid"/>
          </a:ln>
        </p:spPr>
        <p:txBody>
          <a:bodyPr wrap="square" lIns="95250" tIns="57150" rIns="95250" bIns="57150" anchor="ctr">
            <a:normAutofit fontScale="78983" lnSpcReduction="20000"/>
          </a:bodyPr>
          <a:lstStyle/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151C316-1857-4C35-8175-CB2AEEA0693A}"/>
              </a:ext>
            </a:extLst>
          </p:cNvPr>
          <p:cNvSpPr>
            <a:spLocks noGrp="1"/>
          </p:cNvSpPr>
          <p:nvPr/>
        </p:nvSpPr>
        <p:spPr>
          <a:xfrm>
            <a:off x="7924800" y="2733675"/>
            <a:ext cx="1562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selective rebuild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4BAAF66-2A20-4680-9425-E0BEB0F9B438}"/>
              </a:ext>
            </a:extLst>
          </p:cNvPr>
          <p:cNvSpPr>
            <a:spLocks noGrp="1"/>
          </p:cNvSpPr>
          <p:nvPr/>
        </p:nvSpPr>
        <p:spPr>
          <a:xfrm>
            <a:off x="7924800" y="3028950"/>
            <a:ext cx="15621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只重建含 replacement 的 groups</a:t>
            </a:r>
          </a:p>
        </p:txBody>
      </p:sp>
      <p:sp>
        <p:nvSpPr>
          <p:cNvPr id="28" name="右箭头 27">
            <a:extLst>
              <a:ext uri="{FF2B5EF4-FFF2-40B4-BE49-F238E27FC236}">
                <a16:creationId xmlns:a16="http://schemas.microsoft.com/office/drawing/2014/main" id="{C2FE5D81-5F49-4AE1-8A5C-1591B1D1952E}"/>
              </a:ext>
            </a:extLst>
          </p:cNvPr>
          <p:cNvSpPr>
            <a:spLocks noGrp="1"/>
          </p:cNvSpPr>
          <p:nvPr/>
        </p:nvSpPr>
        <p:spPr>
          <a:xfrm>
            <a:off x="9448800" y="2438400"/>
            <a:ext cx="266700" cy="104775"/>
          </a:xfrm>
          <a:prstGeom prst="rightArrow">
            <a:avLst/>
          </a:prstGeom>
          <a:solidFill>
            <a:srgbClr val="156082"/>
          </a:solidFill>
          <a:ln w="4763">
            <a:solidFill>
              <a:srgbClr val="156082"/>
            </a:solidFill>
            <a:prstDash val="solid"/>
          </a:ln>
        </p:spPr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98C97450-03AB-4BA3-8483-4334A5CB9653}"/>
              </a:ext>
            </a:extLst>
          </p:cNvPr>
          <p:cNvSpPr>
            <a:spLocks noGrp="1"/>
          </p:cNvSpPr>
          <p:nvPr/>
        </p:nvSpPr>
        <p:spPr>
          <a:xfrm>
            <a:off x="9772650" y="2333625"/>
            <a:ext cx="323850" cy="323850"/>
          </a:xfrm>
          <a:prstGeom prst="ellipse">
            <a:avLst/>
          </a:prstGeom>
          <a:solidFill>
            <a:srgbClr val="156082"/>
          </a:solidFill>
          <a:ln w="9525">
            <a:solidFill>
              <a:srgbClr val="156082"/>
            </a:solidFill>
            <a:prstDash val="solid"/>
          </a:ln>
        </p:spPr>
        <p:txBody>
          <a:bodyPr wrap="square" lIns="95250" tIns="57150" rIns="95250" bIns="57150" anchor="ctr">
            <a:normAutofit fontScale="78983" lnSpcReduction="20000"/>
          </a:bodyPr>
          <a:lstStyle/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8F86342-2CAD-4FF6-8F31-236269CE37FF}"/>
              </a:ext>
            </a:extLst>
          </p:cNvPr>
          <p:cNvSpPr>
            <a:spLocks noGrp="1"/>
          </p:cNvSpPr>
          <p:nvPr/>
        </p:nvSpPr>
        <p:spPr>
          <a:xfrm>
            <a:off x="9772650" y="2733675"/>
            <a:ext cx="1562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rebind &amp; warm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8814659-E000-4670-B77F-A5BA3D8C57A7}"/>
              </a:ext>
            </a:extLst>
          </p:cNvPr>
          <p:cNvSpPr>
            <a:spLocks noGrp="1"/>
          </p:cNvSpPr>
          <p:nvPr/>
        </p:nvSpPr>
        <p:spPr>
          <a:xfrm>
            <a:off x="9772650" y="3028950"/>
            <a:ext cx="15621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刷新缓存引用；首个对齐 barrier</a:t>
            </a:r>
          </a:p>
        </p:txBody>
      </p:sp>
      <p:sp>
        <p:nvSpPr>
          <p:cNvPr id="32" name="圆角矩形 31">
            <a:extLst>
              <a:ext uri="{FF2B5EF4-FFF2-40B4-BE49-F238E27FC236}">
                <a16:creationId xmlns:a16="http://schemas.microsoft.com/office/drawing/2014/main" id="{D9FE5A77-953C-4893-9876-30B77B205D60}"/>
              </a:ext>
            </a:extLst>
          </p:cNvPr>
          <p:cNvSpPr>
            <a:spLocks noGrp="1"/>
          </p:cNvSpPr>
          <p:nvPr/>
        </p:nvSpPr>
        <p:spPr>
          <a:xfrm>
            <a:off x="533400" y="3848100"/>
            <a:ext cx="6191250" cy="2286000"/>
          </a:xfrm>
          <a:prstGeom prst="roundRect">
            <a:avLst>
              <a:gd name="adj" fmla="val 2917"/>
            </a:avLst>
          </a:prstGeom>
          <a:solidFill>
            <a:srgbClr val="17212B"/>
          </a:solidFill>
          <a:ln w="9525">
            <a:solidFill>
              <a:srgbClr val="344054"/>
            </a:solidFill>
            <a:prstDash val="solid"/>
          </a:ln>
        </p:spPr>
        <p:txBody>
          <a:bodyPr wrap="square" lIns="152400" tIns="114300" rIns="133350" bIns="952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13">
                <a:solidFill>
                  <a:srgbClr val="F2F4F7"/>
                </a:solidFill>
              </a:defRPr>
            </a:pPr>
            <a:r>
              <a:rPr sz="1013">
                <a:solidFill>
                  <a:srgbClr val="F2F4F7"/>
                </a:solidFill>
              </a:rPr>
              <a:t>zero2_quiesce_summary = elastic_zero2_quiesce_for_recovery(step)</a:t>
            </a:r>
          </a:p>
          <a:p>
            <a:pPr algn="l">
              <a:lnSpc>
                <a:spcPct val="105000"/>
              </a:lnSpc>
              <a:buNone/>
              <a:defRPr sz="1013">
                <a:solidFill>
                  <a:srgbClr val="F2F4F7"/>
                </a:solidFill>
              </a:defRPr>
            </a:pPr>
            <a:r>
              <a:rPr sz="1013">
                <a:solidFill>
                  <a:srgbClr val="F2F4F7"/>
                </a:solidFill>
              </a:rPr>
              <a:t>retained = mpu.prepare_elastic_selective_group_rebuild(failed_rank)</a:t>
            </a:r>
          </a:p>
          <a:p>
            <a:pPr algn="l">
              <a:lnSpc>
                <a:spcPct val="105000"/>
              </a:lnSpc>
              <a:buNone/>
              <a:defRPr sz="1013">
                <a:solidFill>
                  <a:srgbClr val="F2F4F7"/>
                </a:solidFill>
              </a:defRPr>
            </a:pPr>
            <a:r>
              <a:rPr sz="1013">
                <a:solidFill>
                  <a:srgbClr val="F2F4F7"/>
                </a:solidFill>
              </a:rPr>
              <a:t>_elastic_destroy_process_group_generation(mpu, rank)</a:t>
            </a:r>
          </a:p>
          <a:p>
            <a:endParaRPr sz="1013">
              <a:solidFill>
                <a:srgbClr val="F2F4F7"/>
              </a:solidFill>
            </a:endParaRPr>
          </a:p>
          <a:p>
            <a:pPr algn="l">
              <a:lnSpc>
                <a:spcPct val="105000"/>
              </a:lnSpc>
              <a:buNone/>
              <a:defRPr sz="1013">
                <a:solidFill>
                  <a:srgbClr val="F2F4F7"/>
                </a:solidFill>
              </a:defRPr>
            </a:pPr>
            <a:r>
              <a:rPr sz="1013">
                <a:solidFill>
                  <a:srgbClr val="F2F4F7"/>
                </a:solidFill>
              </a:rPr>
              <a:t>store = TCPStore(master_addr, rebuild_master_port, ...)</a:t>
            </a:r>
          </a:p>
          <a:p>
            <a:pPr algn="l">
              <a:lnSpc>
                <a:spcPct val="105000"/>
              </a:lnSpc>
              <a:buNone/>
              <a:defRPr sz="1013">
                <a:solidFill>
                  <a:srgbClr val="F2F4F7"/>
                </a:solidFill>
              </a:defRPr>
            </a:pPr>
            <a:r>
              <a:rPr sz="1013">
                <a:solidFill>
                  <a:srgbClr val="F2F4F7"/>
                </a:solidFill>
              </a:rPr>
              <a:t>dist.init_process_group(..., store=store, rank=logical_rank)</a:t>
            </a:r>
          </a:p>
          <a:p>
            <a:pPr algn="l">
              <a:lnSpc>
                <a:spcPct val="105000"/>
              </a:lnSpc>
              <a:buNone/>
              <a:defRPr sz="1013">
                <a:solidFill>
                  <a:srgbClr val="F2F4F7"/>
                </a:solidFill>
              </a:defRPr>
            </a:pPr>
            <a:r>
              <a:rPr sz="1013">
                <a:solidFill>
                  <a:srgbClr val="F2F4F7"/>
                </a:solidFill>
              </a:rPr>
              <a:t>mpu.initialize_model_parallel(...)</a:t>
            </a:r>
          </a:p>
          <a:p>
            <a:pPr algn="l">
              <a:lnSpc>
                <a:spcPct val="105000"/>
              </a:lnSpc>
              <a:buNone/>
              <a:defRPr sz="1013">
                <a:solidFill>
                  <a:srgbClr val="F2F4F7"/>
                </a:solidFill>
              </a:defRPr>
            </a:pPr>
            <a:r>
              <a:rPr sz="1013">
                <a:solidFill>
                  <a:srgbClr val="F2F4F7"/>
                </a:solidFill>
              </a:rPr>
              <a:t>mpu.finalize_elastic_selective_group_rebuild()</a:t>
            </a:r>
          </a:p>
          <a:p>
            <a:endParaRPr sz="1013">
              <a:solidFill>
                <a:srgbClr val="F2F4F7"/>
              </a:solidFill>
            </a:endParaRPr>
          </a:p>
          <a:p>
            <a:pPr algn="l">
              <a:lnSpc>
                <a:spcPct val="105000"/>
              </a:lnSpc>
              <a:buNone/>
              <a:defRPr sz="1013">
                <a:solidFill>
                  <a:srgbClr val="F2F4F7"/>
                </a:solidFill>
              </a:defRPr>
            </a:pPr>
            <a:r>
              <a:rPr sz="1013">
                <a:solidFill>
                  <a:srgbClr val="F2F4F7"/>
                </a:solidFill>
              </a:rPr>
              <a:t>_elastic_warmup_rebuild_communicators(failed_rank, timeout)</a:t>
            </a:r>
          </a:p>
          <a:p>
            <a:pPr algn="l">
              <a:lnSpc>
                <a:spcPct val="105000"/>
              </a:lnSpc>
              <a:buNone/>
              <a:defRPr sz="1013">
                <a:solidFill>
                  <a:srgbClr val="F2F4F7"/>
                </a:solidFill>
              </a:defRPr>
            </a:pPr>
            <a:r>
              <a:rPr sz="1013">
                <a:solidFill>
                  <a:srgbClr val="F2F4F7"/>
                </a:solidFill>
              </a:rPr>
              <a:t>_elastic_rebuild_final_barrier()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B28783A-81FB-4E65-99F1-DEBDA0ADE1AB}"/>
              </a:ext>
            </a:extLst>
          </p:cNvPr>
          <p:cNvSpPr>
            <a:spLocks noGrp="1"/>
          </p:cNvSpPr>
          <p:nvPr/>
        </p:nvSpPr>
        <p:spPr>
          <a:xfrm>
            <a:off x="7086600" y="3905250"/>
            <a:ext cx="857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275" b="1">
                <a:solidFill>
                  <a:srgbClr val="196B24"/>
                </a:solidFill>
              </a:defRPr>
            </a:pPr>
            <a:r>
              <a:rPr sz="1275" b="1">
                <a:solidFill>
                  <a:srgbClr val="196B24"/>
                </a:solidFill>
              </a:rPr>
              <a:t>保留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7BA4BBAA-5C39-4BF6-BB6A-E3964E5EC450}"/>
              </a:ext>
            </a:extLst>
          </p:cNvPr>
          <p:cNvSpPr>
            <a:spLocks noGrp="1"/>
          </p:cNvSpPr>
          <p:nvPr/>
        </p:nvSpPr>
        <p:spPr>
          <a:xfrm>
            <a:off x="7905750" y="3857625"/>
            <a:ext cx="33718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200" b="0">
                <a:solidFill>
                  <a:srgbClr val="263238"/>
                </a:solidFill>
              </a:defRPr>
            </a:pPr>
            <a:r>
              <a:rPr sz="1200" b="0">
                <a:solidFill>
                  <a:srgbClr val="263238"/>
                </a:solidFill>
              </a:rPr>
              <a:t>不包含 replacement 的健康子组；其 communicator 无需创建。</a:t>
            </a:r>
          </a:p>
        </p:txBody>
      </p:sp>
      <p:sp>
        <p:nvSpPr>
          <p:cNvPr id="35" name="直线连接符 34">
            <a:extLst>
              <a:ext uri="{FF2B5EF4-FFF2-40B4-BE49-F238E27FC236}">
                <a16:creationId xmlns:a16="http://schemas.microsoft.com/office/drawing/2014/main" id="{2EEDEF27-F7CF-4697-BDA7-DF14856623FF}"/>
              </a:ext>
            </a:extLst>
          </p:cNvPr>
          <p:cNvSpPr>
            <a:spLocks noGrp="1"/>
          </p:cNvSpPr>
          <p:nvPr/>
        </p:nvSpPr>
        <p:spPr>
          <a:xfrm>
            <a:off x="7086600" y="4362450"/>
            <a:ext cx="4095750" cy="0"/>
          </a:xfrm>
          <a:prstGeom prst="line">
            <a:avLst/>
          </a:prstGeom>
          <a:noFill/>
          <a:ln w="9525">
            <a:solidFill>
              <a:srgbClr val="D0D5DD"/>
            </a:solidFill>
            <a:prstDash val="solid"/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30701FEB-CE4B-495C-AD70-E4A322169DA3}"/>
              </a:ext>
            </a:extLst>
          </p:cNvPr>
          <p:cNvSpPr>
            <a:spLocks noGrp="1"/>
          </p:cNvSpPr>
          <p:nvPr/>
        </p:nvSpPr>
        <p:spPr>
          <a:xfrm>
            <a:off x="7086600" y="4524375"/>
            <a:ext cx="857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275" b="1">
                <a:solidFill>
                  <a:srgbClr val="E97132"/>
                </a:solidFill>
              </a:defRPr>
            </a:pPr>
            <a:r>
              <a:rPr sz="1275" b="1">
                <a:solidFill>
                  <a:srgbClr val="E97132"/>
                </a:solidFill>
              </a:rPr>
              <a:t>重建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F36E7194-C4F5-42FB-918C-78BEAAEDB202}"/>
              </a:ext>
            </a:extLst>
          </p:cNvPr>
          <p:cNvSpPr>
            <a:spLocks noGrp="1"/>
          </p:cNvSpPr>
          <p:nvPr/>
        </p:nvSpPr>
        <p:spPr>
          <a:xfrm>
            <a:off x="7905750" y="4457700"/>
            <a:ext cx="33718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200" b="0">
                <a:solidFill>
                  <a:srgbClr val="263238"/>
                </a:solidFill>
              </a:defRPr>
            </a:pPr>
            <a:r>
              <a:rPr sz="1200" b="0">
                <a:solidFill>
                  <a:srgbClr val="263238"/>
                </a:solidFill>
              </a:rPr>
              <a:t>WORLD 与包含 replacement 的 TP / CP / PP / EP / DP 派生组。</a:t>
            </a:r>
          </a:p>
        </p:txBody>
      </p:sp>
      <p:sp>
        <p:nvSpPr>
          <p:cNvPr id="38" name="直线连接符 37">
            <a:extLst>
              <a:ext uri="{FF2B5EF4-FFF2-40B4-BE49-F238E27FC236}">
                <a16:creationId xmlns:a16="http://schemas.microsoft.com/office/drawing/2014/main" id="{FF12D629-673E-4D3D-BA06-AD6872D1A935}"/>
              </a:ext>
            </a:extLst>
          </p:cNvPr>
          <p:cNvSpPr>
            <a:spLocks noGrp="1"/>
          </p:cNvSpPr>
          <p:nvPr/>
        </p:nvSpPr>
        <p:spPr>
          <a:xfrm>
            <a:off x="7086600" y="5067300"/>
            <a:ext cx="4095750" cy="0"/>
          </a:xfrm>
          <a:prstGeom prst="line">
            <a:avLst/>
          </a:prstGeom>
          <a:noFill/>
          <a:ln w="9525">
            <a:solidFill>
              <a:srgbClr val="D0D5DD"/>
            </a:solidFill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4DBB580A-A8C2-4B84-B7EB-AC9870904DE8}"/>
              </a:ext>
            </a:extLst>
          </p:cNvPr>
          <p:cNvSpPr>
            <a:spLocks noGrp="1"/>
          </p:cNvSpPr>
          <p:nvPr/>
        </p:nvSpPr>
        <p:spPr>
          <a:xfrm>
            <a:off x="7086600" y="5229225"/>
            <a:ext cx="857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275" b="1">
                <a:solidFill>
                  <a:srgbClr val="156082"/>
                </a:solidFill>
              </a:defRPr>
            </a:pPr>
            <a:r>
              <a:rPr sz="1275" b="1">
                <a:solidFill>
                  <a:srgbClr val="156082"/>
                </a:solidFill>
              </a:rPr>
              <a:t>约束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8180D501-48ED-48DC-B265-CD0CD4D9531B}"/>
              </a:ext>
            </a:extLst>
          </p:cNvPr>
          <p:cNvSpPr>
            <a:spLocks noGrp="1"/>
          </p:cNvSpPr>
          <p:nvPr/>
        </p:nvSpPr>
        <p:spPr>
          <a:xfrm>
            <a:off x="7905750" y="5143500"/>
            <a:ext cx="3371850" cy="866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200" b="0">
                <a:solidFill>
                  <a:srgbClr val="263238"/>
                </a:solidFill>
              </a:defRPr>
            </a:pPr>
            <a:r>
              <a:rPr sz="1200" b="0">
                <a:solidFill>
                  <a:srgbClr val="263238"/>
                </a:solidFill>
              </a:rPr>
              <a:t>所有 rank 以相同 ordinal 顺序创建受影响 group，并更新 model / optimizer / dispatcher 中缓存的 ProcessGroup 引用。</a:t>
            </a:r>
          </a:p>
        </p:txBody>
      </p:sp>
      <p:sp>
        <p:nvSpPr>
          <p:cNvPr id="41" name="直线连接符 40">
            <a:extLst>
              <a:ext uri="{FF2B5EF4-FFF2-40B4-BE49-F238E27FC236}">
                <a16:creationId xmlns:a16="http://schemas.microsoft.com/office/drawing/2014/main" id="{E42E1195-D863-439F-82BD-78A9EF6FC2C8}"/>
              </a:ext>
            </a:extLst>
          </p:cNvPr>
          <p:cNvSpPr>
            <a:spLocks noGrp="1"/>
          </p:cNvSpPr>
          <p:nvPr/>
        </p:nvSpPr>
        <p:spPr>
          <a:xfrm>
            <a:off x="400050" y="6486525"/>
            <a:ext cx="11239500" cy="0"/>
          </a:xfrm>
          <a:prstGeom prst="line">
            <a:avLst/>
          </a:prstGeom>
          <a:noFill/>
          <a:ln w="9525">
            <a:solidFill>
              <a:srgbClr val="E4E7EC"/>
            </a:solidFill>
            <a:prstDash val="solid"/>
          </a:ln>
        </p:spPr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85264EAC-3E26-4DF6-BD02-7005A1BE59ED}"/>
              </a:ext>
            </a:extLst>
          </p:cNvPr>
          <p:cNvSpPr>
            <a:spLocks noGrp="1"/>
          </p:cNvSpPr>
          <p:nvPr/>
        </p:nvSpPr>
        <p:spPr>
          <a:xfrm>
            <a:off x="419100" y="6543675"/>
            <a:ext cx="6000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825" b="0">
                <a:solidFill>
                  <a:srgbClr val="98A2B3"/>
                </a:solidFill>
              </a:defRPr>
            </a:pPr>
            <a:r>
              <a:rPr sz="825" b="0">
                <a:solidFill>
                  <a:srgbClr val="98A2B3"/>
                </a:solidFill>
              </a:rPr>
              <a:t>MoEGambit  |  communication generation rebuild</a:t>
            </a:r>
          </a:p>
        </p:txBody>
      </p:sp>
    </p:spTree>
    <p:extLst>
      <p:ext uri="{BB962C8B-B14F-4D97-AF65-F5344CB8AC3E}">
        <p14:creationId xmlns:p14="http://schemas.microsoft.com/office/powerpoint/2010/main" val="26289318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B7B2C789-17D8-40E5-ABFB-E5AFFD8FE4C3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76200" cy="419100"/>
          </a:xfrm>
          <a:prstGeom prst="rect">
            <a:avLst/>
          </a:prstGeom>
          <a:solidFill>
            <a:srgbClr val="156082"/>
          </a:solidFill>
          <a:ln w="0">
            <a:solidFill>
              <a:srgbClr val="156082"/>
            </a:solidFill>
            <a:prstDash val="solid"/>
          </a:ln>
        </p:spPr>
      </p:sp>
      <p:sp>
        <p:nvSpPr>
          <p:cNvPr id="2" name="slide-9-title">
            <a:extLst>
              <a:ext uri="{FF2B5EF4-FFF2-40B4-BE49-F238E27FC236}">
                <a16:creationId xmlns:a16="http://schemas.microsoft.com/office/drawing/2014/main" id="{DB55A821-F2CF-4681-BF3F-69446749591F}"/>
              </a:ext>
            </a:extLst>
          </p:cNvPr>
          <p:cNvSpPr>
            <a:spLocks noGrp="1"/>
          </p:cNvSpPr>
          <p:nvPr/>
        </p:nvSpPr>
        <p:spPr>
          <a:xfrm>
            <a:off x="590550" y="276225"/>
            <a:ext cx="10001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2250" b="1">
                <a:solidFill>
                  <a:srgbClr val="111827"/>
                </a:solidFill>
              </a:defRPr>
            </a:pPr>
            <a:r>
              <a:rPr sz="2250" b="1">
                <a:solidFill>
                  <a:srgbClr val="111827"/>
                </a:solidFill>
              </a:rPr>
              <a:t>状态恢复：D2H 保存本 rank 完整状态，H2H 只复制 optimizer payload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FA1EE00-C7BC-44D3-83C2-E18A69AE04B6}"/>
              </a:ext>
            </a:extLst>
          </p:cNvPr>
          <p:cNvSpPr>
            <a:spLocks noGrp="1"/>
          </p:cNvSpPr>
          <p:nvPr/>
        </p:nvSpPr>
        <p:spPr>
          <a:xfrm>
            <a:off x="10953750" y="361950"/>
            <a:ext cx="685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defRPr sz="1200" b="1">
                <a:solidFill>
                  <a:srgbClr val="667085"/>
                </a:solidFill>
              </a:defRPr>
            </a:pPr>
            <a:r>
              <a:rPr sz="1200" b="1">
                <a:solidFill>
                  <a:srgbClr val="667085"/>
                </a:solidFill>
              </a:rPr>
              <a:t>09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CD8B72F-3BA2-4E0C-B091-C3B806C284DD}"/>
              </a:ext>
            </a:extLst>
          </p:cNvPr>
          <p:cNvSpPr>
            <a:spLocks noGrp="1"/>
          </p:cNvSpPr>
          <p:nvPr/>
        </p:nvSpPr>
        <p:spPr>
          <a:xfrm>
            <a:off x="590550" y="74295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状态通道独立于正在重建的 NCCL group；先校验 manifest / owner / step，再允许 replacement train_ready</a:t>
            </a:r>
          </a:p>
        </p:txBody>
      </p:sp>
      <p:sp>
        <p:nvSpPr>
          <p:cNvPr id="5" name="直线连接符 4">
            <a:extLst>
              <a:ext uri="{FF2B5EF4-FFF2-40B4-BE49-F238E27FC236}">
                <a16:creationId xmlns:a16="http://schemas.microsoft.com/office/drawing/2014/main" id="{1A83E6E0-C1FA-4B01-9CEB-3BD95D04E214}"/>
              </a:ext>
            </a:extLst>
          </p:cNvPr>
          <p:cNvSpPr>
            <a:spLocks noGrp="1"/>
          </p:cNvSpPr>
          <p:nvPr/>
        </p:nvSpPr>
        <p:spPr>
          <a:xfrm>
            <a:off x="400050" y="1047750"/>
            <a:ext cx="11239500" cy="0"/>
          </a:xfrm>
          <a:prstGeom prst="line">
            <a:avLst/>
          </a:prstGeom>
          <a:noFill/>
          <a:ln w="9525">
            <a:solidFill>
              <a:srgbClr val="D0D5DD"/>
            </a:solidFill>
            <a:prstDash val="solid"/>
          </a:ln>
        </p:spPr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5868188F-49DE-4D2B-82A7-F9451047B376}"/>
              </a:ext>
            </a:extLst>
          </p:cNvPr>
          <p:cNvSpPr>
            <a:spLocks noGrp="1"/>
          </p:cNvSpPr>
          <p:nvPr/>
        </p:nvSpPr>
        <p:spPr>
          <a:xfrm>
            <a:off x="590550" y="1695450"/>
            <a:ext cx="1809750" cy="1143000"/>
          </a:xfrm>
          <a:prstGeom prst="roundRect">
            <a:avLst>
              <a:gd name="adj" fmla="val 6667"/>
            </a:avLst>
          </a:prstGeom>
          <a:solidFill>
            <a:srgbClr val="E8F2F6"/>
          </a:solidFill>
          <a:ln w="9525">
            <a:solidFill>
              <a:srgbClr val="156082"/>
            </a:solidFill>
            <a:prstDash val="solid"/>
          </a:ln>
        </p:spPr>
        <p:txBody>
          <a:bodyPr wrap="square" lIns="95250" tIns="57150" rIns="95250" bIns="57150" anchor="ctr">
            <a:normAutofit/>
          </a:bodyPr>
          <a:lstStyle/>
          <a:p>
            <a:pPr algn="ctr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Survivor GPU</a:t>
            </a:r>
          </a:p>
          <a:p>
            <a:pPr algn="ctr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model shard</a:t>
            </a:r>
          </a:p>
          <a:p>
            <a:pPr algn="ctr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optimizer shard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D62970F6-CDB2-4EBC-9A56-6C289792A85B}"/>
              </a:ext>
            </a:extLst>
          </p:cNvPr>
          <p:cNvSpPr>
            <a:spLocks noGrp="1"/>
          </p:cNvSpPr>
          <p:nvPr/>
        </p:nvSpPr>
        <p:spPr>
          <a:xfrm>
            <a:off x="3257550" y="1552575"/>
            <a:ext cx="2333625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156082"/>
            </a:solidFill>
            <a:prstDash val="solid"/>
          </a:ln>
        </p:spPr>
        <p:txBody>
          <a:bodyPr wrap="square" lIns="95250" tIns="57150" rIns="95250" bIns="57150" anchor="ctr">
            <a:normAutofit/>
          </a:bodyPr>
          <a:lstStyle/>
          <a:p>
            <a:pPr algn="ctr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本机 pinned CPU</a:t>
            </a:r>
          </a:p>
          <a:p>
            <a:pPr algn="ctr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完整 D2H snapshot</a:t>
            </a:r>
          </a:p>
          <a:p>
            <a:pPr algn="ctr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model + optimizer + metadata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7828CC6F-452E-4D7D-98BC-9D88F12F3BE2}"/>
              </a:ext>
            </a:extLst>
          </p:cNvPr>
          <p:cNvSpPr>
            <a:spLocks noGrp="1"/>
          </p:cNvSpPr>
          <p:nvPr/>
        </p:nvSpPr>
        <p:spPr>
          <a:xfrm>
            <a:off x="6496050" y="1552575"/>
            <a:ext cx="2333625" cy="1428750"/>
          </a:xfrm>
          <a:prstGeom prst="roundRect">
            <a:avLst>
              <a:gd name="adj" fmla="val 5333"/>
            </a:avLst>
          </a:prstGeom>
          <a:solidFill>
            <a:srgbClr val="EAF5EC"/>
          </a:solidFill>
          <a:ln w="9525">
            <a:solidFill>
              <a:srgbClr val="196B24"/>
            </a:solidFill>
            <a:prstDash val="solid"/>
          </a:ln>
        </p:spPr>
        <p:txBody>
          <a:bodyPr wrap="square" lIns="95250" tIns="57150" rIns="95250" bIns="57150" anchor="ctr">
            <a:normAutofit/>
          </a:bodyPr>
          <a:lstStyle/>
          <a:p>
            <a:pPr algn="ctr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Holder CPU</a:t>
            </a:r>
          </a:p>
          <a:p>
            <a:pPr algn="ctr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H2H optimizer replica</a:t>
            </a:r>
          </a:p>
          <a:p>
            <a:pPr algn="ctr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双缓冲 / committed step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9201AB55-04CD-472E-8A6A-8F6170A2AE63}"/>
              </a:ext>
            </a:extLst>
          </p:cNvPr>
          <p:cNvSpPr>
            <a:spLocks noGrp="1"/>
          </p:cNvSpPr>
          <p:nvPr/>
        </p:nvSpPr>
        <p:spPr>
          <a:xfrm>
            <a:off x="9667875" y="1695450"/>
            <a:ext cx="1809750" cy="1143000"/>
          </a:xfrm>
          <a:prstGeom prst="roundRect">
            <a:avLst>
              <a:gd name="adj" fmla="val 6667"/>
            </a:avLst>
          </a:prstGeom>
          <a:solidFill>
            <a:srgbClr val="FFF1E8"/>
          </a:solidFill>
          <a:ln w="9525">
            <a:solidFill>
              <a:srgbClr val="E97132"/>
            </a:solidFill>
            <a:prstDash val="solid"/>
          </a:ln>
        </p:spPr>
        <p:txBody>
          <a:bodyPr wrap="square" lIns="95250" tIns="57150" rIns="95250" bIns="57150" anchor="ctr">
            <a:normAutofit/>
          </a:bodyPr>
          <a:lstStyle/>
          <a:p>
            <a:pPr algn="ctr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Replacement GPU</a:t>
            </a:r>
          </a:p>
          <a:p>
            <a:pPr algn="ctr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恢复原 logical rank</a:t>
            </a:r>
          </a:p>
          <a:p>
            <a:pPr algn="ctr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state contract validated</a:t>
            </a:r>
          </a:p>
        </p:txBody>
      </p:sp>
      <p:cxnSp>
        <p:nvCxnSpPr>
          <p:cNvPr id="36" name="直线箭头连接符 35"/>
          <p:cNvCxnSpPr>
            <a:stCxn id="6" idx="3"/>
            <a:endCxn id="7" idx="1"/>
          </p:cNvCxnSpPr>
          <p:nvPr/>
        </p:nvCxnSpPr>
        <p:spPr>
          <a:xfrm>
            <a:off x="2400300" y="2266950"/>
            <a:ext cx="857250" cy="0"/>
          </a:xfrm>
          <a:prstGeom prst="straightConnector1">
            <a:avLst/>
          </a:prstGeom>
          <a:ln w="19050">
            <a:solidFill>
              <a:srgbClr val="156082"/>
            </a:solidFill>
            <a:prstDash val="solid"/>
            <a:tailEnd type="arrow" w="sm" len="sm"/>
          </a:ln>
        </p:spPr>
      </p:cxnSp>
      <p:cxnSp>
        <p:nvCxnSpPr>
          <p:cNvPr id="37" name="直线箭头连接符 36"/>
          <p:cNvCxnSpPr>
            <a:stCxn id="7" idx="3"/>
            <a:endCxn id="8" idx="1"/>
          </p:cNvCxnSpPr>
          <p:nvPr/>
        </p:nvCxnSpPr>
        <p:spPr>
          <a:xfrm>
            <a:off x="5591175" y="2266950"/>
            <a:ext cx="904875" cy="0"/>
          </a:xfrm>
          <a:prstGeom prst="straightConnector1">
            <a:avLst/>
          </a:prstGeom>
          <a:ln w="19050">
            <a:solidFill>
              <a:srgbClr val="196B24"/>
            </a:solidFill>
            <a:prstDash val="dash"/>
            <a:tailEnd type="arrow" w="sm" len="sm"/>
          </a:ln>
        </p:spPr>
      </p:cxnSp>
      <p:cxnSp>
        <p:nvCxnSpPr>
          <p:cNvPr id="38" name="直线箭头连接符 37"/>
          <p:cNvCxnSpPr>
            <a:stCxn id="8" idx="3"/>
            <a:endCxn id="9" idx="1"/>
          </p:cNvCxnSpPr>
          <p:nvPr/>
        </p:nvCxnSpPr>
        <p:spPr>
          <a:xfrm>
            <a:off x="8829675" y="2266950"/>
            <a:ext cx="838200" cy="0"/>
          </a:xfrm>
          <a:prstGeom prst="straightConnector1">
            <a:avLst/>
          </a:prstGeom>
          <a:ln w="19050">
            <a:solidFill>
              <a:srgbClr val="E97132"/>
            </a:solidFill>
            <a:prstDash val="solid"/>
            <a:tailEnd type="arrow" w="sm" len="sm"/>
          </a:ln>
        </p:spPr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C4005C6D-AAAC-4616-90CB-C32508813709}"/>
              </a:ext>
            </a:extLst>
          </p:cNvPr>
          <p:cNvSpPr>
            <a:spLocks noGrp="1"/>
          </p:cNvSpPr>
          <p:nvPr/>
        </p:nvSpPr>
        <p:spPr>
          <a:xfrm>
            <a:off x="2571750" y="191452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1050" b="1">
                <a:solidFill>
                  <a:srgbClr val="156082"/>
                </a:solidFill>
              </a:defRPr>
            </a:pPr>
            <a:r>
              <a:rPr sz="1050" b="1">
                <a:solidFill>
                  <a:srgbClr val="156082"/>
                </a:solidFill>
              </a:rPr>
              <a:t>D2H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10C0C18-7B5B-41E1-BDD5-3A7B26DEC662}"/>
              </a:ext>
            </a:extLst>
          </p:cNvPr>
          <p:cNvSpPr>
            <a:spLocks noGrp="1"/>
          </p:cNvSpPr>
          <p:nvPr/>
        </p:nvSpPr>
        <p:spPr>
          <a:xfrm>
            <a:off x="5676900" y="1914525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1050" b="1">
                <a:solidFill>
                  <a:srgbClr val="196B24"/>
                </a:solidFill>
              </a:defRPr>
            </a:pPr>
            <a:r>
              <a:rPr sz="1050" b="1">
                <a:solidFill>
                  <a:srgbClr val="196B24"/>
                </a:solidFill>
              </a:rPr>
              <a:t>H2H / TCP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46E77BC-429B-4AAC-A737-4C5D21D0122F}"/>
              </a:ext>
            </a:extLst>
          </p:cNvPr>
          <p:cNvSpPr>
            <a:spLocks noGrp="1"/>
          </p:cNvSpPr>
          <p:nvPr/>
        </p:nvSpPr>
        <p:spPr>
          <a:xfrm>
            <a:off x="8982075" y="1914525"/>
            <a:ext cx="609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1050" b="1">
                <a:solidFill>
                  <a:srgbClr val="E97132"/>
                </a:solidFill>
              </a:defRPr>
            </a:pPr>
            <a:r>
              <a:rPr sz="1050" b="1">
                <a:solidFill>
                  <a:srgbClr val="E97132"/>
                </a:solidFill>
              </a:rPr>
              <a:t>restore</a:t>
            </a:r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E849D46B-FFF4-49A1-AFB4-F69E8DDA1EB9}"/>
              </a:ext>
            </a:extLst>
          </p:cNvPr>
          <p:cNvSpPr>
            <a:spLocks noGrp="1"/>
          </p:cNvSpPr>
          <p:nvPr/>
        </p:nvSpPr>
        <p:spPr>
          <a:xfrm>
            <a:off x="7277100" y="3190875"/>
            <a:ext cx="2152650" cy="457200"/>
          </a:xfrm>
          <a:prstGeom prst="roundRect">
            <a:avLst>
              <a:gd name="adj" fmla="val 16667"/>
            </a:avLst>
          </a:prstGeom>
          <a:solidFill>
            <a:srgbClr val="FFF1E8"/>
          </a:solidFill>
          <a:ln w="9525">
            <a:solidFill>
              <a:srgbClr val="E97132"/>
            </a:solidFill>
            <a:prstDash val="solid"/>
          </a:ln>
        </p:spPr>
        <p:txBody>
          <a:bodyPr wrap="square" lIns="95250" tIns="57150" rIns="95250" bIns="57150" anchor="ctr">
            <a:normAutofit/>
          </a:bodyPr>
          <a:lstStyle/>
          <a:p>
            <a:pPr algn="ctr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Checkpoint expert shard</a:t>
            </a:r>
          </a:p>
        </p:txBody>
      </p:sp>
      <p:sp>
        <p:nvSpPr>
          <p:cNvPr id="17" name="右箭头 16">
            <a:extLst>
              <a:ext uri="{FF2B5EF4-FFF2-40B4-BE49-F238E27FC236}">
                <a16:creationId xmlns:a16="http://schemas.microsoft.com/office/drawing/2014/main" id="{27120EE7-E9A2-4D6E-9E3F-53EC8768D115}"/>
              </a:ext>
            </a:extLst>
          </p:cNvPr>
          <p:cNvSpPr>
            <a:spLocks noGrp="1"/>
          </p:cNvSpPr>
          <p:nvPr/>
        </p:nvSpPr>
        <p:spPr>
          <a:xfrm>
            <a:off x="9458325" y="3352800"/>
            <a:ext cx="342900" cy="114300"/>
          </a:xfrm>
          <a:prstGeom prst="rightArrow">
            <a:avLst/>
          </a:prstGeom>
          <a:solidFill>
            <a:srgbClr val="E97132"/>
          </a:solidFill>
          <a:ln w="4763">
            <a:solidFill>
              <a:srgbClr val="E97132"/>
            </a:solidFill>
            <a:prstDash val="solid"/>
          </a:ln>
        </p:spPr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E82A405F-981E-45AB-8411-686BC1781ACF}"/>
              </a:ext>
            </a:extLst>
          </p:cNvPr>
          <p:cNvSpPr>
            <a:spLocks noGrp="1"/>
          </p:cNvSpPr>
          <p:nvPr/>
        </p:nvSpPr>
        <p:spPr>
          <a:xfrm>
            <a:off x="533400" y="3933825"/>
            <a:ext cx="5905500" cy="2105025"/>
          </a:xfrm>
          <a:prstGeom prst="roundRect">
            <a:avLst>
              <a:gd name="adj" fmla="val 3167"/>
            </a:avLst>
          </a:prstGeom>
          <a:solidFill>
            <a:srgbClr val="17212B"/>
          </a:solidFill>
          <a:ln w="9525">
            <a:solidFill>
              <a:srgbClr val="344054"/>
            </a:solidFill>
            <a:prstDash val="solid"/>
          </a:ln>
        </p:spPr>
        <p:txBody>
          <a:bodyPr wrap="square" lIns="152400" tIns="114300" rIns="133350" bIns="952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>
                <a:solidFill>
                  <a:srgbClr val="F2F4F7"/>
                </a:solidFill>
              </a:defRPr>
            </a:pPr>
            <a:r>
              <a:rPr sz="1050">
                <a:solidFill>
                  <a:srgbClr val="F2F4F7"/>
                </a:solidFill>
              </a:rPr>
              <a:t>class Zero2MemoryReplicaManager:</a:t>
            </a:r>
          </a:p>
          <a:p>
            <a:pPr algn="l">
              <a:lnSpc>
                <a:spcPct val="105000"/>
              </a:lnSpc>
              <a:buNone/>
              <a:defRPr sz="1050">
                <a:solidFill>
                  <a:srgbClr val="F2F4F7"/>
                </a:solidFill>
              </a:defRPr>
            </a:pPr>
            <a:r>
              <a:rPr sz="1050">
                <a:solidFill>
                  <a:srgbClr val="F2F4F7"/>
                </a:solidFill>
              </a:rPr>
              <a:t>    """Double-buffered Phoenix-style D2H/H2H state replication.</a:t>
            </a:r>
          </a:p>
          <a:p>
            <a:endParaRPr sz="1050">
              <a:solidFill>
                <a:srgbClr val="F2F4F7"/>
              </a:solidFill>
            </a:endParaRPr>
          </a:p>
          <a:p>
            <a:pPr algn="l">
              <a:lnSpc>
                <a:spcPct val="105000"/>
              </a:lnSpc>
              <a:buNone/>
              <a:defRPr sz="1050">
                <a:solidFill>
                  <a:srgbClr val="F2F4F7"/>
                </a:solidFill>
              </a:defRPr>
            </a:pPr>
            <a:r>
              <a:rPr sz="1050">
                <a:solidFill>
                  <a:srgbClr val="F2F4F7"/>
                </a:solidFill>
              </a:rPr>
              <a:t>    local_* callbacks append model and framework state</a:t>
            </a:r>
          </a:p>
          <a:p>
            <a:pPr algn="l">
              <a:lnSpc>
                <a:spcPct val="105000"/>
              </a:lnSpc>
              <a:buNone/>
              <a:defRPr sz="1050">
                <a:solidFill>
                  <a:srgbClr val="F2F4F7"/>
                </a:solidFill>
              </a:defRPr>
            </a:pPr>
            <a:r>
              <a:rPr sz="1050">
                <a:solidFill>
                  <a:srgbClr val="F2F4F7"/>
                </a:solidFill>
              </a:rPr>
              <a:t>    to the D2H buffer without increasing the H2H payload.</a:t>
            </a:r>
          </a:p>
          <a:p>
            <a:pPr algn="l">
              <a:lnSpc>
                <a:spcPct val="105000"/>
              </a:lnSpc>
              <a:buNone/>
              <a:defRPr sz="1050">
                <a:solidFill>
                  <a:srgbClr val="F2F4F7"/>
                </a:solidFill>
              </a:defRPr>
            </a:pPr>
            <a:r>
              <a:rPr sz="1050">
                <a:solidFill>
                  <a:srgbClr val="F2F4F7"/>
                </a:solidFill>
              </a:rPr>
              <a:t>    """</a:t>
            </a:r>
          </a:p>
          <a:p>
            <a:endParaRPr sz="1050">
              <a:solidFill>
                <a:srgbClr val="F2F4F7"/>
              </a:solidFill>
            </a:endParaRPr>
          </a:p>
          <a:p>
            <a:pPr algn="l">
              <a:lnSpc>
                <a:spcPct val="105000"/>
              </a:lnSpc>
              <a:buNone/>
              <a:defRPr sz="1050">
                <a:solidFill>
                  <a:srgbClr val="F2F4F7"/>
                </a:solidFill>
              </a:defRPr>
            </a:pPr>
            <a:r>
              <a:rPr sz="1050">
                <a:solidFill>
                  <a:srgbClr val="F2F4F7"/>
                </a:solidFill>
              </a:rPr>
              <a:t>destination.copy_(tensor.detach().view(-1), non_blocking=True)</a:t>
            </a:r>
          </a:p>
          <a:p>
            <a:pPr algn="l">
              <a:lnSpc>
                <a:spcPct val="105000"/>
              </a:lnSpc>
              <a:buNone/>
              <a:defRPr sz="1050">
                <a:solidFill>
                  <a:srgbClr val="F2F4F7"/>
                </a:solidFill>
              </a:defRPr>
            </a:pPr>
            <a:r>
              <a:rPr sz="1050">
                <a:solidFill>
                  <a:srgbClr val="F2F4F7"/>
                </a:solidFill>
              </a:rPr>
              <a:t>torch.cuda.current_stream().synchronize()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3985CD3-1265-4E89-89F0-4E907B0FFEA0}"/>
              </a:ext>
            </a:extLst>
          </p:cNvPr>
          <p:cNvSpPr>
            <a:spLocks noGrp="1"/>
          </p:cNvSpPr>
          <p:nvPr/>
        </p:nvSpPr>
        <p:spPr>
          <a:xfrm>
            <a:off x="6877050" y="3933825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Replacement 恢复顺序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E23754E-54D0-4CA2-82DE-C756FF06B2DD}"/>
              </a:ext>
            </a:extLst>
          </p:cNvPr>
          <p:cNvSpPr>
            <a:spLocks noGrp="1"/>
          </p:cNvSpPr>
          <p:nvPr/>
        </p:nvSpPr>
        <p:spPr>
          <a:xfrm>
            <a:off x="6991350" y="4333875"/>
            <a:ext cx="4171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200" b="0">
                <a:solidFill>
                  <a:srgbClr val="263238"/>
                </a:solidFill>
              </a:defRPr>
            </a:pPr>
            <a:r>
              <a:rPr sz="1200" b="0">
                <a:solidFill>
                  <a:srgbClr val="263238"/>
                </a:solidFill>
              </a:rPr>
              <a:t>1  校验 descriptor hash / epoch / logical rank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5A54F75-0077-4A28-A827-EC30E3741E4C}"/>
              </a:ext>
            </a:extLst>
          </p:cNvPr>
          <p:cNvSpPr>
            <a:spLocks noGrp="1"/>
          </p:cNvSpPr>
          <p:nvPr/>
        </p:nvSpPr>
        <p:spPr>
          <a:xfrm>
            <a:off x="6991350" y="4667250"/>
            <a:ext cx="4171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200" b="0">
                <a:solidFill>
                  <a:srgbClr val="263238"/>
                </a:solidFill>
              </a:defRPr>
            </a:pPr>
            <a:r>
              <a:rPr sz="1200" b="0">
                <a:solidFill>
                  <a:srgbClr val="263238"/>
                </a:solidFill>
              </a:rPr>
              <a:t>2  恢复 expert checkpoint shard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03BF2C4-D714-4C26-A8FD-769FD12BD2EB}"/>
              </a:ext>
            </a:extLst>
          </p:cNvPr>
          <p:cNvSpPr>
            <a:spLocks noGrp="1"/>
          </p:cNvSpPr>
          <p:nvPr/>
        </p:nvSpPr>
        <p:spPr>
          <a:xfrm>
            <a:off x="6991350" y="5000625"/>
            <a:ext cx="4171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200" b="0">
                <a:solidFill>
                  <a:srgbClr val="263238"/>
                </a:solidFill>
              </a:defRPr>
            </a:pPr>
            <a:r>
              <a:rPr sz="1200" b="0">
                <a:solidFill>
                  <a:srgbClr val="263238"/>
                </a:solidFill>
              </a:rPr>
              <a:t>3  从 current-step peer 同步 non-expert model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BBD2266-0DDD-42C4-BDF3-F28BEDE5C55D}"/>
              </a:ext>
            </a:extLst>
          </p:cNvPr>
          <p:cNvSpPr>
            <a:spLocks noGrp="1"/>
          </p:cNvSpPr>
          <p:nvPr/>
        </p:nvSpPr>
        <p:spPr>
          <a:xfrm>
            <a:off x="6991350" y="5334000"/>
            <a:ext cx="4171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200" b="0">
                <a:solidFill>
                  <a:srgbClr val="263238"/>
                </a:solidFill>
              </a:defRPr>
            </a:pPr>
            <a:r>
              <a:rPr sz="1200" b="0">
                <a:solidFill>
                  <a:srgbClr val="263238"/>
                </a:solidFill>
              </a:rPr>
              <a:t>4  从 H2H committed replica 恢复 optimizer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6589345-86C9-402A-889B-B93E675C5759}"/>
              </a:ext>
            </a:extLst>
          </p:cNvPr>
          <p:cNvSpPr>
            <a:spLocks noGrp="1"/>
          </p:cNvSpPr>
          <p:nvPr/>
        </p:nvSpPr>
        <p:spPr>
          <a:xfrm>
            <a:off x="6991350" y="5667375"/>
            <a:ext cx="4171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200" b="1">
                <a:solidFill>
                  <a:srgbClr val="196B24"/>
                </a:solidFill>
              </a:defRPr>
            </a:pPr>
            <a:r>
              <a:rPr sz="1200" b="1">
                <a:solidFill>
                  <a:srgbClr val="196B24"/>
                </a:solidFill>
              </a:rPr>
              <a:t>5  验证 manifest + state version → train_ready</a:t>
            </a:r>
          </a:p>
        </p:txBody>
      </p:sp>
      <p:sp>
        <p:nvSpPr>
          <p:cNvPr id="25" name="直线连接符 24">
            <a:extLst>
              <a:ext uri="{FF2B5EF4-FFF2-40B4-BE49-F238E27FC236}">
                <a16:creationId xmlns:a16="http://schemas.microsoft.com/office/drawing/2014/main" id="{2B199239-8CF6-4A75-B4DD-E16328388B32}"/>
              </a:ext>
            </a:extLst>
          </p:cNvPr>
          <p:cNvSpPr>
            <a:spLocks noGrp="1"/>
          </p:cNvSpPr>
          <p:nvPr/>
        </p:nvSpPr>
        <p:spPr>
          <a:xfrm>
            <a:off x="400050" y="6486525"/>
            <a:ext cx="11239500" cy="0"/>
          </a:xfrm>
          <a:prstGeom prst="line">
            <a:avLst/>
          </a:prstGeom>
          <a:noFill/>
          <a:ln w="9525">
            <a:solidFill>
              <a:srgbClr val="E4E7EC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AFB31B9-5607-491C-82CF-EF4DC7EB3E8B}"/>
              </a:ext>
            </a:extLst>
          </p:cNvPr>
          <p:cNvSpPr>
            <a:spLocks noGrp="1"/>
          </p:cNvSpPr>
          <p:nvPr/>
        </p:nvSpPr>
        <p:spPr>
          <a:xfrm>
            <a:off x="419100" y="6543675"/>
            <a:ext cx="6000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825" b="0">
                <a:solidFill>
                  <a:srgbClr val="98A2B3"/>
                </a:solidFill>
              </a:defRPr>
            </a:pPr>
            <a:r>
              <a:rPr sz="825" b="0">
                <a:solidFill>
                  <a:srgbClr val="98A2B3"/>
                </a:solidFill>
              </a:rPr>
              <a:t>MoEGambit  |  D2H / H2H state contract</a:t>
            </a:r>
          </a:p>
        </p:txBody>
      </p:sp>
    </p:spTree>
    <p:extLst>
      <p:ext uri="{BB962C8B-B14F-4D97-AF65-F5344CB8AC3E}">
        <p14:creationId xmlns:p14="http://schemas.microsoft.com/office/powerpoint/2010/main" val="26289318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40">
            <a:extLst>
              <a:ext uri="{FF2B5EF4-FFF2-40B4-BE49-F238E27FC236}">
                <a16:creationId xmlns:a16="http://schemas.microsoft.com/office/drawing/2014/main" id="{B7CB648E-E7B9-45F6-B989-21E57F22322C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76200" cy="419100"/>
          </a:xfrm>
          <a:prstGeom prst="rect">
            <a:avLst/>
          </a:prstGeom>
          <a:solidFill>
            <a:srgbClr val="156082"/>
          </a:solidFill>
          <a:ln w="0">
            <a:solidFill>
              <a:srgbClr val="156082"/>
            </a:solidFill>
            <a:prstDash val="solid"/>
          </a:ln>
        </p:spPr>
      </p:sp>
      <p:sp>
        <p:nvSpPr>
          <p:cNvPr id="2" name="slide-10-title">
            <a:extLst>
              <a:ext uri="{FF2B5EF4-FFF2-40B4-BE49-F238E27FC236}">
                <a16:creationId xmlns:a16="http://schemas.microsoft.com/office/drawing/2014/main" id="{1E007D4C-F1B7-4575-8061-FDBADFD3D9CB}"/>
              </a:ext>
            </a:extLst>
          </p:cNvPr>
          <p:cNvSpPr>
            <a:spLocks noGrp="1"/>
          </p:cNvSpPr>
          <p:nvPr/>
        </p:nvSpPr>
        <p:spPr>
          <a:xfrm>
            <a:off x="590550" y="276225"/>
            <a:ext cx="10001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2250" b="1">
                <a:solidFill>
                  <a:srgbClr val="111827"/>
                </a:solidFill>
              </a:defRPr>
            </a:pPr>
            <a:r>
              <a:rPr sz="2250" b="1">
                <a:solidFill>
                  <a:srgbClr val="111827"/>
                </a:solidFill>
              </a:rPr>
              <a:t>训练阶段故障：按 step 事务决定 replay、restore 或 checkpoint fallback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2E0B3AE-9A23-40AF-BCD8-8263683AA355}"/>
              </a:ext>
            </a:extLst>
          </p:cNvPr>
          <p:cNvSpPr>
            <a:spLocks noGrp="1"/>
          </p:cNvSpPr>
          <p:nvPr/>
        </p:nvSpPr>
        <p:spPr>
          <a:xfrm>
            <a:off x="10953750" y="361950"/>
            <a:ext cx="685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defRPr sz="1200" b="1">
                <a:solidFill>
                  <a:srgbClr val="667085"/>
                </a:solidFill>
              </a:defRPr>
            </a:pPr>
            <a:r>
              <a:rPr sz="1200" b="1">
                <a:solidFill>
                  <a:srgbClr val="667085"/>
                </a:solidFill>
              </a:rPr>
              <a:t>10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CE0AFD0-A762-4E85-AD05-80A2BDCADEF6}"/>
              </a:ext>
            </a:extLst>
          </p:cNvPr>
          <p:cNvSpPr>
            <a:spLocks noGrp="1"/>
          </p:cNvSpPr>
          <p:nvPr/>
        </p:nvSpPr>
        <p:spPr>
          <a:xfrm>
            <a:off x="590550" y="74295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安全版本由 optimizer commit 定义；半更新的 optimizer state 绝不直接继续</a:t>
            </a:r>
          </a:p>
        </p:txBody>
      </p:sp>
      <p:sp>
        <p:nvSpPr>
          <p:cNvPr id="5" name="直线连接符 4">
            <a:extLst>
              <a:ext uri="{FF2B5EF4-FFF2-40B4-BE49-F238E27FC236}">
                <a16:creationId xmlns:a16="http://schemas.microsoft.com/office/drawing/2014/main" id="{073CC7EE-5F42-4529-8801-52D209FCCE8C}"/>
              </a:ext>
            </a:extLst>
          </p:cNvPr>
          <p:cNvSpPr>
            <a:spLocks noGrp="1"/>
          </p:cNvSpPr>
          <p:nvPr/>
        </p:nvSpPr>
        <p:spPr>
          <a:xfrm>
            <a:off x="400050" y="1047750"/>
            <a:ext cx="11239500" cy="0"/>
          </a:xfrm>
          <a:prstGeom prst="line">
            <a:avLst/>
          </a:prstGeom>
          <a:noFill/>
          <a:ln w="9525">
            <a:solidFill>
              <a:srgbClr val="D0D5DD"/>
            </a:solidFill>
            <a:prstDash val="solid"/>
          </a:ln>
        </p:spPr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0E4F12BA-612C-4107-A62A-3B1B48F7F944}"/>
              </a:ext>
            </a:extLst>
          </p:cNvPr>
          <p:cNvSpPr>
            <a:spLocks noGrp="1"/>
          </p:cNvSpPr>
          <p:nvPr/>
        </p:nvSpPr>
        <p:spPr>
          <a:xfrm>
            <a:off x="533400" y="1352550"/>
            <a:ext cx="2038350" cy="400050"/>
          </a:xfrm>
          <a:prstGeom prst="roundRect">
            <a:avLst>
              <a:gd name="adj" fmla="val 19048"/>
            </a:avLst>
          </a:prstGeom>
          <a:solidFill>
            <a:srgbClr val="111827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57150" rIns="95250" bIns="57150" anchor="ctr">
            <a:normAutofit/>
          </a:bodyPr>
          <a:lstStyle/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故障位置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BECFD866-A3E3-4AAC-8449-9286682032EC}"/>
              </a:ext>
            </a:extLst>
          </p:cNvPr>
          <p:cNvSpPr>
            <a:spLocks noGrp="1"/>
          </p:cNvSpPr>
          <p:nvPr/>
        </p:nvSpPr>
        <p:spPr>
          <a:xfrm>
            <a:off x="2571750" y="1352550"/>
            <a:ext cx="2133600" cy="400050"/>
          </a:xfrm>
          <a:prstGeom prst="roundRect">
            <a:avLst>
              <a:gd name="adj" fmla="val 19048"/>
            </a:avLst>
          </a:prstGeom>
          <a:solidFill>
            <a:srgbClr val="111827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57150" rIns="95250" bIns="57150" anchor="ctr">
            <a:normAutofit/>
          </a:bodyPr>
          <a:lstStyle/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状态判断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4435774D-76F7-457F-ADFA-CAE4607C6C95}"/>
              </a:ext>
            </a:extLst>
          </p:cNvPr>
          <p:cNvSpPr>
            <a:spLocks noGrp="1"/>
          </p:cNvSpPr>
          <p:nvPr/>
        </p:nvSpPr>
        <p:spPr>
          <a:xfrm>
            <a:off x="4705350" y="1352550"/>
            <a:ext cx="2457450" cy="400050"/>
          </a:xfrm>
          <a:prstGeom prst="roundRect">
            <a:avLst>
              <a:gd name="adj" fmla="val 19048"/>
            </a:avLst>
          </a:prstGeom>
          <a:solidFill>
            <a:srgbClr val="111827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57150" rIns="95250" bIns="57150" anchor="ctr">
            <a:normAutofit/>
          </a:bodyPr>
          <a:lstStyle/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恢复动作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D200EC28-641E-4A27-BB36-8A6BC9877188}"/>
              </a:ext>
            </a:extLst>
          </p:cNvPr>
          <p:cNvSpPr>
            <a:spLocks noGrp="1"/>
          </p:cNvSpPr>
          <p:nvPr/>
        </p:nvSpPr>
        <p:spPr>
          <a:xfrm>
            <a:off x="7162800" y="1352550"/>
            <a:ext cx="2790825" cy="400050"/>
          </a:xfrm>
          <a:prstGeom prst="roundRect">
            <a:avLst>
              <a:gd name="adj" fmla="val 19048"/>
            </a:avLst>
          </a:prstGeom>
          <a:solidFill>
            <a:srgbClr val="111827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57150" rIns="95250" bIns="57150" anchor="ctr">
            <a:normAutofit/>
          </a:bodyPr>
          <a:lstStyle/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为什么安全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CED433A6-F327-4E73-AF6A-66BF3B10D2C3}"/>
              </a:ext>
            </a:extLst>
          </p:cNvPr>
          <p:cNvSpPr>
            <a:spLocks noGrp="1"/>
          </p:cNvSpPr>
          <p:nvPr/>
        </p:nvSpPr>
        <p:spPr>
          <a:xfrm>
            <a:off x="9953625" y="1352550"/>
            <a:ext cx="1571625" cy="400050"/>
          </a:xfrm>
          <a:prstGeom prst="roundRect">
            <a:avLst>
              <a:gd name="adj" fmla="val 19048"/>
            </a:avLst>
          </a:prstGeom>
          <a:solidFill>
            <a:srgbClr val="111827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95250" tIns="57150" rIns="95250" bIns="57150" anchor="ctr">
            <a:normAutofit/>
          </a:bodyPr>
          <a:lstStyle/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目标 step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BD279129-A04F-4A49-8894-5BC6CC19BE1E}"/>
              </a:ext>
            </a:extLst>
          </p:cNvPr>
          <p:cNvSpPr>
            <a:spLocks noGrp="1"/>
          </p:cNvSpPr>
          <p:nvPr/>
        </p:nvSpPr>
        <p:spPr>
          <a:xfrm>
            <a:off x="533400" y="1752600"/>
            <a:ext cx="2038350" cy="609600"/>
          </a:xfrm>
          <a:prstGeom prst="roundRect">
            <a:avLst>
              <a:gd name="adj" fmla="val 12500"/>
            </a:avLst>
          </a:prstGeom>
          <a:solidFill>
            <a:srgbClr val="F5F7F9"/>
          </a:solidFill>
          <a:ln w="9525">
            <a:solidFill>
              <a:srgbClr val="D0D5DD"/>
            </a:solidFill>
            <a:prstDash val="solid"/>
          </a:ln>
        </p:spPr>
        <p:txBody>
          <a:bodyPr wrap="square" lIns="47625" tIns="47625" rIns="47625" bIns="47625" anchor="ctr">
            <a:normAutofit/>
          </a:bodyPr>
          <a:lstStyle/>
          <a:p>
            <a:pPr algn="ctr">
              <a:defRPr sz="1050" b="1">
                <a:solidFill>
                  <a:srgbClr val="263238"/>
                </a:solidFill>
              </a:defRPr>
            </a:pPr>
            <a:r>
              <a:rPr sz="1050" b="1">
                <a:solidFill>
                  <a:srgbClr val="263238"/>
                </a:solidFill>
              </a:rPr>
              <a:t>forward / backward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2968FAC5-ED8A-4EE8-9446-4A9E0D843225}"/>
              </a:ext>
            </a:extLst>
          </p:cNvPr>
          <p:cNvSpPr>
            <a:spLocks noGrp="1"/>
          </p:cNvSpPr>
          <p:nvPr/>
        </p:nvSpPr>
        <p:spPr>
          <a:xfrm>
            <a:off x="2571750" y="1752600"/>
            <a:ext cx="2133600" cy="609600"/>
          </a:xfrm>
          <a:prstGeom prst="roundRect">
            <a:avLst>
              <a:gd name="adj" fmla="val 12500"/>
            </a:avLst>
          </a:prstGeom>
          <a:solidFill>
            <a:srgbClr val="F5F7F9"/>
          </a:solidFill>
          <a:ln w="9525">
            <a:solidFill>
              <a:srgbClr val="D0D5DD"/>
            </a:solidFill>
            <a:prstDash val="solid"/>
          </a:ln>
        </p:spPr>
        <p:txBody>
          <a:bodyPr wrap="square" lIns="47625" tIns="47625" rIns="47625" bIns="47625" anchor="ctr">
            <a:normAutofit/>
          </a:bodyPr>
          <a:lstStyle/>
          <a:p>
            <a:pPr algn="ctr">
              <a:defRPr sz="1050" b="0">
                <a:solidFill>
                  <a:srgbClr val="263238"/>
                </a:solidFill>
              </a:defRPr>
            </a:pPr>
            <a:r>
              <a:rPr sz="1050" b="0">
                <a:solidFill>
                  <a:srgbClr val="263238"/>
                </a:solidFill>
              </a:rPr>
              <a:t>optimizer 未修改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2906A388-6E24-4EDB-8E51-1AF32C0FB582}"/>
              </a:ext>
            </a:extLst>
          </p:cNvPr>
          <p:cNvSpPr>
            <a:spLocks noGrp="1"/>
          </p:cNvSpPr>
          <p:nvPr/>
        </p:nvSpPr>
        <p:spPr>
          <a:xfrm>
            <a:off x="4705350" y="1752600"/>
            <a:ext cx="2457450" cy="609600"/>
          </a:xfrm>
          <a:prstGeom prst="roundRect">
            <a:avLst>
              <a:gd name="adj" fmla="val 12500"/>
            </a:avLst>
          </a:prstGeom>
          <a:solidFill>
            <a:srgbClr val="F5F7F9"/>
          </a:solidFill>
          <a:ln w="9525">
            <a:solidFill>
              <a:srgbClr val="D0D5DD"/>
            </a:solidFill>
            <a:prstDash val="solid"/>
          </a:ln>
        </p:spPr>
        <p:txBody>
          <a:bodyPr wrap="square" lIns="47625" tIns="47625" rIns="47625" bIns="47625" anchor="ctr">
            <a:normAutofit/>
          </a:bodyPr>
          <a:lstStyle/>
          <a:p>
            <a:pPr algn="ctr">
              <a:defRPr sz="1050" b="1">
                <a:solidFill>
                  <a:srgbClr val="156082"/>
                </a:solidFill>
              </a:defRPr>
            </a:pPr>
            <a:r>
              <a:rPr sz="1050" b="1">
                <a:solidFill>
                  <a:srgbClr val="156082"/>
                </a:solidFill>
              </a:rPr>
              <a:t>REPLAY_STEP</a:t>
            </a:r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9BC22D38-6311-4D02-98E7-30248ECE2BA0}"/>
              </a:ext>
            </a:extLst>
          </p:cNvPr>
          <p:cNvSpPr>
            <a:spLocks noGrp="1"/>
          </p:cNvSpPr>
          <p:nvPr/>
        </p:nvSpPr>
        <p:spPr>
          <a:xfrm>
            <a:off x="7162800" y="1752600"/>
            <a:ext cx="2790825" cy="609600"/>
          </a:xfrm>
          <a:prstGeom prst="roundRect">
            <a:avLst>
              <a:gd name="adj" fmla="val 12500"/>
            </a:avLst>
          </a:prstGeom>
          <a:solidFill>
            <a:srgbClr val="F5F7F9"/>
          </a:solidFill>
          <a:ln w="9525">
            <a:solidFill>
              <a:srgbClr val="D0D5DD"/>
            </a:solidFill>
            <a:prstDash val="solid"/>
          </a:ln>
        </p:spPr>
        <p:txBody>
          <a:bodyPr wrap="square" lIns="95250" tIns="47625" rIns="47625" bIns="47625" anchor="ctr">
            <a:normAutofit/>
          </a:bodyPr>
          <a:lstStyle/>
          <a:p>
            <a:pPr algn="l">
              <a:defRPr sz="1050" b="0">
                <a:solidFill>
                  <a:srgbClr val="263238"/>
                </a:solidFill>
              </a:defRPr>
            </a:pPr>
            <a:r>
              <a:rPr sz="1050" b="0">
                <a:solidFill>
                  <a:srgbClr val="263238"/>
                </a:solidFill>
              </a:rPr>
              <a:t>丢弃当前 microbatch 的未提交计算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F121DFAC-1902-4250-8F9F-DDE55D5AB51D}"/>
              </a:ext>
            </a:extLst>
          </p:cNvPr>
          <p:cNvSpPr>
            <a:spLocks noGrp="1"/>
          </p:cNvSpPr>
          <p:nvPr/>
        </p:nvSpPr>
        <p:spPr>
          <a:xfrm>
            <a:off x="9953625" y="1752600"/>
            <a:ext cx="1571625" cy="609600"/>
          </a:xfrm>
          <a:prstGeom prst="roundRect">
            <a:avLst>
              <a:gd name="adj" fmla="val 12500"/>
            </a:avLst>
          </a:prstGeom>
          <a:solidFill>
            <a:srgbClr val="F5F7F9"/>
          </a:solidFill>
          <a:ln w="9525">
            <a:solidFill>
              <a:srgbClr val="D0D5DD"/>
            </a:solidFill>
            <a:prstDash val="solid"/>
          </a:ln>
        </p:spPr>
        <p:txBody>
          <a:bodyPr wrap="square" lIns="47625" tIns="47625" rIns="47625" bIns="47625" anchor="ctr">
            <a:normAutofit/>
          </a:bodyPr>
          <a:lstStyle/>
          <a:p>
            <a:pPr algn="ctr">
              <a:defRPr sz="1050" b="0">
                <a:solidFill>
                  <a:srgbClr val="263238"/>
                </a:solidFill>
              </a:defRPr>
            </a:pPr>
            <a:r>
              <a:rPr sz="1050" b="0">
                <a:solidFill>
                  <a:srgbClr val="263238"/>
                </a:solidFill>
              </a:rPr>
              <a:t>committed t</a:t>
            </a:r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3FCF6260-933B-4573-9981-47E8E79D1F01}"/>
              </a:ext>
            </a:extLst>
          </p:cNvPr>
          <p:cNvSpPr>
            <a:spLocks noGrp="1"/>
          </p:cNvSpPr>
          <p:nvPr/>
        </p:nvSpPr>
        <p:spPr>
          <a:xfrm>
            <a:off x="533400" y="2362200"/>
            <a:ext cx="203835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 wrap="square" lIns="47625" tIns="47625" rIns="47625" bIns="47625" anchor="ctr">
            <a:normAutofit/>
          </a:bodyPr>
          <a:lstStyle/>
          <a:p>
            <a:pPr algn="ctr">
              <a:defRPr sz="1050" b="1">
                <a:solidFill>
                  <a:srgbClr val="263238"/>
                </a:solidFill>
              </a:defRPr>
            </a:pPr>
            <a:r>
              <a:rPr sz="1050" b="1">
                <a:solidFill>
                  <a:srgbClr val="263238"/>
                </a:solidFill>
              </a:rPr>
              <a:t>optimizer before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6C72FBA5-D6D3-4D99-A91E-A1BBA27BC3E8}"/>
              </a:ext>
            </a:extLst>
          </p:cNvPr>
          <p:cNvSpPr>
            <a:spLocks noGrp="1"/>
          </p:cNvSpPr>
          <p:nvPr/>
        </p:nvSpPr>
        <p:spPr>
          <a:xfrm>
            <a:off x="2571750" y="2362200"/>
            <a:ext cx="213360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 wrap="square" lIns="47625" tIns="47625" rIns="47625" bIns="47625" anchor="ctr">
            <a:normAutofit/>
          </a:bodyPr>
          <a:lstStyle/>
          <a:p>
            <a:pPr algn="ctr">
              <a:defRPr sz="1050" b="0">
                <a:solidFill>
                  <a:srgbClr val="263238"/>
                </a:solidFill>
              </a:defRPr>
            </a:pPr>
            <a:r>
              <a:rPr sz="1050" b="0">
                <a:solidFill>
                  <a:srgbClr val="263238"/>
                </a:solidFill>
              </a:rPr>
              <a:t>尚未进入 step()</a:t>
            </a: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0CB2E2C3-FCA6-4117-91BC-B28259ADCEA0}"/>
              </a:ext>
            </a:extLst>
          </p:cNvPr>
          <p:cNvSpPr>
            <a:spLocks noGrp="1"/>
          </p:cNvSpPr>
          <p:nvPr/>
        </p:nvSpPr>
        <p:spPr>
          <a:xfrm>
            <a:off x="4705350" y="2362200"/>
            <a:ext cx="245745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 wrap="square" lIns="47625" tIns="47625" rIns="47625" bIns="47625" anchor="ctr">
            <a:normAutofit/>
          </a:bodyPr>
          <a:lstStyle/>
          <a:p>
            <a:pPr algn="ctr">
              <a:defRPr sz="1050" b="1">
                <a:solidFill>
                  <a:srgbClr val="156082"/>
                </a:solidFill>
              </a:defRPr>
            </a:pPr>
            <a:r>
              <a:rPr sz="1050" b="1">
                <a:solidFill>
                  <a:srgbClr val="156082"/>
                </a:solidFill>
              </a:rPr>
              <a:t>REPLAY_STEP</a:t>
            </a: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137C8789-E617-4A3A-A0A1-6232D83AB666}"/>
              </a:ext>
            </a:extLst>
          </p:cNvPr>
          <p:cNvSpPr>
            <a:spLocks noGrp="1"/>
          </p:cNvSpPr>
          <p:nvPr/>
        </p:nvSpPr>
        <p:spPr>
          <a:xfrm>
            <a:off x="7162800" y="2362200"/>
            <a:ext cx="279082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 wrap="square" lIns="95250" tIns="47625" rIns="47625" bIns="47625" anchor="ctr">
            <a:normAutofit/>
          </a:bodyPr>
          <a:lstStyle/>
          <a:p>
            <a:pPr algn="l">
              <a:defRPr sz="1050" b="0">
                <a:solidFill>
                  <a:srgbClr val="263238"/>
                </a:solidFill>
              </a:defRPr>
            </a:pPr>
            <a:r>
              <a:rPr sz="1050" b="0">
                <a:solidFill>
                  <a:srgbClr val="263238"/>
                </a:solidFill>
              </a:rPr>
              <a:t>参数与 optimizer 仍是同一版本</a:t>
            </a:r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A0FDC8E1-577C-4DC2-9881-01E73DBD14AE}"/>
              </a:ext>
            </a:extLst>
          </p:cNvPr>
          <p:cNvSpPr>
            <a:spLocks noGrp="1"/>
          </p:cNvSpPr>
          <p:nvPr/>
        </p:nvSpPr>
        <p:spPr>
          <a:xfrm>
            <a:off x="9953625" y="2362200"/>
            <a:ext cx="157162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 wrap="square" lIns="47625" tIns="47625" rIns="47625" bIns="47625" anchor="ctr">
            <a:normAutofit/>
          </a:bodyPr>
          <a:lstStyle/>
          <a:p>
            <a:pPr algn="ctr">
              <a:defRPr sz="1050" b="0">
                <a:solidFill>
                  <a:srgbClr val="263238"/>
                </a:solidFill>
              </a:defRPr>
            </a:pPr>
            <a:r>
              <a:rPr sz="1050" b="0">
                <a:solidFill>
                  <a:srgbClr val="263238"/>
                </a:solidFill>
              </a:rPr>
              <a:t>committed t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832298DE-35D0-4F47-9056-1C1FCBD4FFE9}"/>
              </a:ext>
            </a:extLst>
          </p:cNvPr>
          <p:cNvSpPr>
            <a:spLocks noGrp="1"/>
          </p:cNvSpPr>
          <p:nvPr/>
        </p:nvSpPr>
        <p:spPr>
          <a:xfrm>
            <a:off x="533400" y="2971800"/>
            <a:ext cx="2038350" cy="609600"/>
          </a:xfrm>
          <a:prstGeom prst="roundRect">
            <a:avLst>
              <a:gd name="adj" fmla="val 12500"/>
            </a:avLst>
          </a:prstGeom>
          <a:solidFill>
            <a:srgbClr val="FFF1E8"/>
          </a:solidFill>
          <a:ln w="9525">
            <a:solidFill>
              <a:srgbClr val="E97132"/>
            </a:solidFill>
            <a:prstDash val="solid"/>
          </a:ln>
        </p:spPr>
        <p:txBody>
          <a:bodyPr wrap="square" lIns="47625" tIns="47625" rIns="47625" bIns="47625" anchor="ctr">
            <a:normAutofit/>
          </a:bodyPr>
          <a:lstStyle/>
          <a:p>
            <a:pPr algn="ctr">
              <a:defRPr sz="1050" b="1">
                <a:solidFill>
                  <a:srgbClr val="263238"/>
                </a:solidFill>
              </a:defRPr>
            </a:pPr>
            <a:r>
              <a:rPr sz="1050" b="1">
                <a:solidFill>
                  <a:srgbClr val="263238"/>
                </a:solidFill>
              </a:rPr>
              <a:t>optimizer during</a:t>
            </a:r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0B3FF9E7-1D0A-44E7-8D20-9E17AC9A2725}"/>
              </a:ext>
            </a:extLst>
          </p:cNvPr>
          <p:cNvSpPr>
            <a:spLocks noGrp="1"/>
          </p:cNvSpPr>
          <p:nvPr/>
        </p:nvSpPr>
        <p:spPr>
          <a:xfrm>
            <a:off x="2571750" y="2971800"/>
            <a:ext cx="2133600" cy="609600"/>
          </a:xfrm>
          <a:prstGeom prst="roundRect">
            <a:avLst>
              <a:gd name="adj" fmla="val 12500"/>
            </a:avLst>
          </a:prstGeom>
          <a:solidFill>
            <a:srgbClr val="FFF1E8"/>
          </a:solidFill>
          <a:ln w="9525">
            <a:solidFill>
              <a:srgbClr val="E97132"/>
            </a:solidFill>
            <a:prstDash val="solid"/>
          </a:ln>
        </p:spPr>
        <p:txBody>
          <a:bodyPr wrap="square" lIns="47625" tIns="47625" rIns="47625" bIns="47625" anchor="ctr">
            <a:normAutofit/>
          </a:bodyPr>
          <a:lstStyle/>
          <a:p>
            <a:pPr algn="ctr">
              <a:defRPr sz="1050" b="0">
                <a:solidFill>
                  <a:srgbClr val="263238"/>
                </a:solidFill>
              </a:defRPr>
            </a:pPr>
            <a:r>
              <a:rPr sz="1050" b="0">
                <a:solidFill>
                  <a:srgbClr val="263238"/>
                </a:solidFill>
              </a:rPr>
              <a:t>可能部分写入</a:t>
            </a:r>
          </a:p>
        </p:txBody>
      </p:sp>
      <p:sp>
        <p:nvSpPr>
          <p:cNvPr id="23" name="圆角矩形 22">
            <a:extLst>
              <a:ext uri="{FF2B5EF4-FFF2-40B4-BE49-F238E27FC236}">
                <a16:creationId xmlns:a16="http://schemas.microsoft.com/office/drawing/2014/main" id="{ABF5A869-500A-467F-935A-214A15C49FDF}"/>
              </a:ext>
            </a:extLst>
          </p:cNvPr>
          <p:cNvSpPr>
            <a:spLocks noGrp="1"/>
          </p:cNvSpPr>
          <p:nvPr/>
        </p:nvSpPr>
        <p:spPr>
          <a:xfrm>
            <a:off x="4705350" y="2971800"/>
            <a:ext cx="2457450" cy="609600"/>
          </a:xfrm>
          <a:prstGeom prst="roundRect">
            <a:avLst>
              <a:gd name="adj" fmla="val 12500"/>
            </a:avLst>
          </a:prstGeom>
          <a:solidFill>
            <a:srgbClr val="FFF1E8"/>
          </a:solidFill>
          <a:ln w="9525">
            <a:solidFill>
              <a:srgbClr val="E97132"/>
            </a:solidFill>
            <a:prstDash val="solid"/>
          </a:ln>
        </p:spPr>
        <p:txBody>
          <a:bodyPr wrap="square" lIns="47625" tIns="47625" rIns="47625" bIns="47625" anchor="ctr">
            <a:normAutofit/>
          </a:bodyPr>
          <a:lstStyle/>
          <a:p>
            <a:pPr algn="ctr">
              <a:defRPr sz="1050" b="1">
                <a:solidFill>
                  <a:srgbClr val="156082"/>
                </a:solidFill>
              </a:defRPr>
            </a:pPr>
            <a:r>
              <a:rPr sz="1050" b="1">
                <a:solidFill>
                  <a:srgbClr val="156082"/>
                </a:solidFill>
              </a:rPr>
              <a:t>RESTORE_AND_REPLAY</a:t>
            </a:r>
          </a:p>
        </p:txBody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982F37B4-1214-41EC-88C4-4EFDDFB8B4F1}"/>
              </a:ext>
            </a:extLst>
          </p:cNvPr>
          <p:cNvSpPr>
            <a:spLocks noGrp="1"/>
          </p:cNvSpPr>
          <p:nvPr/>
        </p:nvSpPr>
        <p:spPr>
          <a:xfrm>
            <a:off x="7162800" y="2971800"/>
            <a:ext cx="2790825" cy="609600"/>
          </a:xfrm>
          <a:prstGeom prst="roundRect">
            <a:avLst>
              <a:gd name="adj" fmla="val 12500"/>
            </a:avLst>
          </a:prstGeom>
          <a:solidFill>
            <a:srgbClr val="FFF1E8"/>
          </a:solidFill>
          <a:ln w="9525">
            <a:solidFill>
              <a:srgbClr val="E97132"/>
            </a:solidFill>
            <a:prstDash val="solid"/>
          </a:ln>
        </p:spPr>
        <p:txBody>
          <a:bodyPr wrap="square" lIns="95250" tIns="47625" rIns="47625" bIns="47625" anchor="ctr">
            <a:normAutofit/>
          </a:bodyPr>
          <a:lstStyle/>
          <a:p>
            <a:pPr algn="l">
              <a:defRPr sz="1050" b="0">
                <a:solidFill>
                  <a:srgbClr val="263238"/>
                </a:solidFill>
              </a:defRPr>
            </a:pPr>
            <a:r>
              <a:rPr sz="1050" b="0">
                <a:solidFill>
                  <a:srgbClr val="263238"/>
                </a:solidFill>
              </a:rPr>
              <a:t>先恢复 committed CPU snapshot；缺失则 fallback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9D94051A-A45A-41E2-8153-3EA4127D0CBB}"/>
              </a:ext>
            </a:extLst>
          </p:cNvPr>
          <p:cNvSpPr>
            <a:spLocks noGrp="1"/>
          </p:cNvSpPr>
          <p:nvPr/>
        </p:nvSpPr>
        <p:spPr>
          <a:xfrm>
            <a:off x="9953625" y="2971800"/>
            <a:ext cx="1571625" cy="609600"/>
          </a:xfrm>
          <a:prstGeom prst="roundRect">
            <a:avLst>
              <a:gd name="adj" fmla="val 12500"/>
            </a:avLst>
          </a:prstGeom>
          <a:solidFill>
            <a:srgbClr val="FFF1E8"/>
          </a:solidFill>
          <a:ln w="9525">
            <a:solidFill>
              <a:srgbClr val="E97132"/>
            </a:solidFill>
            <a:prstDash val="solid"/>
          </a:ln>
        </p:spPr>
        <p:txBody>
          <a:bodyPr wrap="square" lIns="47625" tIns="47625" rIns="47625" bIns="47625" anchor="ctr">
            <a:normAutofit/>
          </a:bodyPr>
          <a:lstStyle/>
          <a:p>
            <a:pPr algn="ctr">
              <a:defRPr sz="1050" b="0">
                <a:solidFill>
                  <a:srgbClr val="263238"/>
                </a:solidFill>
              </a:defRPr>
            </a:pPr>
            <a:r>
              <a:rPr sz="1050" b="0">
                <a:solidFill>
                  <a:srgbClr val="263238"/>
                </a:solidFill>
              </a:rPr>
              <a:t>committed t</a:t>
            </a:r>
          </a:p>
        </p:txBody>
      </p:sp>
      <p:sp>
        <p:nvSpPr>
          <p:cNvPr id="26" name="圆角矩形 25">
            <a:extLst>
              <a:ext uri="{FF2B5EF4-FFF2-40B4-BE49-F238E27FC236}">
                <a16:creationId xmlns:a16="http://schemas.microsoft.com/office/drawing/2014/main" id="{E530FC5C-5653-4FD0-9631-D9F7F11C2FC9}"/>
              </a:ext>
            </a:extLst>
          </p:cNvPr>
          <p:cNvSpPr>
            <a:spLocks noGrp="1"/>
          </p:cNvSpPr>
          <p:nvPr/>
        </p:nvSpPr>
        <p:spPr>
          <a:xfrm>
            <a:off x="533400" y="3581400"/>
            <a:ext cx="203835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 wrap="square" lIns="47625" tIns="47625" rIns="47625" bIns="47625" anchor="ctr">
            <a:normAutofit/>
          </a:bodyPr>
          <a:lstStyle/>
          <a:p>
            <a:pPr algn="ctr">
              <a:defRPr sz="1050" b="1">
                <a:solidFill>
                  <a:srgbClr val="263238"/>
                </a:solidFill>
              </a:defRPr>
            </a:pPr>
            <a:r>
              <a:rPr sz="1050" b="1">
                <a:solidFill>
                  <a:srgbClr val="263238"/>
                </a:solidFill>
              </a:rPr>
              <a:t>optimizer after</a:t>
            </a:r>
          </a:p>
        </p:txBody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353E11CD-E40C-420B-93CD-3D7CA2D74441}"/>
              </a:ext>
            </a:extLst>
          </p:cNvPr>
          <p:cNvSpPr>
            <a:spLocks noGrp="1"/>
          </p:cNvSpPr>
          <p:nvPr/>
        </p:nvSpPr>
        <p:spPr>
          <a:xfrm>
            <a:off x="2571750" y="3581400"/>
            <a:ext cx="213360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 wrap="square" lIns="47625" tIns="47625" rIns="47625" bIns="47625" anchor="ctr">
            <a:normAutofit/>
          </a:bodyPr>
          <a:lstStyle/>
          <a:p>
            <a:pPr algn="ctr">
              <a:defRPr sz="1050" b="0">
                <a:solidFill>
                  <a:srgbClr val="263238"/>
                </a:solidFill>
              </a:defRPr>
            </a:pPr>
            <a:r>
              <a:rPr sz="1050" b="0">
                <a:solidFill>
                  <a:srgbClr val="263238"/>
                </a:solidFill>
              </a:rPr>
              <a:t>step 已前进，副本未提交</a:t>
            </a:r>
          </a:p>
        </p:txBody>
      </p:sp>
      <p:sp>
        <p:nvSpPr>
          <p:cNvPr id="28" name="圆角矩形 27">
            <a:extLst>
              <a:ext uri="{FF2B5EF4-FFF2-40B4-BE49-F238E27FC236}">
                <a16:creationId xmlns:a16="http://schemas.microsoft.com/office/drawing/2014/main" id="{A9BD8524-EF25-480F-B0D7-8551AAFB0A6E}"/>
              </a:ext>
            </a:extLst>
          </p:cNvPr>
          <p:cNvSpPr>
            <a:spLocks noGrp="1"/>
          </p:cNvSpPr>
          <p:nvPr/>
        </p:nvSpPr>
        <p:spPr>
          <a:xfrm>
            <a:off x="4705350" y="3581400"/>
            <a:ext cx="245745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 wrap="square" lIns="47625" tIns="47625" rIns="47625" bIns="47625" anchor="ctr">
            <a:normAutofit/>
          </a:bodyPr>
          <a:lstStyle/>
          <a:p>
            <a:pPr algn="ctr">
              <a:defRPr sz="1050" b="1">
                <a:solidFill>
                  <a:srgbClr val="B42318"/>
                </a:solidFill>
              </a:defRPr>
            </a:pPr>
            <a:r>
              <a:rPr sz="1050" b="1">
                <a:solidFill>
                  <a:srgbClr val="B42318"/>
                </a:solidFill>
              </a:rPr>
              <a:t>CHECKPOINT_RESTART</a:t>
            </a:r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F864C2C7-9BA7-414A-A71F-16F5A2FFE0AD}"/>
              </a:ext>
            </a:extLst>
          </p:cNvPr>
          <p:cNvSpPr>
            <a:spLocks noGrp="1"/>
          </p:cNvSpPr>
          <p:nvPr/>
        </p:nvSpPr>
        <p:spPr>
          <a:xfrm>
            <a:off x="7162800" y="3581400"/>
            <a:ext cx="279082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 wrap="square" lIns="95250" tIns="47625" rIns="47625" bIns="47625" anchor="ctr">
            <a:normAutofit/>
          </a:bodyPr>
          <a:lstStyle/>
          <a:p>
            <a:pPr algn="l">
              <a:defRPr sz="1050" b="0">
                <a:solidFill>
                  <a:srgbClr val="263238"/>
                </a:solidFill>
              </a:defRPr>
            </a:pPr>
            <a:r>
              <a:rPr sz="1050" b="0">
                <a:solidFill>
                  <a:srgbClr val="263238"/>
                </a:solidFill>
              </a:rPr>
              <a:t>禁止把新参数与旧副本拼接</a:t>
            </a:r>
          </a:p>
        </p:txBody>
      </p:sp>
      <p:sp>
        <p:nvSpPr>
          <p:cNvPr id="30" name="圆角矩形 29">
            <a:extLst>
              <a:ext uri="{FF2B5EF4-FFF2-40B4-BE49-F238E27FC236}">
                <a16:creationId xmlns:a16="http://schemas.microsoft.com/office/drawing/2014/main" id="{7823E170-CC58-4922-BAB6-C8B3DF521675}"/>
              </a:ext>
            </a:extLst>
          </p:cNvPr>
          <p:cNvSpPr>
            <a:spLocks noGrp="1"/>
          </p:cNvSpPr>
          <p:nvPr/>
        </p:nvSpPr>
        <p:spPr>
          <a:xfrm>
            <a:off x="9953625" y="3581400"/>
            <a:ext cx="157162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 wrap="square" lIns="47625" tIns="47625" rIns="47625" bIns="47625" anchor="ctr">
            <a:normAutofit/>
          </a:bodyPr>
          <a:lstStyle/>
          <a:p>
            <a:pPr algn="ctr">
              <a:defRPr sz="1050" b="0">
                <a:solidFill>
                  <a:srgbClr val="263238"/>
                </a:solidFill>
              </a:defRPr>
            </a:pPr>
            <a:r>
              <a:rPr sz="1050" b="0">
                <a:solidFill>
                  <a:srgbClr val="263238"/>
                </a:solidFill>
              </a:rPr>
              <a:t>checkpoint c</a:t>
            </a:r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32944383-722A-4D91-8583-FE014743B22B}"/>
              </a:ext>
            </a:extLst>
          </p:cNvPr>
          <p:cNvSpPr>
            <a:spLocks noGrp="1"/>
          </p:cNvSpPr>
          <p:nvPr/>
        </p:nvSpPr>
        <p:spPr>
          <a:xfrm>
            <a:off x="533400" y="4191000"/>
            <a:ext cx="2038350" cy="609600"/>
          </a:xfrm>
          <a:prstGeom prst="roundRect">
            <a:avLst>
              <a:gd name="adj" fmla="val 12500"/>
            </a:avLst>
          </a:prstGeom>
          <a:solidFill>
            <a:srgbClr val="F5F7F9"/>
          </a:solidFill>
          <a:ln w="9525">
            <a:solidFill>
              <a:srgbClr val="D0D5DD"/>
            </a:solidFill>
            <a:prstDash val="solid"/>
          </a:ln>
        </p:spPr>
        <p:txBody>
          <a:bodyPr wrap="square" lIns="47625" tIns="47625" rIns="47625" bIns="47625" anchor="ctr">
            <a:normAutofit/>
          </a:bodyPr>
          <a:lstStyle/>
          <a:p>
            <a:pPr algn="ctr">
              <a:defRPr sz="1050" b="1">
                <a:solidFill>
                  <a:srgbClr val="263238"/>
                </a:solidFill>
              </a:defRPr>
            </a:pPr>
            <a:r>
              <a:rPr sz="1050" b="1">
                <a:solidFill>
                  <a:srgbClr val="263238"/>
                </a:solidFill>
              </a:rPr>
              <a:t>checkpoint commit 前后</a:t>
            </a:r>
          </a:p>
        </p:txBody>
      </p:sp>
      <p:sp>
        <p:nvSpPr>
          <p:cNvPr id="32" name="圆角矩形 31">
            <a:extLst>
              <a:ext uri="{FF2B5EF4-FFF2-40B4-BE49-F238E27FC236}">
                <a16:creationId xmlns:a16="http://schemas.microsoft.com/office/drawing/2014/main" id="{A3D01B83-9071-4143-89E1-B66ED6C54317}"/>
              </a:ext>
            </a:extLst>
          </p:cNvPr>
          <p:cNvSpPr>
            <a:spLocks noGrp="1"/>
          </p:cNvSpPr>
          <p:nvPr/>
        </p:nvSpPr>
        <p:spPr>
          <a:xfrm>
            <a:off x="2571750" y="4191000"/>
            <a:ext cx="2133600" cy="609600"/>
          </a:xfrm>
          <a:prstGeom prst="roundRect">
            <a:avLst>
              <a:gd name="adj" fmla="val 12500"/>
            </a:avLst>
          </a:prstGeom>
          <a:solidFill>
            <a:srgbClr val="F5F7F9"/>
          </a:solidFill>
          <a:ln w="9525">
            <a:solidFill>
              <a:srgbClr val="D0D5DD"/>
            </a:solidFill>
            <a:prstDash val="solid"/>
          </a:ln>
        </p:spPr>
        <p:txBody>
          <a:bodyPr wrap="square" lIns="47625" tIns="47625" rIns="47625" bIns="47625" anchor="ctr">
            <a:normAutofit/>
          </a:bodyPr>
          <a:lstStyle/>
          <a:p>
            <a:pPr algn="ctr">
              <a:defRPr sz="1050" b="0">
                <a:solidFill>
                  <a:srgbClr val="263238"/>
                </a:solidFill>
              </a:defRPr>
            </a:pPr>
            <a:r>
              <a:rPr sz="1050" b="0">
                <a:solidFill>
                  <a:srgbClr val="263238"/>
                </a:solidFill>
              </a:rPr>
              <a:t>optimizer 已 committed</a:t>
            </a:r>
          </a:p>
        </p:txBody>
      </p:sp>
      <p:sp>
        <p:nvSpPr>
          <p:cNvPr id="33" name="圆角矩形 32">
            <a:extLst>
              <a:ext uri="{FF2B5EF4-FFF2-40B4-BE49-F238E27FC236}">
                <a16:creationId xmlns:a16="http://schemas.microsoft.com/office/drawing/2014/main" id="{D7FE4B24-0B4B-42FC-AA9B-B864974BCD26}"/>
              </a:ext>
            </a:extLst>
          </p:cNvPr>
          <p:cNvSpPr>
            <a:spLocks noGrp="1"/>
          </p:cNvSpPr>
          <p:nvPr/>
        </p:nvSpPr>
        <p:spPr>
          <a:xfrm>
            <a:off x="4705350" y="4191000"/>
            <a:ext cx="2457450" cy="609600"/>
          </a:xfrm>
          <a:prstGeom prst="roundRect">
            <a:avLst>
              <a:gd name="adj" fmla="val 12500"/>
            </a:avLst>
          </a:prstGeom>
          <a:solidFill>
            <a:srgbClr val="F5F7F9"/>
          </a:solidFill>
          <a:ln w="9525">
            <a:solidFill>
              <a:srgbClr val="D0D5DD"/>
            </a:solidFill>
            <a:prstDash val="solid"/>
          </a:ln>
        </p:spPr>
        <p:txBody>
          <a:bodyPr wrap="square" lIns="47625" tIns="47625" rIns="47625" bIns="47625" anchor="ctr">
            <a:normAutofit/>
          </a:bodyPr>
          <a:lstStyle/>
          <a:p>
            <a:pPr algn="ctr">
              <a:defRPr sz="1050" b="1">
                <a:solidFill>
                  <a:srgbClr val="156082"/>
                </a:solidFill>
              </a:defRPr>
            </a:pPr>
            <a:r>
              <a:rPr sz="1050" b="1">
                <a:solidFill>
                  <a:srgbClr val="156082"/>
                </a:solidFill>
              </a:rPr>
              <a:t>RESUME_COMMITTED</a:t>
            </a:r>
          </a:p>
        </p:txBody>
      </p:sp>
      <p:sp>
        <p:nvSpPr>
          <p:cNvPr id="34" name="圆角矩形 33">
            <a:extLst>
              <a:ext uri="{FF2B5EF4-FFF2-40B4-BE49-F238E27FC236}">
                <a16:creationId xmlns:a16="http://schemas.microsoft.com/office/drawing/2014/main" id="{B302B4BC-9FE4-4C47-8C28-A58D8B43CB72}"/>
              </a:ext>
            </a:extLst>
          </p:cNvPr>
          <p:cNvSpPr>
            <a:spLocks noGrp="1"/>
          </p:cNvSpPr>
          <p:nvPr/>
        </p:nvSpPr>
        <p:spPr>
          <a:xfrm>
            <a:off x="7162800" y="4191000"/>
            <a:ext cx="2790825" cy="609600"/>
          </a:xfrm>
          <a:prstGeom prst="roundRect">
            <a:avLst>
              <a:gd name="adj" fmla="val 12500"/>
            </a:avLst>
          </a:prstGeom>
          <a:solidFill>
            <a:srgbClr val="F5F7F9"/>
          </a:solidFill>
          <a:ln w="9525">
            <a:solidFill>
              <a:srgbClr val="D0D5DD"/>
            </a:solidFill>
            <a:prstDash val="solid"/>
          </a:ln>
        </p:spPr>
        <p:txBody>
          <a:bodyPr wrap="square" lIns="95250" tIns="47625" rIns="47625" bIns="47625" anchor="ctr">
            <a:normAutofit/>
          </a:bodyPr>
          <a:lstStyle/>
          <a:p>
            <a:pPr algn="l">
              <a:defRPr sz="1050" b="0">
                <a:solidFill>
                  <a:srgbClr val="263238"/>
                </a:solidFill>
              </a:defRPr>
            </a:pPr>
            <a:r>
              <a:rPr sz="1050" b="0">
                <a:solidFill>
                  <a:srgbClr val="263238"/>
                </a:solidFill>
              </a:rPr>
              <a:t>checkpoint 只有发布成功才推进 checkpoint_step</a:t>
            </a:r>
          </a:p>
        </p:txBody>
      </p:sp>
      <p:sp>
        <p:nvSpPr>
          <p:cNvPr id="35" name="圆角矩形 34">
            <a:extLst>
              <a:ext uri="{FF2B5EF4-FFF2-40B4-BE49-F238E27FC236}">
                <a16:creationId xmlns:a16="http://schemas.microsoft.com/office/drawing/2014/main" id="{AECA2EB6-22B3-4EC9-BF91-97094D5B89CB}"/>
              </a:ext>
            </a:extLst>
          </p:cNvPr>
          <p:cNvSpPr>
            <a:spLocks noGrp="1"/>
          </p:cNvSpPr>
          <p:nvPr/>
        </p:nvSpPr>
        <p:spPr>
          <a:xfrm>
            <a:off x="9953625" y="4191000"/>
            <a:ext cx="1571625" cy="609600"/>
          </a:xfrm>
          <a:prstGeom prst="roundRect">
            <a:avLst>
              <a:gd name="adj" fmla="val 12500"/>
            </a:avLst>
          </a:prstGeom>
          <a:solidFill>
            <a:srgbClr val="F5F7F9"/>
          </a:solidFill>
          <a:ln w="9525">
            <a:solidFill>
              <a:srgbClr val="D0D5DD"/>
            </a:solidFill>
            <a:prstDash val="solid"/>
          </a:ln>
        </p:spPr>
        <p:txBody>
          <a:bodyPr wrap="square" lIns="47625" tIns="47625" rIns="47625" bIns="47625" anchor="ctr">
            <a:normAutofit/>
          </a:bodyPr>
          <a:lstStyle/>
          <a:p>
            <a:pPr algn="ctr">
              <a:defRPr sz="1050" b="0">
                <a:solidFill>
                  <a:srgbClr val="263238"/>
                </a:solidFill>
              </a:defRPr>
            </a:pPr>
            <a:r>
              <a:rPr sz="1050" b="0">
                <a:solidFill>
                  <a:srgbClr val="263238"/>
                </a:solidFill>
              </a:rPr>
              <a:t>committed t</a:t>
            </a:r>
          </a:p>
        </p:txBody>
      </p:sp>
      <p:sp>
        <p:nvSpPr>
          <p:cNvPr id="36" name="圆角矩形 35">
            <a:extLst>
              <a:ext uri="{FF2B5EF4-FFF2-40B4-BE49-F238E27FC236}">
                <a16:creationId xmlns:a16="http://schemas.microsoft.com/office/drawing/2014/main" id="{46D0D929-82FB-4497-9346-051FFE0EC521}"/>
              </a:ext>
            </a:extLst>
          </p:cNvPr>
          <p:cNvSpPr>
            <a:spLocks noGrp="1"/>
          </p:cNvSpPr>
          <p:nvPr/>
        </p:nvSpPr>
        <p:spPr>
          <a:xfrm>
            <a:off x="533400" y="5010150"/>
            <a:ext cx="6553200" cy="1219200"/>
          </a:xfrm>
          <a:prstGeom prst="roundRect">
            <a:avLst>
              <a:gd name="adj" fmla="val 5469"/>
            </a:avLst>
          </a:prstGeom>
          <a:solidFill>
            <a:srgbClr val="17212B"/>
          </a:solidFill>
          <a:ln w="9525">
            <a:solidFill>
              <a:srgbClr val="344054"/>
            </a:solidFill>
            <a:prstDash val="solid"/>
          </a:ln>
        </p:spPr>
        <p:txBody>
          <a:bodyPr wrap="square" lIns="152400" tIns="114300" rIns="133350" bIns="95250" anchor="t">
            <a:normAutofit fontScale="90023" lnSpcReduction="10000"/>
          </a:bodyPr>
          <a:lstStyle/>
          <a:p>
            <a:pPr algn="l">
              <a:lnSpc>
                <a:spcPct val="105000"/>
              </a:lnSpc>
              <a:buNone/>
              <a:defRPr sz="1050">
                <a:solidFill>
                  <a:srgbClr val="F2F4F7"/>
                </a:solidFill>
              </a:defRPr>
            </a:pPr>
            <a:r>
              <a:rPr sz="1050">
                <a:solidFill>
                  <a:srgbClr val="F2F4F7"/>
                </a:solidFill>
              </a:rPr>
              <a:t>if phase &lt;= OPTIMIZER_BEFORE:</a:t>
            </a:r>
          </a:p>
          <a:p>
            <a:pPr algn="l">
              <a:lnSpc>
                <a:spcPct val="105000"/>
              </a:lnSpc>
              <a:buNone/>
              <a:defRPr sz="1050">
                <a:solidFill>
                  <a:srgbClr val="F2F4F7"/>
                </a:solidFill>
              </a:defRPr>
            </a:pPr>
            <a:r>
              <a:rPr sz="1050">
                <a:solidFill>
                  <a:srgbClr val="F2F4F7"/>
                </a:solidFill>
              </a:rPr>
              <a:t>    return REPLAY(committed_t)</a:t>
            </a:r>
          </a:p>
          <a:p>
            <a:pPr algn="l">
              <a:lnSpc>
                <a:spcPct val="105000"/>
              </a:lnSpc>
              <a:buNone/>
              <a:defRPr sz="1050">
                <a:solidFill>
                  <a:srgbClr val="F2F4F7"/>
                </a:solidFill>
              </a:defRPr>
            </a:pPr>
            <a:r>
              <a:rPr sz="1050">
                <a:solidFill>
                  <a:srgbClr val="F2F4F7"/>
                </a:solidFill>
              </a:rPr>
              <a:t>elif phase == OPTIMIZER_DURING:</a:t>
            </a:r>
          </a:p>
          <a:p>
            <a:pPr algn="l">
              <a:lnSpc>
                <a:spcPct val="105000"/>
              </a:lnSpc>
              <a:buNone/>
              <a:defRPr sz="1050">
                <a:solidFill>
                  <a:srgbClr val="F2F4F7"/>
                </a:solidFill>
              </a:defRPr>
            </a:pPr>
            <a:r>
              <a:rPr sz="1050">
                <a:solidFill>
                  <a:srgbClr val="F2F4F7"/>
                </a:solidFill>
              </a:rPr>
              <a:t>    return RESTORE(committed_t) if snapshot_step == committed_t else FALLBACK(checkpoint_c)</a:t>
            </a:r>
          </a:p>
          <a:p>
            <a:pPr algn="l">
              <a:lnSpc>
                <a:spcPct val="105000"/>
              </a:lnSpc>
              <a:buNone/>
              <a:defRPr sz="1050">
                <a:solidFill>
                  <a:srgbClr val="F2F4F7"/>
                </a:solidFill>
              </a:defRPr>
            </a:pPr>
            <a:r>
              <a:rPr sz="1050">
                <a:solidFill>
                  <a:srgbClr val="F2F4F7"/>
                </a:solidFill>
              </a:rPr>
              <a:t>elif phase == OPTIMIZER_AFTER:</a:t>
            </a:r>
          </a:p>
          <a:p>
            <a:pPr algn="l">
              <a:lnSpc>
                <a:spcPct val="105000"/>
              </a:lnSpc>
              <a:buNone/>
              <a:defRPr sz="1050">
                <a:solidFill>
                  <a:srgbClr val="F2F4F7"/>
                </a:solidFill>
              </a:defRPr>
            </a:pPr>
            <a:r>
              <a:rPr sz="1050">
                <a:solidFill>
                  <a:srgbClr val="F2F4F7"/>
                </a:solidFill>
              </a:rPr>
              <a:t>    return FALLBACK(checkpoint_c)</a:t>
            </a:r>
          </a:p>
          <a:p>
            <a:pPr algn="l">
              <a:lnSpc>
                <a:spcPct val="105000"/>
              </a:lnSpc>
              <a:buNone/>
              <a:defRPr sz="1050">
                <a:solidFill>
                  <a:srgbClr val="F2F4F7"/>
                </a:solidFill>
              </a:defRPr>
            </a:pPr>
            <a:r>
              <a:rPr sz="1050">
                <a:solidFill>
                  <a:srgbClr val="F2F4F7"/>
                </a:solidFill>
              </a:rPr>
              <a:t>return RESUME(committed_t)</a:t>
            </a:r>
          </a:p>
        </p:txBody>
      </p:sp>
      <p:sp>
        <p:nvSpPr>
          <p:cNvPr id="37" name="圆角矩形 36">
            <a:extLst>
              <a:ext uri="{FF2B5EF4-FFF2-40B4-BE49-F238E27FC236}">
                <a16:creationId xmlns:a16="http://schemas.microsoft.com/office/drawing/2014/main" id="{36655526-E5DF-46DE-9769-EC92F955F92F}"/>
              </a:ext>
            </a:extLst>
          </p:cNvPr>
          <p:cNvSpPr>
            <a:spLocks noGrp="1"/>
          </p:cNvSpPr>
          <p:nvPr/>
        </p:nvSpPr>
        <p:spPr>
          <a:xfrm>
            <a:off x="7467600" y="5010150"/>
            <a:ext cx="1581150" cy="333375"/>
          </a:xfrm>
          <a:prstGeom prst="roundRect">
            <a:avLst>
              <a:gd name="adj" fmla="val 22857"/>
            </a:avLst>
          </a:prstGeom>
          <a:solidFill>
            <a:srgbClr val="156082"/>
          </a:solidFill>
          <a:ln w="9525">
            <a:solidFill>
              <a:srgbClr val="156082"/>
            </a:solidFill>
            <a:prstDash val="solid"/>
          </a:ln>
        </p:spPr>
        <p:txBody>
          <a:bodyPr wrap="square" lIns="95250" tIns="57150" rIns="95250" bIns="57150" anchor="ctr">
            <a:normAutofit/>
          </a:bodyPr>
          <a:lstStyle/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唯一提交点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207356AE-0A04-4BDA-83C8-5BE9C0464B30}"/>
              </a:ext>
            </a:extLst>
          </p:cNvPr>
          <p:cNvSpPr>
            <a:spLocks noGrp="1"/>
          </p:cNvSpPr>
          <p:nvPr/>
        </p:nvSpPr>
        <p:spPr>
          <a:xfrm>
            <a:off x="7448550" y="5429250"/>
            <a:ext cx="36957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mark_optimizer_committed()</a:t>
            </a:r>
          </a:p>
          <a:p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→ 参数、optimizer、iteration 同步推进</a:t>
            </a:r>
          </a:p>
          <a:p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→ 新副本完成后才允许下一个 safe point</a:t>
            </a:r>
          </a:p>
        </p:txBody>
      </p:sp>
      <p:sp>
        <p:nvSpPr>
          <p:cNvPr id="39" name="直线连接符 38">
            <a:extLst>
              <a:ext uri="{FF2B5EF4-FFF2-40B4-BE49-F238E27FC236}">
                <a16:creationId xmlns:a16="http://schemas.microsoft.com/office/drawing/2014/main" id="{D8824FA3-35DF-41B5-A77C-01C0F5E88045}"/>
              </a:ext>
            </a:extLst>
          </p:cNvPr>
          <p:cNvSpPr>
            <a:spLocks noGrp="1"/>
          </p:cNvSpPr>
          <p:nvPr/>
        </p:nvSpPr>
        <p:spPr>
          <a:xfrm>
            <a:off x="400050" y="6486525"/>
            <a:ext cx="11239500" cy="0"/>
          </a:xfrm>
          <a:prstGeom prst="line">
            <a:avLst/>
          </a:prstGeom>
          <a:noFill/>
          <a:ln w="9525">
            <a:solidFill>
              <a:srgbClr val="E4E7EC"/>
            </a:solidFill>
            <a:prstDash val="solid"/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656259A8-3135-4AAF-BB49-DAD376243A1B}"/>
              </a:ext>
            </a:extLst>
          </p:cNvPr>
          <p:cNvSpPr>
            <a:spLocks noGrp="1"/>
          </p:cNvSpPr>
          <p:nvPr/>
        </p:nvSpPr>
        <p:spPr>
          <a:xfrm>
            <a:off x="419100" y="6543675"/>
            <a:ext cx="6000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825" b="0">
                <a:solidFill>
                  <a:srgbClr val="98A2B3"/>
                </a:solidFill>
              </a:defRPr>
            </a:pPr>
            <a:r>
              <a:rPr sz="825" b="0">
                <a:solidFill>
                  <a:srgbClr val="98A2B3"/>
                </a:solidFill>
              </a:rPr>
              <a:t>MoEGambit  |  step transaction and failure decision</a:t>
            </a:r>
          </a:p>
        </p:txBody>
      </p:sp>
    </p:spTree>
    <p:extLst>
      <p:ext uri="{BB962C8B-B14F-4D97-AF65-F5344CB8AC3E}">
        <p14:creationId xmlns:p14="http://schemas.microsoft.com/office/powerpoint/2010/main" val="26289318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>
            <a:extLst>
              <a:ext uri="{FF2B5EF4-FFF2-40B4-BE49-F238E27FC236}">
                <a16:creationId xmlns:a16="http://schemas.microsoft.com/office/drawing/2014/main" id="{7631711E-4B9B-4CAD-9B98-75083B94D70D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76200" cy="419100"/>
          </a:xfrm>
          <a:prstGeom prst="rect">
            <a:avLst/>
          </a:prstGeom>
          <a:solidFill>
            <a:srgbClr val="156082"/>
          </a:solidFill>
          <a:ln w="0">
            <a:solidFill>
              <a:srgbClr val="156082"/>
            </a:solidFill>
            <a:prstDash val="solid"/>
          </a:ln>
        </p:spPr>
      </p:sp>
      <p:sp>
        <p:nvSpPr>
          <p:cNvPr id="2" name="slide-11-title">
            <a:extLst>
              <a:ext uri="{FF2B5EF4-FFF2-40B4-BE49-F238E27FC236}">
                <a16:creationId xmlns:a16="http://schemas.microsoft.com/office/drawing/2014/main" id="{1237B213-C4A9-4482-9AC1-A3C9F587AE5F}"/>
              </a:ext>
            </a:extLst>
          </p:cNvPr>
          <p:cNvSpPr>
            <a:spLocks noGrp="1"/>
          </p:cNvSpPr>
          <p:nvPr/>
        </p:nvSpPr>
        <p:spPr>
          <a:xfrm>
            <a:off x="590550" y="276225"/>
            <a:ext cx="10001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2250" b="1">
                <a:solidFill>
                  <a:srgbClr val="111827"/>
                </a:solidFill>
              </a:defRPr>
            </a:pPr>
            <a:r>
              <a:rPr sz="2250" b="1">
                <a:solidFill>
                  <a:srgbClr val="111827"/>
                </a:solidFill>
              </a:rPr>
              <a:t>Upgrade / recovery 原子事务：provisional → 首个 iteration 提交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8EB5B03-21ED-4C8B-A156-049C5D4A22B6}"/>
              </a:ext>
            </a:extLst>
          </p:cNvPr>
          <p:cNvSpPr>
            <a:spLocks noGrp="1"/>
          </p:cNvSpPr>
          <p:nvPr/>
        </p:nvSpPr>
        <p:spPr>
          <a:xfrm>
            <a:off x="10953750" y="361950"/>
            <a:ext cx="685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defRPr sz="1200" b="1">
                <a:solidFill>
                  <a:srgbClr val="667085"/>
                </a:solidFill>
              </a:defRPr>
            </a:pPr>
            <a:r>
              <a:rPr sz="1200" b="1">
                <a:solidFill>
                  <a:srgbClr val="667085"/>
                </a:solidFill>
              </a:rPr>
              <a:t>11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B415CB6-97A2-46C0-811D-A425366633E2}"/>
              </a:ext>
            </a:extLst>
          </p:cNvPr>
          <p:cNvSpPr>
            <a:spLocks noGrp="1"/>
          </p:cNvSpPr>
          <p:nvPr/>
        </p:nvSpPr>
        <p:spPr>
          <a:xfrm>
            <a:off x="590550" y="74295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恢复过程中再次故障时，不在半完成拓扑上继续；废弃当前 generation，重新选择合同或 checkpoint relaunch</a:t>
            </a:r>
          </a:p>
        </p:txBody>
      </p:sp>
      <p:sp>
        <p:nvSpPr>
          <p:cNvPr id="5" name="直线连接符 4">
            <a:extLst>
              <a:ext uri="{FF2B5EF4-FFF2-40B4-BE49-F238E27FC236}">
                <a16:creationId xmlns:a16="http://schemas.microsoft.com/office/drawing/2014/main" id="{5822D253-2BB0-471F-8B66-B6300478E133}"/>
              </a:ext>
            </a:extLst>
          </p:cNvPr>
          <p:cNvSpPr>
            <a:spLocks noGrp="1"/>
          </p:cNvSpPr>
          <p:nvPr/>
        </p:nvSpPr>
        <p:spPr>
          <a:xfrm>
            <a:off x="400050" y="1047750"/>
            <a:ext cx="11239500" cy="0"/>
          </a:xfrm>
          <a:prstGeom prst="line">
            <a:avLst/>
          </a:prstGeom>
          <a:noFill/>
          <a:ln w="9525">
            <a:solidFill>
              <a:srgbClr val="D0D5DD"/>
            </a:solidFill>
            <a:prstDash val="solid"/>
          </a:ln>
        </p:spPr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03A2B431-E296-431B-9B35-8AA48BCEE6A0}"/>
              </a:ext>
            </a:extLst>
          </p:cNvPr>
          <p:cNvSpPr>
            <a:spLocks noGrp="1"/>
          </p:cNvSpPr>
          <p:nvPr/>
        </p:nvSpPr>
        <p:spPr>
          <a:xfrm>
            <a:off x="457200" y="1628775"/>
            <a:ext cx="1352550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156082"/>
            </a:solidFill>
            <a:prstDash val="solid"/>
          </a:ln>
        </p:spPr>
        <p:txBody>
          <a:bodyPr wrap="square" lIns="95250" tIns="57150" rIns="95250" bIns="57150" anchor="ctr">
            <a:normAutofit/>
          </a:bodyPr>
          <a:lstStyle/>
          <a:p>
            <a:pPr algn="ctr"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PREPARE</a:t>
            </a:r>
          </a:p>
          <a:p>
            <a:pPr algn="ctr"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epoch + descriptor</a:t>
            </a:r>
          </a:p>
        </p:txBody>
      </p:sp>
      <p:sp>
        <p:nvSpPr>
          <p:cNvPr id="7" name="右箭头 6">
            <a:extLst>
              <a:ext uri="{FF2B5EF4-FFF2-40B4-BE49-F238E27FC236}">
                <a16:creationId xmlns:a16="http://schemas.microsoft.com/office/drawing/2014/main" id="{401FE412-22FC-452D-8B24-7393BDB231BB}"/>
              </a:ext>
            </a:extLst>
          </p:cNvPr>
          <p:cNvSpPr>
            <a:spLocks noGrp="1"/>
          </p:cNvSpPr>
          <p:nvPr/>
        </p:nvSpPr>
        <p:spPr>
          <a:xfrm>
            <a:off x="1828800" y="1914525"/>
            <a:ext cx="209550" cy="104775"/>
          </a:xfrm>
          <a:prstGeom prst="rightArrow">
            <a:avLst/>
          </a:prstGeom>
          <a:solidFill>
            <a:srgbClr val="156082"/>
          </a:solidFill>
          <a:ln w="4763">
            <a:solidFill>
              <a:srgbClr val="156082"/>
            </a:solidFill>
            <a:prstDash val="solid"/>
          </a:ln>
        </p:spPr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AB4B7369-4EEC-4CF6-A045-B28B3130A138}"/>
              </a:ext>
            </a:extLst>
          </p:cNvPr>
          <p:cNvSpPr>
            <a:spLocks noGrp="1"/>
          </p:cNvSpPr>
          <p:nvPr/>
        </p:nvSpPr>
        <p:spPr>
          <a:xfrm>
            <a:off x="2066925" y="1628775"/>
            <a:ext cx="1352550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156082"/>
            </a:solidFill>
            <a:prstDash val="solid"/>
          </a:ln>
        </p:spPr>
        <p:txBody>
          <a:bodyPr wrap="square" lIns="95250" tIns="57150" rIns="95250" bIns="57150" anchor="ctr">
            <a:normAutofit/>
          </a:bodyPr>
          <a:lstStyle/>
          <a:p>
            <a:pPr algn="ctr"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QUIESCE</a:t>
            </a:r>
          </a:p>
          <a:p>
            <a:pPr algn="ctr"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safe point + replicas</a:t>
            </a:r>
          </a:p>
        </p:txBody>
      </p:sp>
      <p:sp>
        <p:nvSpPr>
          <p:cNvPr id="9" name="右箭头 8">
            <a:extLst>
              <a:ext uri="{FF2B5EF4-FFF2-40B4-BE49-F238E27FC236}">
                <a16:creationId xmlns:a16="http://schemas.microsoft.com/office/drawing/2014/main" id="{7EDF3F86-56FB-411F-8278-70FF3B48E516}"/>
              </a:ext>
            </a:extLst>
          </p:cNvPr>
          <p:cNvSpPr>
            <a:spLocks noGrp="1"/>
          </p:cNvSpPr>
          <p:nvPr/>
        </p:nvSpPr>
        <p:spPr>
          <a:xfrm>
            <a:off x="3438525" y="1914525"/>
            <a:ext cx="209550" cy="104775"/>
          </a:xfrm>
          <a:prstGeom prst="rightArrow">
            <a:avLst/>
          </a:prstGeom>
          <a:solidFill>
            <a:srgbClr val="156082"/>
          </a:solidFill>
          <a:ln w="4763">
            <a:solidFill>
              <a:srgbClr val="156082"/>
            </a:solidFill>
            <a:prstDash val="solid"/>
          </a:ln>
        </p:spPr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143D2CCA-2E8B-4D0D-8329-57AD09F9D996}"/>
              </a:ext>
            </a:extLst>
          </p:cNvPr>
          <p:cNvSpPr>
            <a:spLocks noGrp="1"/>
          </p:cNvSpPr>
          <p:nvPr/>
        </p:nvSpPr>
        <p:spPr>
          <a:xfrm>
            <a:off x="3676650" y="1628775"/>
            <a:ext cx="1352550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156082"/>
            </a:solidFill>
            <a:prstDash val="solid"/>
          </a:ln>
        </p:spPr>
        <p:txBody>
          <a:bodyPr wrap="square" lIns="95250" tIns="57150" rIns="95250" bIns="57150" anchor="ctr">
            <a:normAutofit/>
          </a:bodyPr>
          <a:lstStyle/>
          <a:p>
            <a:pPr algn="ctr"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REBUILD</a:t>
            </a:r>
          </a:p>
          <a:p>
            <a:pPr algn="ctr"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new PG generation</a:t>
            </a:r>
          </a:p>
        </p:txBody>
      </p:sp>
      <p:sp>
        <p:nvSpPr>
          <p:cNvPr id="11" name="右箭头 10">
            <a:extLst>
              <a:ext uri="{FF2B5EF4-FFF2-40B4-BE49-F238E27FC236}">
                <a16:creationId xmlns:a16="http://schemas.microsoft.com/office/drawing/2014/main" id="{A3273926-AB25-4768-9192-0554DBF33512}"/>
              </a:ext>
            </a:extLst>
          </p:cNvPr>
          <p:cNvSpPr>
            <a:spLocks noGrp="1"/>
          </p:cNvSpPr>
          <p:nvPr/>
        </p:nvSpPr>
        <p:spPr>
          <a:xfrm>
            <a:off x="5048250" y="1914525"/>
            <a:ext cx="209550" cy="104775"/>
          </a:xfrm>
          <a:prstGeom prst="rightArrow">
            <a:avLst/>
          </a:prstGeom>
          <a:solidFill>
            <a:srgbClr val="156082"/>
          </a:solidFill>
          <a:ln w="4763">
            <a:solidFill>
              <a:srgbClr val="156082"/>
            </a:solidFill>
            <a:prstDash val="solid"/>
          </a:ln>
        </p:spPr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2CE1FCA4-DDAA-492A-862F-0F6751EE3AA6}"/>
              </a:ext>
            </a:extLst>
          </p:cNvPr>
          <p:cNvSpPr>
            <a:spLocks noGrp="1"/>
          </p:cNvSpPr>
          <p:nvPr/>
        </p:nvSpPr>
        <p:spPr>
          <a:xfrm>
            <a:off x="5286375" y="1628775"/>
            <a:ext cx="1352550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156082"/>
            </a:solidFill>
            <a:prstDash val="solid"/>
          </a:ln>
        </p:spPr>
        <p:txBody>
          <a:bodyPr wrap="square" lIns="95250" tIns="57150" rIns="95250" bIns="57150" anchor="ctr">
            <a:normAutofit/>
          </a:bodyPr>
          <a:lstStyle/>
          <a:p>
            <a:pPr algn="ctr"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RESTORE</a:t>
            </a:r>
          </a:p>
          <a:p>
            <a:pPr algn="ctr"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model / optimizer</a:t>
            </a:r>
          </a:p>
        </p:txBody>
      </p:sp>
      <p:sp>
        <p:nvSpPr>
          <p:cNvPr id="13" name="右箭头 12">
            <a:extLst>
              <a:ext uri="{FF2B5EF4-FFF2-40B4-BE49-F238E27FC236}">
                <a16:creationId xmlns:a16="http://schemas.microsoft.com/office/drawing/2014/main" id="{0E5FFFE4-59C3-4391-AAE5-224EB98893BC}"/>
              </a:ext>
            </a:extLst>
          </p:cNvPr>
          <p:cNvSpPr>
            <a:spLocks noGrp="1"/>
          </p:cNvSpPr>
          <p:nvPr/>
        </p:nvSpPr>
        <p:spPr>
          <a:xfrm>
            <a:off x="6657975" y="1914525"/>
            <a:ext cx="209550" cy="104775"/>
          </a:xfrm>
          <a:prstGeom prst="rightArrow">
            <a:avLst/>
          </a:prstGeom>
          <a:solidFill>
            <a:srgbClr val="156082"/>
          </a:solidFill>
          <a:ln w="4763">
            <a:solidFill>
              <a:srgbClr val="156082"/>
            </a:solidFill>
            <a:prstDash val="solid"/>
          </a:ln>
        </p:spPr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F096C31E-35DC-4D34-9F6E-D9BDDB5CCC96}"/>
              </a:ext>
            </a:extLst>
          </p:cNvPr>
          <p:cNvSpPr>
            <a:spLocks noGrp="1"/>
          </p:cNvSpPr>
          <p:nvPr/>
        </p:nvSpPr>
        <p:spPr>
          <a:xfrm>
            <a:off x="6896100" y="1628775"/>
            <a:ext cx="1352550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156082"/>
            </a:solidFill>
            <a:prstDash val="solid"/>
          </a:ln>
        </p:spPr>
        <p:txBody>
          <a:bodyPr wrap="square" lIns="95250" tIns="57150" rIns="95250" bIns="57150" anchor="ctr">
            <a:normAutofit/>
          </a:bodyPr>
          <a:lstStyle/>
          <a:p>
            <a:pPr algn="ctr"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VALIDATE</a:t>
            </a:r>
          </a:p>
          <a:p>
            <a:pPr algn="ctr"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manifest / ordinal</a:t>
            </a:r>
          </a:p>
        </p:txBody>
      </p:sp>
      <p:sp>
        <p:nvSpPr>
          <p:cNvPr id="15" name="右箭头 14">
            <a:extLst>
              <a:ext uri="{FF2B5EF4-FFF2-40B4-BE49-F238E27FC236}">
                <a16:creationId xmlns:a16="http://schemas.microsoft.com/office/drawing/2014/main" id="{96277DBB-1A85-40ED-B286-DF301984568A}"/>
              </a:ext>
            </a:extLst>
          </p:cNvPr>
          <p:cNvSpPr>
            <a:spLocks noGrp="1"/>
          </p:cNvSpPr>
          <p:nvPr/>
        </p:nvSpPr>
        <p:spPr>
          <a:xfrm>
            <a:off x="8267700" y="1914525"/>
            <a:ext cx="209550" cy="104775"/>
          </a:xfrm>
          <a:prstGeom prst="rightArrow">
            <a:avLst/>
          </a:prstGeom>
          <a:solidFill>
            <a:srgbClr val="E97132"/>
          </a:solidFill>
          <a:ln w="4763">
            <a:solidFill>
              <a:srgbClr val="E97132"/>
            </a:solidFill>
            <a:prstDash val="solid"/>
          </a:ln>
        </p:spPr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DF82348D-DA3C-4C44-A75A-636A39D67473}"/>
              </a:ext>
            </a:extLst>
          </p:cNvPr>
          <p:cNvSpPr>
            <a:spLocks noGrp="1"/>
          </p:cNvSpPr>
          <p:nvPr/>
        </p:nvSpPr>
        <p:spPr>
          <a:xfrm>
            <a:off x="8505825" y="1628775"/>
            <a:ext cx="1352550" cy="685800"/>
          </a:xfrm>
          <a:prstGeom prst="roundRect">
            <a:avLst>
              <a:gd name="adj" fmla="val 11111"/>
            </a:avLst>
          </a:prstGeom>
          <a:solidFill>
            <a:srgbClr val="FFF1E8"/>
          </a:solidFill>
          <a:ln w="9525">
            <a:solidFill>
              <a:srgbClr val="E97132"/>
            </a:solidFill>
            <a:prstDash val="solid"/>
          </a:ln>
        </p:spPr>
        <p:txBody>
          <a:bodyPr wrap="square" lIns="95250" tIns="57150" rIns="95250" bIns="57150" anchor="ctr">
            <a:normAutofit/>
          </a:bodyPr>
          <a:lstStyle/>
          <a:p>
            <a:pPr algn="ctr"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PROVISIONAL</a:t>
            </a:r>
          </a:p>
          <a:p>
            <a:pPr algn="ctr"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first full step</a:t>
            </a:r>
          </a:p>
        </p:txBody>
      </p:sp>
      <p:sp>
        <p:nvSpPr>
          <p:cNvPr id="17" name="右箭头 16">
            <a:extLst>
              <a:ext uri="{FF2B5EF4-FFF2-40B4-BE49-F238E27FC236}">
                <a16:creationId xmlns:a16="http://schemas.microsoft.com/office/drawing/2014/main" id="{5AFE91E3-7796-4D8F-8775-C8D42FA7E21B}"/>
              </a:ext>
            </a:extLst>
          </p:cNvPr>
          <p:cNvSpPr>
            <a:spLocks noGrp="1"/>
          </p:cNvSpPr>
          <p:nvPr/>
        </p:nvSpPr>
        <p:spPr>
          <a:xfrm>
            <a:off x="9877425" y="1914525"/>
            <a:ext cx="209550" cy="104775"/>
          </a:xfrm>
          <a:prstGeom prst="rightArrow">
            <a:avLst/>
          </a:prstGeom>
          <a:solidFill>
            <a:srgbClr val="E97132"/>
          </a:solidFill>
          <a:ln w="4763">
            <a:solidFill>
              <a:srgbClr val="E97132"/>
            </a:solidFill>
            <a:prstDash val="solid"/>
          </a:ln>
        </p:spPr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12565DC9-0A51-424F-8177-70E3D8B100E7}"/>
              </a:ext>
            </a:extLst>
          </p:cNvPr>
          <p:cNvSpPr>
            <a:spLocks noGrp="1"/>
          </p:cNvSpPr>
          <p:nvPr/>
        </p:nvSpPr>
        <p:spPr>
          <a:xfrm>
            <a:off x="10115550" y="1628775"/>
            <a:ext cx="1352550" cy="685800"/>
          </a:xfrm>
          <a:prstGeom prst="roundRect">
            <a:avLst>
              <a:gd name="adj" fmla="val 11111"/>
            </a:avLst>
          </a:prstGeom>
          <a:solidFill>
            <a:srgbClr val="EAF5EC"/>
          </a:solidFill>
          <a:ln w="9525">
            <a:solidFill>
              <a:srgbClr val="196B24"/>
            </a:solidFill>
            <a:prstDash val="solid"/>
          </a:ln>
        </p:spPr>
        <p:txBody>
          <a:bodyPr wrap="square" lIns="95250" tIns="57150" rIns="95250" bIns="57150" anchor="ctr">
            <a:normAutofit/>
          </a:bodyPr>
          <a:lstStyle/>
          <a:p>
            <a:pPr algn="ctr"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COMMIT</a:t>
            </a:r>
          </a:p>
          <a:p>
            <a:pPr algn="ctr"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all ranks ack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EEE0233-B335-46AF-B99E-DFAEED7A9D72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500" b="1">
                <a:solidFill>
                  <a:srgbClr val="B42318"/>
                </a:solidFill>
              </a:defRPr>
            </a:pPr>
            <a:r>
              <a:rPr sz="1500" b="1">
                <a:solidFill>
                  <a:srgbClr val="B42318"/>
                </a:solidFill>
              </a:rPr>
              <a:t>故障发生在 upgrade 中</a:t>
            </a:r>
          </a:p>
        </p:txBody>
      </p:sp>
      <p:sp>
        <p:nvSpPr>
          <p:cNvPr id="20" name="直线连接符 19">
            <a:extLst>
              <a:ext uri="{FF2B5EF4-FFF2-40B4-BE49-F238E27FC236}">
                <a16:creationId xmlns:a16="http://schemas.microsoft.com/office/drawing/2014/main" id="{0385613E-8F7B-420B-9F44-95508C3320F5}"/>
              </a:ext>
            </a:extLst>
          </p:cNvPr>
          <p:cNvSpPr>
            <a:spLocks noGrp="1"/>
          </p:cNvSpPr>
          <p:nvPr/>
        </p:nvSpPr>
        <p:spPr>
          <a:xfrm>
            <a:off x="552450" y="3171825"/>
            <a:ext cx="10668000" cy="0"/>
          </a:xfrm>
          <a:prstGeom prst="line">
            <a:avLst/>
          </a:prstGeom>
          <a:noFill/>
          <a:ln w="9525">
            <a:solidFill>
              <a:srgbClr val="D0D5DD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20793AE-F0A7-4C5A-8F67-F01A37DD07D7}"/>
              </a:ext>
            </a:extLst>
          </p:cNvPr>
          <p:cNvSpPr>
            <a:spLocks noGrp="1"/>
          </p:cNvSpPr>
          <p:nvPr/>
        </p:nvSpPr>
        <p:spPr>
          <a:xfrm>
            <a:off x="628650" y="3371850"/>
            <a:ext cx="23336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200" b="1">
                <a:solidFill>
                  <a:srgbClr val="B42318"/>
                </a:solidFill>
              </a:defRPr>
            </a:pPr>
            <a:r>
              <a:rPr sz="1200" b="1">
                <a:solidFill>
                  <a:srgbClr val="B42318"/>
                </a:solidFill>
              </a:rPr>
              <a:t>PREPARE → RESTORE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95C1A8B-8496-4AA0-806D-48FB00AB75C8}"/>
              </a:ext>
            </a:extLst>
          </p:cNvPr>
          <p:cNvSpPr>
            <a:spLocks noGrp="1"/>
          </p:cNvSpPr>
          <p:nvPr/>
        </p:nvSpPr>
        <p:spPr>
          <a:xfrm>
            <a:off x="3143250" y="3371850"/>
            <a:ext cx="25241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200" b="0">
                <a:solidFill>
                  <a:srgbClr val="263238"/>
                </a:solidFill>
              </a:defRPr>
            </a:pPr>
            <a:r>
              <a:rPr sz="1200" b="0">
                <a:solidFill>
                  <a:srgbClr val="263238"/>
                </a:solidFill>
              </a:rPr>
              <a:t>当前 generation 未提交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1B181A3-5B3E-4EE9-8170-FF4208895DF8}"/>
              </a:ext>
            </a:extLst>
          </p:cNvPr>
          <p:cNvSpPr>
            <a:spLocks noGrp="1"/>
          </p:cNvSpPr>
          <p:nvPr/>
        </p:nvSpPr>
        <p:spPr>
          <a:xfrm>
            <a:off x="5857875" y="3371850"/>
            <a:ext cx="5286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停止 spare / 关闭临时 transport；epoch + 1 后重新编排</a:t>
            </a:r>
          </a:p>
        </p:txBody>
      </p:sp>
      <p:sp>
        <p:nvSpPr>
          <p:cNvPr id="24" name="直线连接符 23">
            <a:extLst>
              <a:ext uri="{FF2B5EF4-FFF2-40B4-BE49-F238E27FC236}">
                <a16:creationId xmlns:a16="http://schemas.microsoft.com/office/drawing/2014/main" id="{8206E546-CF05-41D8-B15C-8AAC60E72EE0}"/>
              </a:ext>
            </a:extLst>
          </p:cNvPr>
          <p:cNvSpPr>
            <a:spLocks noGrp="1"/>
          </p:cNvSpPr>
          <p:nvPr/>
        </p:nvSpPr>
        <p:spPr>
          <a:xfrm>
            <a:off x="628650" y="3886200"/>
            <a:ext cx="10515600" cy="0"/>
          </a:xfrm>
          <a:prstGeom prst="line">
            <a:avLst/>
          </a:prstGeom>
          <a:noFill/>
          <a:ln w="9525">
            <a:solidFill>
              <a:srgbClr val="EAECF0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40F38D0-75D6-4D0E-8BFF-DC7AA40C8DBF}"/>
              </a:ext>
            </a:extLst>
          </p:cNvPr>
          <p:cNvSpPr>
            <a:spLocks noGrp="1"/>
          </p:cNvSpPr>
          <p:nvPr/>
        </p:nvSpPr>
        <p:spPr>
          <a:xfrm>
            <a:off x="628650" y="3962400"/>
            <a:ext cx="23336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200" b="1">
                <a:solidFill>
                  <a:srgbClr val="B42318"/>
                </a:solidFill>
              </a:defRPr>
            </a:pPr>
            <a:r>
              <a:rPr sz="1200" b="1">
                <a:solidFill>
                  <a:srgbClr val="B42318"/>
                </a:solidFill>
              </a:rPr>
              <a:t>VALIDATE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1A7D345-7CD8-410B-BBE3-B51022ECA70D}"/>
              </a:ext>
            </a:extLst>
          </p:cNvPr>
          <p:cNvSpPr>
            <a:spLocks noGrp="1"/>
          </p:cNvSpPr>
          <p:nvPr/>
        </p:nvSpPr>
        <p:spPr>
          <a:xfrm>
            <a:off x="3143250" y="3962400"/>
            <a:ext cx="25241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200" b="0">
                <a:solidFill>
                  <a:srgbClr val="263238"/>
                </a:solidFill>
              </a:defRPr>
            </a:pPr>
            <a:r>
              <a:rPr sz="1200" b="0">
                <a:solidFill>
                  <a:srgbClr val="263238"/>
                </a:solidFill>
              </a:rPr>
              <a:t>合同或 group ordinal 不一致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0ADAC9D-55DF-4EEB-BD2A-53699AF3E3F7}"/>
              </a:ext>
            </a:extLst>
          </p:cNvPr>
          <p:cNvSpPr>
            <a:spLocks noGrp="1"/>
          </p:cNvSpPr>
          <p:nvPr/>
        </p:nvSpPr>
        <p:spPr>
          <a:xfrm>
            <a:off x="5857875" y="3962400"/>
            <a:ext cx="5286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禁止 train_ready；直接 checkpoint fallback</a:t>
            </a:r>
          </a:p>
        </p:txBody>
      </p:sp>
      <p:sp>
        <p:nvSpPr>
          <p:cNvPr id="28" name="直线连接符 27">
            <a:extLst>
              <a:ext uri="{FF2B5EF4-FFF2-40B4-BE49-F238E27FC236}">
                <a16:creationId xmlns:a16="http://schemas.microsoft.com/office/drawing/2014/main" id="{56181EC3-CF2A-413E-A681-C0A2B98C31B6}"/>
              </a:ext>
            </a:extLst>
          </p:cNvPr>
          <p:cNvSpPr>
            <a:spLocks noGrp="1"/>
          </p:cNvSpPr>
          <p:nvPr/>
        </p:nvSpPr>
        <p:spPr>
          <a:xfrm>
            <a:off x="628650" y="4476750"/>
            <a:ext cx="10515600" cy="0"/>
          </a:xfrm>
          <a:prstGeom prst="line">
            <a:avLst/>
          </a:prstGeom>
          <a:noFill/>
          <a:ln w="9525">
            <a:solidFill>
              <a:srgbClr val="EAECF0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3FAAA76-D54B-4934-A9A3-D9282DFD548C}"/>
              </a:ext>
            </a:extLst>
          </p:cNvPr>
          <p:cNvSpPr>
            <a:spLocks noGrp="1"/>
          </p:cNvSpPr>
          <p:nvPr/>
        </p:nvSpPr>
        <p:spPr>
          <a:xfrm>
            <a:off x="628650" y="4552950"/>
            <a:ext cx="23336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200" b="1">
                <a:solidFill>
                  <a:srgbClr val="B42318"/>
                </a:solidFill>
              </a:defRPr>
            </a:pPr>
            <a:r>
              <a:rPr sz="1200" b="1">
                <a:solidFill>
                  <a:srgbClr val="B42318"/>
                </a:solidFill>
              </a:rPr>
              <a:t>PROVISIONAL first step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1D0BA83-0DEE-468E-B45C-45DA2B96C6D9}"/>
              </a:ext>
            </a:extLst>
          </p:cNvPr>
          <p:cNvSpPr>
            <a:spLocks noGrp="1"/>
          </p:cNvSpPr>
          <p:nvPr/>
        </p:nvSpPr>
        <p:spPr>
          <a:xfrm>
            <a:off x="3143250" y="4552950"/>
            <a:ext cx="25241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200" b="0">
                <a:solidFill>
                  <a:srgbClr val="263238"/>
                </a:solidFill>
              </a:defRPr>
            </a:pPr>
            <a:r>
              <a:rPr sz="1200" b="0">
                <a:solidFill>
                  <a:srgbClr val="263238"/>
                </a:solidFill>
              </a:rPr>
              <a:t>部分 rank 未完成或再次故障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D38E3832-B7AA-4CAD-BAAC-7A27F4DACCC2}"/>
              </a:ext>
            </a:extLst>
          </p:cNvPr>
          <p:cNvSpPr>
            <a:spLocks noGrp="1"/>
          </p:cNvSpPr>
          <p:nvPr/>
        </p:nvSpPr>
        <p:spPr>
          <a:xfrm>
            <a:off x="5857875" y="4552950"/>
            <a:ext cx="5286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丢弃 provisional step；从 committed t 再恢复</a:t>
            </a:r>
          </a:p>
        </p:txBody>
      </p:sp>
      <p:sp>
        <p:nvSpPr>
          <p:cNvPr id="32" name="直线连接符 31">
            <a:extLst>
              <a:ext uri="{FF2B5EF4-FFF2-40B4-BE49-F238E27FC236}">
                <a16:creationId xmlns:a16="http://schemas.microsoft.com/office/drawing/2014/main" id="{E72A6F52-BC5D-4904-932B-D0B860938E8F}"/>
              </a:ext>
            </a:extLst>
          </p:cNvPr>
          <p:cNvSpPr>
            <a:spLocks noGrp="1"/>
          </p:cNvSpPr>
          <p:nvPr/>
        </p:nvSpPr>
        <p:spPr>
          <a:xfrm>
            <a:off x="628650" y="5067300"/>
            <a:ext cx="10515600" cy="0"/>
          </a:xfrm>
          <a:prstGeom prst="line">
            <a:avLst/>
          </a:prstGeom>
          <a:noFill/>
          <a:ln w="9525">
            <a:solidFill>
              <a:srgbClr val="EAECF0"/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89C01C6-7ADC-4872-BC68-7674F3D0A8BB}"/>
              </a:ext>
            </a:extLst>
          </p:cNvPr>
          <p:cNvSpPr>
            <a:spLocks noGrp="1"/>
          </p:cNvSpPr>
          <p:nvPr/>
        </p:nvSpPr>
        <p:spPr>
          <a:xfrm>
            <a:off x="628650" y="5143500"/>
            <a:ext cx="23336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200" b="1">
                <a:solidFill>
                  <a:srgbClr val="196B24"/>
                </a:solidFill>
              </a:defRPr>
            </a:pPr>
            <a:r>
              <a:rPr sz="1200" b="1">
                <a:solidFill>
                  <a:srgbClr val="196B24"/>
                </a:solidFill>
              </a:rPr>
              <a:t>COMMIT 后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4152D49-14B6-4C03-B065-F202CD67193A}"/>
              </a:ext>
            </a:extLst>
          </p:cNvPr>
          <p:cNvSpPr>
            <a:spLocks noGrp="1"/>
          </p:cNvSpPr>
          <p:nvPr/>
        </p:nvSpPr>
        <p:spPr>
          <a:xfrm>
            <a:off x="3143250" y="5143500"/>
            <a:ext cx="25241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200" b="0">
                <a:solidFill>
                  <a:srgbClr val="263238"/>
                </a:solidFill>
              </a:defRPr>
            </a:pPr>
            <a:r>
              <a:rPr sz="1200" b="0">
                <a:solidFill>
                  <a:srgbClr val="263238"/>
                </a:solidFill>
              </a:rPr>
              <a:t>恢复已经原子生效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B1D0F3EA-56A3-4F1F-9F35-36290560BEBD}"/>
              </a:ext>
            </a:extLst>
          </p:cNvPr>
          <p:cNvSpPr>
            <a:spLocks noGrp="1"/>
          </p:cNvSpPr>
          <p:nvPr/>
        </p:nvSpPr>
        <p:spPr>
          <a:xfrm>
            <a:off x="5857875" y="5143500"/>
            <a:ext cx="5286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按新故障启动下一 recovery epoch</a:t>
            </a:r>
          </a:p>
        </p:txBody>
      </p:sp>
      <p:sp>
        <p:nvSpPr>
          <p:cNvPr id="36" name="圆角矩形 35">
            <a:extLst>
              <a:ext uri="{FF2B5EF4-FFF2-40B4-BE49-F238E27FC236}">
                <a16:creationId xmlns:a16="http://schemas.microsoft.com/office/drawing/2014/main" id="{065D77C5-FFBA-4788-BFFE-DD40F435FF13}"/>
              </a:ext>
            </a:extLst>
          </p:cNvPr>
          <p:cNvSpPr>
            <a:spLocks noGrp="1"/>
          </p:cNvSpPr>
          <p:nvPr/>
        </p:nvSpPr>
        <p:spPr>
          <a:xfrm>
            <a:off x="552450" y="5676900"/>
            <a:ext cx="7524750" cy="657225"/>
          </a:xfrm>
          <a:prstGeom prst="roundRect">
            <a:avLst>
              <a:gd name="adj" fmla="val 10145"/>
            </a:avLst>
          </a:prstGeom>
          <a:solidFill>
            <a:srgbClr val="17212B"/>
          </a:solidFill>
          <a:ln w="9525">
            <a:solidFill>
              <a:srgbClr val="344054"/>
            </a:solidFill>
            <a:prstDash val="solid"/>
          </a:ln>
        </p:spPr>
        <p:txBody>
          <a:bodyPr wrap="square" lIns="152400" tIns="114300" rIns="133350" bIns="95250" anchor="t">
            <a:normAutofit fontScale="88565" lnSpcReduction="10000"/>
          </a:bodyPr>
          <a:lstStyle/>
          <a:p>
            <a:pPr algn="l">
              <a:lnSpc>
                <a:spcPct val="105000"/>
              </a:lnSpc>
              <a:buNone/>
              <a:defRPr sz="1050">
                <a:solidFill>
                  <a:srgbClr val="F2F4F7"/>
                </a:solidFill>
              </a:defRPr>
            </a:pPr>
            <a:r>
              <a:rPr sz="1050">
                <a:solidFill>
                  <a:srgbClr val="F2F4F7"/>
                </a:solidFill>
              </a:rPr>
              <a:t>report("post_rebuild_commit_ready", step)</a:t>
            </a:r>
          </a:p>
          <a:p>
            <a:pPr algn="l">
              <a:lnSpc>
                <a:spcPct val="105000"/>
              </a:lnSpc>
              <a:buNone/>
              <a:defRPr sz="1050">
                <a:solidFill>
                  <a:srgbClr val="F2F4F7"/>
                </a:solidFill>
              </a:defRPr>
            </a:pPr>
            <a:r>
              <a:rPr sz="1050">
                <a:solidFill>
                  <a:srgbClr val="F2F4F7"/>
                </a:solidFill>
              </a:rPr>
              <a:t>if not wait_phase_count(world_size, timeout): abort_recovery_epoch()</a:t>
            </a:r>
          </a:p>
          <a:p>
            <a:pPr algn="l">
              <a:lnSpc>
                <a:spcPct val="105000"/>
              </a:lnSpc>
              <a:buNone/>
              <a:defRPr sz="1050">
                <a:solidFill>
                  <a:srgbClr val="F2F4F7"/>
                </a:solidFill>
              </a:defRPr>
            </a:pPr>
            <a:r>
              <a:rPr sz="1050">
                <a:solidFill>
                  <a:srgbClr val="F2F4F7"/>
                </a:solidFill>
              </a:rPr>
              <a:t>clear_post_rebuild_trace()  # all ranks acknowledged COMMIT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77572118-CE1D-4976-9706-E94292A75E2B}"/>
              </a:ext>
            </a:extLst>
          </p:cNvPr>
          <p:cNvSpPr>
            <a:spLocks noGrp="1"/>
          </p:cNvSpPr>
          <p:nvPr/>
        </p:nvSpPr>
        <p:spPr>
          <a:xfrm>
            <a:off x="8286750" y="5810250"/>
            <a:ext cx="2857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200" b="1">
                <a:solidFill>
                  <a:srgbClr val="196B24"/>
                </a:solidFill>
              </a:defRPr>
            </a:pPr>
            <a:r>
              <a:rPr sz="1200" b="1">
                <a:solidFill>
                  <a:srgbClr val="196B24"/>
                </a:solidFill>
              </a:rPr>
              <a:t>原子边界 = 全部 ranks 完成首个 post-rebuild iteration 并确认。</a:t>
            </a:r>
          </a:p>
        </p:txBody>
      </p:sp>
      <p:sp>
        <p:nvSpPr>
          <p:cNvPr id="38" name="直线连接符 37">
            <a:extLst>
              <a:ext uri="{FF2B5EF4-FFF2-40B4-BE49-F238E27FC236}">
                <a16:creationId xmlns:a16="http://schemas.microsoft.com/office/drawing/2014/main" id="{0FFC7F89-92F5-42B6-8E2B-4AB01BABAFE1}"/>
              </a:ext>
            </a:extLst>
          </p:cNvPr>
          <p:cNvSpPr>
            <a:spLocks noGrp="1"/>
          </p:cNvSpPr>
          <p:nvPr/>
        </p:nvSpPr>
        <p:spPr>
          <a:xfrm>
            <a:off x="400050" y="6486525"/>
            <a:ext cx="11239500" cy="0"/>
          </a:xfrm>
          <a:prstGeom prst="line">
            <a:avLst/>
          </a:prstGeom>
          <a:noFill/>
          <a:ln w="9525">
            <a:solidFill>
              <a:srgbClr val="E4E7EC"/>
            </a:solidFill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C668E397-3030-47DD-B0B3-55E6D0238ECF}"/>
              </a:ext>
            </a:extLst>
          </p:cNvPr>
          <p:cNvSpPr>
            <a:spLocks noGrp="1"/>
          </p:cNvSpPr>
          <p:nvPr/>
        </p:nvSpPr>
        <p:spPr>
          <a:xfrm>
            <a:off x="419100" y="6543675"/>
            <a:ext cx="6000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825" b="0">
                <a:solidFill>
                  <a:srgbClr val="98A2B3"/>
                </a:solidFill>
              </a:defRPr>
            </a:pPr>
            <a:r>
              <a:rPr sz="825" b="0">
                <a:solidFill>
                  <a:srgbClr val="98A2B3"/>
                </a:solidFill>
              </a:rPr>
              <a:t>MoEGambit  |  atomic recovery commit</a:t>
            </a:r>
          </a:p>
        </p:txBody>
      </p:sp>
    </p:spTree>
    <p:extLst>
      <p:ext uri="{BB962C8B-B14F-4D97-AF65-F5344CB8AC3E}">
        <p14:creationId xmlns:p14="http://schemas.microsoft.com/office/powerpoint/2010/main" val="26289318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9FDB9083-3142-457A-906A-49BA802B27D8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76200" cy="419100"/>
          </a:xfrm>
          <a:prstGeom prst="rect">
            <a:avLst/>
          </a:prstGeom>
          <a:solidFill>
            <a:srgbClr val="156082"/>
          </a:solidFill>
          <a:ln w="0">
            <a:solidFill>
              <a:srgbClr val="156082"/>
            </a:solidFill>
            <a:prstDash val="solid"/>
          </a:ln>
        </p:spPr>
      </p:sp>
      <p:sp>
        <p:nvSpPr>
          <p:cNvPr id="2" name="slide-12-title">
            <a:extLst>
              <a:ext uri="{FF2B5EF4-FFF2-40B4-BE49-F238E27FC236}">
                <a16:creationId xmlns:a16="http://schemas.microsoft.com/office/drawing/2014/main" id="{73C3ADAD-8439-4B7D-8875-4C3AAAC2E913}"/>
              </a:ext>
            </a:extLst>
          </p:cNvPr>
          <p:cNvSpPr>
            <a:spLocks noGrp="1"/>
          </p:cNvSpPr>
          <p:nvPr/>
        </p:nvSpPr>
        <p:spPr>
          <a:xfrm>
            <a:off x="590550" y="276225"/>
            <a:ext cx="10001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2250" b="1">
                <a:solidFill>
                  <a:srgbClr val="111827"/>
                </a:solidFill>
              </a:defRPr>
            </a:pPr>
            <a:r>
              <a:rPr sz="2250" b="1">
                <a:solidFill>
                  <a:srgbClr val="111827"/>
                </a:solidFill>
              </a:rPr>
              <a:t>当前缺陷：仍需在真实 GPU 集群完成系统级验证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A387CCA-B7E5-40EF-9BCC-4D60727E98DE}"/>
              </a:ext>
            </a:extLst>
          </p:cNvPr>
          <p:cNvSpPr>
            <a:spLocks noGrp="1"/>
          </p:cNvSpPr>
          <p:nvPr/>
        </p:nvSpPr>
        <p:spPr>
          <a:xfrm>
            <a:off x="10953750" y="361950"/>
            <a:ext cx="685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defRPr sz="1200" b="1">
                <a:solidFill>
                  <a:srgbClr val="667085"/>
                </a:solidFill>
              </a:defRPr>
            </a:pPr>
            <a:r>
              <a:rPr sz="1200" b="1">
                <a:solidFill>
                  <a:srgbClr val="667085"/>
                </a:solidFill>
              </a:rPr>
              <a:t>12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A21946E-797E-4965-99B4-A500DBB4EAB7}"/>
              </a:ext>
            </a:extLst>
          </p:cNvPr>
          <p:cNvSpPr>
            <a:spLocks noGrp="1"/>
          </p:cNvSpPr>
          <p:nvPr/>
        </p:nvSpPr>
        <p:spPr>
          <a:xfrm>
            <a:off x="590550" y="74295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下列项目不是单元测试可替代的检查；需要真实 NCCL、真实调度延迟与多维并行拓扑</a:t>
            </a:r>
          </a:p>
        </p:txBody>
      </p:sp>
      <p:sp>
        <p:nvSpPr>
          <p:cNvPr id="5" name="直线连接符 4">
            <a:extLst>
              <a:ext uri="{FF2B5EF4-FFF2-40B4-BE49-F238E27FC236}">
                <a16:creationId xmlns:a16="http://schemas.microsoft.com/office/drawing/2014/main" id="{783D3511-360E-43E4-8943-260F034709C3}"/>
              </a:ext>
            </a:extLst>
          </p:cNvPr>
          <p:cNvSpPr>
            <a:spLocks noGrp="1"/>
          </p:cNvSpPr>
          <p:nvPr/>
        </p:nvSpPr>
        <p:spPr>
          <a:xfrm>
            <a:off x="400050" y="1047750"/>
            <a:ext cx="11239500" cy="0"/>
          </a:xfrm>
          <a:prstGeom prst="line">
            <a:avLst/>
          </a:prstGeom>
          <a:noFill/>
          <a:ln w="9525">
            <a:solidFill>
              <a:srgbClr val="D0D5DD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477A320-F75E-4151-805C-505DBB46115C}"/>
              </a:ext>
            </a:extLst>
          </p:cNvPr>
          <p:cNvSpPr>
            <a:spLocks noGrp="1"/>
          </p:cNvSpPr>
          <p:nvPr/>
        </p:nvSpPr>
        <p:spPr>
          <a:xfrm>
            <a:off x="552450" y="1352550"/>
            <a:ext cx="5048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575" b="1">
                <a:solidFill>
                  <a:srgbClr val="156082"/>
                </a:solidFill>
              </a:defRPr>
            </a:pPr>
            <a:r>
              <a:rPr sz="1575" b="1">
                <a:solidFill>
                  <a:srgbClr val="156082"/>
                </a:solidFill>
              </a:rPr>
              <a:t>拓扑与故障覆盖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E65AD51-6AC5-4778-A34C-DAE44CA13BC8}"/>
              </a:ext>
            </a:extLst>
          </p:cNvPr>
          <p:cNvSpPr>
            <a:spLocks noGrp="1"/>
          </p:cNvSpPr>
          <p:nvPr/>
        </p:nvSpPr>
        <p:spPr>
          <a:xfrm>
            <a:off x="6153150" y="1352550"/>
            <a:ext cx="5048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575" b="1">
                <a:solidFill>
                  <a:srgbClr val="196B24"/>
                </a:solidFill>
              </a:defRPr>
            </a:pPr>
            <a:r>
              <a:rPr sz="1575" b="1" dirty="0" err="1">
                <a:solidFill>
                  <a:srgbClr val="196B24"/>
                </a:solidFill>
              </a:rPr>
              <a:t>正确性与无故障不变量</a:t>
            </a:r>
            <a:endParaRPr sz="1575" b="1" dirty="0">
              <a:solidFill>
                <a:srgbClr val="196B24"/>
              </a:solidFill>
            </a:endParaRPr>
          </a:p>
        </p:txBody>
      </p:sp>
      <p:sp>
        <p:nvSpPr>
          <p:cNvPr id="8" name="直线连接符 7">
            <a:extLst>
              <a:ext uri="{FF2B5EF4-FFF2-40B4-BE49-F238E27FC236}">
                <a16:creationId xmlns:a16="http://schemas.microsoft.com/office/drawing/2014/main" id="{7A2EE1C6-ECD8-4838-8BCF-497C932338EA}"/>
              </a:ext>
            </a:extLst>
          </p:cNvPr>
          <p:cNvSpPr>
            <a:spLocks noGrp="1"/>
          </p:cNvSpPr>
          <p:nvPr/>
        </p:nvSpPr>
        <p:spPr>
          <a:xfrm>
            <a:off x="552450" y="1724025"/>
            <a:ext cx="5048250" cy="0"/>
          </a:xfrm>
          <a:prstGeom prst="line">
            <a:avLst/>
          </a:prstGeom>
          <a:noFill/>
          <a:ln w="19050">
            <a:solidFill>
              <a:srgbClr val="156082"/>
            </a:solidFill>
            <a:prstDash val="solid"/>
          </a:ln>
        </p:spPr>
      </p:sp>
      <p:sp>
        <p:nvSpPr>
          <p:cNvPr id="9" name="直线连接符 8">
            <a:extLst>
              <a:ext uri="{FF2B5EF4-FFF2-40B4-BE49-F238E27FC236}">
                <a16:creationId xmlns:a16="http://schemas.microsoft.com/office/drawing/2014/main" id="{A3332077-B949-4D7B-A9C5-A2B661B43058}"/>
              </a:ext>
            </a:extLst>
          </p:cNvPr>
          <p:cNvSpPr>
            <a:spLocks noGrp="1"/>
          </p:cNvSpPr>
          <p:nvPr/>
        </p:nvSpPr>
        <p:spPr>
          <a:xfrm>
            <a:off x="6153150" y="1724025"/>
            <a:ext cx="5048250" cy="0"/>
          </a:xfrm>
          <a:prstGeom prst="line">
            <a:avLst/>
          </a:prstGeom>
          <a:noFill/>
          <a:ln w="19050">
            <a:solidFill>
              <a:srgbClr val="196B24"/>
            </a:solidFill>
            <a:prstDash val="solid"/>
          </a:ln>
        </p:spPr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0AC47C70-3E4D-4187-B60F-C54B77640048}"/>
              </a:ext>
            </a:extLst>
          </p:cNvPr>
          <p:cNvSpPr>
            <a:spLocks noGrp="1"/>
          </p:cNvSpPr>
          <p:nvPr/>
        </p:nvSpPr>
        <p:spPr>
          <a:xfrm>
            <a:off x="571500" y="1981200"/>
            <a:ext cx="438150" cy="438150"/>
          </a:xfrm>
          <a:prstGeom prst="ellipse">
            <a:avLst/>
          </a:prstGeom>
          <a:solidFill>
            <a:srgbClr val="E8F2F6"/>
          </a:solidFill>
          <a:ln w="9525">
            <a:solidFill>
              <a:srgbClr val="156082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125" b="1">
                <a:solidFill>
                  <a:srgbClr val="156082"/>
                </a:solidFill>
              </a:defRPr>
            </a:pPr>
            <a:r>
              <a:rPr sz="1125" b="1">
                <a:solidFill>
                  <a:srgbClr val="156082"/>
                </a:solidFill>
              </a:rPr>
              <a:t>01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A57FC38-7B1C-455D-A4AC-FDF6D58DD1A8}"/>
              </a:ext>
            </a:extLst>
          </p:cNvPr>
          <p:cNvSpPr>
            <a:spLocks noGrp="1"/>
          </p:cNvSpPr>
          <p:nvPr/>
        </p:nvSpPr>
        <p:spPr>
          <a:xfrm>
            <a:off x="1162050" y="1962150"/>
            <a:ext cx="1676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rank 位置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877A8AE-0177-45AA-9C6F-1AF6B9683473}"/>
              </a:ext>
            </a:extLst>
          </p:cNvPr>
          <p:cNvSpPr>
            <a:spLocks noGrp="1"/>
          </p:cNvSpPr>
          <p:nvPr/>
        </p:nvSpPr>
        <p:spPr>
          <a:xfrm>
            <a:off x="1162050" y="2247900"/>
            <a:ext cx="423862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163" b="0">
                <a:solidFill>
                  <a:srgbClr val="263238"/>
                </a:solidFill>
              </a:defRPr>
            </a:pPr>
            <a:r>
              <a:rPr sz="1163" b="0" dirty="0" err="1">
                <a:solidFill>
                  <a:srgbClr val="263238"/>
                </a:solidFill>
              </a:rPr>
              <a:t>故障</a:t>
            </a:r>
            <a:r>
              <a:rPr sz="1163" b="0" dirty="0">
                <a:solidFill>
                  <a:srgbClr val="263238"/>
                </a:solidFill>
              </a:rPr>
              <a:t> rank </a:t>
            </a:r>
            <a:r>
              <a:rPr sz="1163" b="0" dirty="0" err="1">
                <a:solidFill>
                  <a:srgbClr val="263238"/>
                </a:solidFill>
              </a:rPr>
              <a:t>覆盖每个</a:t>
            </a:r>
            <a:r>
              <a:rPr sz="1163" b="0" dirty="0">
                <a:solidFill>
                  <a:srgbClr val="263238"/>
                </a:solidFill>
              </a:rPr>
              <a:t> CP、PP </a:t>
            </a:r>
            <a:r>
              <a:rPr sz="1163" b="0" dirty="0" err="1">
                <a:solidFill>
                  <a:srgbClr val="263238"/>
                </a:solidFill>
              </a:rPr>
              <a:t>stage、EP</a:t>
            </a:r>
            <a:r>
              <a:rPr sz="1163" b="0" dirty="0">
                <a:solidFill>
                  <a:srgbClr val="263238"/>
                </a:solidFill>
              </a:rPr>
              <a:t> rank </a:t>
            </a:r>
            <a:r>
              <a:rPr sz="1163" b="0" dirty="0" err="1">
                <a:solidFill>
                  <a:srgbClr val="263238"/>
                </a:solidFill>
              </a:rPr>
              <a:t>与</a:t>
            </a:r>
            <a:r>
              <a:rPr sz="1163" b="0" dirty="0">
                <a:solidFill>
                  <a:srgbClr val="263238"/>
                </a:solidFill>
              </a:rPr>
              <a:t> node local rank。</a:t>
            </a: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10D8F5A3-ED2E-44E0-8B96-F0ADB067FE04}"/>
              </a:ext>
            </a:extLst>
          </p:cNvPr>
          <p:cNvSpPr>
            <a:spLocks noGrp="1"/>
          </p:cNvSpPr>
          <p:nvPr/>
        </p:nvSpPr>
        <p:spPr>
          <a:xfrm>
            <a:off x="571500" y="2952750"/>
            <a:ext cx="438150" cy="438150"/>
          </a:xfrm>
          <a:prstGeom prst="ellipse">
            <a:avLst/>
          </a:prstGeom>
          <a:solidFill>
            <a:srgbClr val="E8F2F6"/>
          </a:solidFill>
          <a:ln w="9525">
            <a:solidFill>
              <a:srgbClr val="156082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125" b="1">
                <a:solidFill>
                  <a:srgbClr val="156082"/>
                </a:solidFill>
              </a:defRPr>
            </a:pPr>
            <a:r>
              <a:rPr sz="1125" b="1">
                <a:solidFill>
                  <a:srgbClr val="156082"/>
                </a:solidFill>
              </a:rPr>
              <a:t>02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E7FD56D-FDDF-4AFB-8BCF-EB0CEAF36EB7}"/>
              </a:ext>
            </a:extLst>
          </p:cNvPr>
          <p:cNvSpPr>
            <a:spLocks noGrp="1"/>
          </p:cNvSpPr>
          <p:nvPr/>
        </p:nvSpPr>
        <p:spPr>
          <a:xfrm>
            <a:off x="1162050" y="2933700"/>
            <a:ext cx="1676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故障规模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C7159CD-4976-4057-B126-0658EDD54265}"/>
              </a:ext>
            </a:extLst>
          </p:cNvPr>
          <p:cNvSpPr>
            <a:spLocks noGrp="1"/>
          </p:cNvSpPr>
          <p:nvPr/>
        </p:nvSpPr>
        <p:spPr>
          <a:xfrm>
            <a:off x="1162050" y="3219450"/>
            <a:ext cx="423862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163" b="0">
                <a:solidFill>
                  <a:srgbClr val="263238"/>
                </a:solidFill>
              </a:defRPr>
            </a:pPr>
            <a:r>
              <a:rPr sz="1163" b="0" dirty="0" err="1">
                <a:solidFill>
                  <a:srgbClr val="263238"/>
                </a:solidFill>
              </a:rPr>
              <a:t>覆盖多卡同时故障与整节点故障；验证热替换边界及</a:t>
            </a:r>
            <a:r>
              <a:rPr sz="1163" b="0" dirty="0">
                <a:solidFill>
                  <a:srgbClr val="263238"/>
                </a:solidFill>
              </a:rPr>
              <a:t> checkpoint fallback。</a:t>
            </a: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EBC66E4D-1627-4531-BE4F-070C5D7F189E}"/>
              </a:ext>
            </a:extLst>
          </p:cNvPr>
          <p:cNvSpPr>
            <a:spLocks noGrp="1"/>
          </p:cNvSpPr>
          <p:nvPr/>
        </p:nvSpPr>
        <p:spPr>
          <a:xfrm>
            <a:off x="571500" y="3924300"/>
            <a:ext cx="438150" cy="438150"/>
          </a:xfrm>
          <a:prstGeom prst="ellipse">
            <a:avLst/>
          </a:prstGeom>
          <a:solidFill>
            <a:srgbClr val="E8F2F6"/>
          </a:solidFill>
          <a:ln w="9525">
            <a:solidFill>
              <a:srgbClr val="156082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125" b="1">
                <a:solidFill>
                  <a:srgbClr val="156082"/>
                </a:solidFill>
              </a:defRPr>
            </a:pPr>
            <a:r>
              <a:rPr sz="1125" b="1">
                <a:solidFill>
                  <a:srgbClr val="156082"/>
                </a:solidFill>
              </a:rPr>
              <a:t>03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6DE646A-1E2C-432B-BC22-37613A8BBAA4}"/>
              </a:ext>
            </a:extLst>
          </p:cNvPr>
          <p:cNvSpPr>
            <a:spLocks noGrp="1"/>
          </p:cNvSpPr>
          <p:nvPr/>
        </p:nvSpPr>
        <p:spPr>
          <a:xfrm>
            <a:off x="1162050" y="3905250"/>
            <a:ext cx="1676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optional groups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BDEE491-2722-47EA-81C9-DD6E5F41C2BC}"/>
              </a:ext>
            </a:extLst>
          </p:cNvPr>
          <p:cNvSpPr>
            <a:spLocks noGrp="1"/>
          </p:cNvSpPr>
          <p:nvPr/>
        </p:nvSpPr>
        <p:spPr>
          <a:xfrm>
            <a:off x="1162050" y="4191000"/>
            <a:ext cx="423862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163" b="0">
                <a:solidFill>
                  <a:srgbClr val="263238"/>
                </a:solidFill>
              </a:defRPr>
            </a:pPr>
            <a:r>
              <a:rPr sz="1163" b="0" dirty="0" err="1">
                <a:solidFill>
                  <a:srgbClr val="263238"/>
                </a:solidFill>
              </a:rPr>
              <a:t>并行度为</a:t>
            </a:r>
            <a:r>
              <a:rPr sz="1163" b="0" dirty="0">
                <a:solidFill>
                  <a:srgbClr val="263238"/>
                </a:solidFill>
              </a:rPr>
              <a:t> 1 </a:t>
            </a:r>
            <a:r>
              <a:rPr sz="1163" b="0" dirty="0" err="1">
                <a:solidFill>
                  <a:srgbClr val="263238"/>
                </a:solidFill>
              </a:rPr>
              <a:t>时，所有</a:t>
            </a:r>
            <a:r>
              <a:rPr sz="1163" b="0" dirty="0">
                <a:solidFill>
                  <a:srgbClr val="263238"/>
                </a:solidFill>
              </a:rPr>
              <a:t> optional group </a:t>
            </a:r>
            <a:r>
              <a:rPr sz="1163" b="0" dirty="0" err="1">
                <a:solidFill>
                  <a:srgbClr val="263238"/>
                </a:solidFill>
              </a:rPr>
              <a:t>都能跳过且不影响初始化与恢复</a:t>
            </a:r>
            <a:r>
              <a:rPr sz="1163" b="0" dirty="0">
                <a:solidFill>
                  <a:srgbClr val="263238"/>
                </a:solidFill>
              </a:rPr>
              <a:t>。</a:t>
            </a: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39A0805B-2A5C-41D6-AEA2-32E3C486210D}"/>
              </a:ext>
            </a:extLst>
          </p:cNvPr>
          <p:cNvSpPr>
            <a:spLocks noGrp="1"/>
          </p:cNvSpPr>
          <p:nvPr/>
        </p:nvSpPr>
        <p:spPr>
          <a:xfrm>
            <a:off x="571500" y="4895850"/>
            <a:ext cx="438150" cy="438150"/>
          </a:xfrm>
          <a:prstGeom prst="ellipse">
            <a:avLst/>
          </a:prstGeom>
          <a:solidFill>
            <a:srgbClr val="E8F2F6"/>
          </a:solidFill>
          <a:ln w="9525">
            <a:solidFill>
              <a:srgbClr val="156082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125" b="1">
                <a:solidFill>
                  <a:srgbClr val="156082"/>
                </a:solidFill>
              </a:defRPr>
            </a:pPr>
            <a:r>
              <a:rPr sz="1125" b="1">
                <a:solidFill>
                  <a:srgbClr val="156082"/>
                </a:solidFill>
              </a:rPr>
              <a:t>04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04E950C-F762-427E-930D-7D92291DB3EB}"/>
              </a:ext>
            </a:extLst>
          </p:cNvPr>
          <p:cNvSpPr>
            <a:spLocks noGrp="1"/>
          </p:cNvSpPr>
          <p:nvPr/>
        </p:nvSpPr>
        <p:spPr>
          <a:xfrm>
            <a:off x="1162050" y="4876800"/>
            <a:ext cx="1676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故障时机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52CDD77-B727-43FF-B9F6-F51D1F770BC4}"/>
              </a:ext>
            </a:extLst>
          </p:cNvPr>
          <p:cNvSpPr>
            <a:spLocks noGrp="1"/>
          </p:cNvSpPr>
          <p:nvPr/>
        </p:nvSpPr>
        <p:spPr>
          <a:xfrm>
            <a:off x="1162050" y="5162550"/>
            <a:ext cx="423862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163" b="0">
                <a:solidFill>
                  <a:srgbClr val="263238"/>
                </a:solidFill>
              </a:defRPr>
            </a:pPr>
            <a:r>
              <a:rPr sz="1163" b="0">
                <a:solidFill>
                  <a:srgbClr val="263238"/>
                </a:solidFill>
              </a:rPr>
              <a:t>覆盖 forward、backward、optimizer before / after、checkpoint commit 前后。</a:t>
            </a: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69B4A2A7-4634-4017-952B-946190CBD7B8}"/>
              </a:ext>
            </a:extLst>
          </p:cNvPr>
          <p:cNvSpPr>
            <a:spLocks noGrp="1"/>
          </p:cNvSpPr>
          <p:nvPr/>
        </p:nvSpPr>
        <p:spPr>
          <a:xfrm>
            <a:off x="6172200" y="1981200"/>
            <a:ext cx="438150" cy="438150"/>
          </a:xfrm>
          <a:prstGeom prst="ellipse">
            <a:avLst/>
          </a:prstGeom>
          <a:solidFill>
            <a:srgbClr val="EAF5EC"/>
          </a:solidFill>
          <a:ln w="9525">
            <a:solidFill>
              <a:srgbClr val="196B24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125" b="1">
                <a:solidFill>
                  <a:srgbClr val="196B24"/>
                </a:solidFill>
              </a:defRPr>
            </a:pPr>
            <a:r>
              <a:rPr sz="1125" b="1">
                <a:solidFill>
                  <a:srgbClr val="196B24"/>
                </a:solidFill>
              </a:rPr>
              <a:t>05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E3C78D5-02D4-49B6-A9EF-3A87834D29AD}"/>
              </a:ext>
            </a:extLst>
          </p:cNvPr>
          <p:cNvSpPr>
            <a:spLocks noGrp="1"/>
          </p:cNvSpPr>
          <p:nvPr/>
        </p:nvSpPr>
        <p:spPr>
          <a:xfrm>
            <a:off x="6762750" y="1962150"/>
            <a:ext cx="1952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重复恢复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E5409B3-26E8-43F4-B016-3CEBC747B688}"/>
              </a:ext>
            </a:extLst>
          </p:cNvPr>
          <p:cNvSpPr>
            <a:spLocks noGrp="1"/>
          </p:cNvSpPr>
          <p:nvPr/>
        </p:nvSpPr>
        <p:spPr>
          <a:xfrm>
            <a:off x="6762750" y="2247900"/>
            <a:ext cx="4286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163" b="0">
                <a:solidFill>
                  <a:srgbClr val="263238"/>
                </a:solidFill>
              </a:defRPr>
            </a:pPr>
            <a:r>
              <a:rPr sz="1163" b="0">
                <a:solidFill>
                  <a:srgbClr val="263238"/>
                </a:solidFill>
              </a:rPr>
              <a:t>第一次恢复成功后再次故障；验证 recovery_epoch、旧 transport 清理与重复回退。</a:t>
            </a:r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AFBBF5C3-F8AF-43EE-A08D-1D27669C8A30}"/>
              </a:ext>
            </a:extLst>
          </p:cNvPr>
          <p:cNvSpPr>
            <a:spLocks noGrp="1"/>
          </p:cNvSpPr>
          <p:nvPr/>
        </p:nvSpPr>
        <p:spPr>
          <a:xfrm>
            <a:off x="6172200" y="2952750"/>
            <a:ext cx="438150" cy="438150"/>
          </a:xfrm>
          <a:prstGeom prst="ellipse">
            <a:avLst/>
          </a:prstGeom>
          <a:solidFill>
            <a:srgbClr val="EAF5EC"/>
          </a:solidFill>
          <a:ln w="9525">
            <a:solidFill>
              <a:srgbClr val="196B24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125" b="1">
                <a:solidFill>
                  <a:srgbClr val="196B24"/>
                </a:solidFill>
              </a:defRPr>
            </a:pPr>
            <a:r>
              <a:rPr sz="1125" b="1">
                <a:solidFill>
                  <a:srgbClr val="196B24"/>
                </a:solidFill>
              </a:rPr>
              <a:t>06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A522702-42A0-42D7-BD90-E543BA18B41E}"/>
              </a:ext>
            </a:extLst>
          </p:cNvPr>
          <p:cNvSpPr>
            <a:spLocks noGrp="1"/>
          </p:cNvSpPr>
          <p:nvPr/>
        </p:nvSpPr>
        <p:spPr>
          <a:xfrm>
            <a:off x="6762750" y="2933700"/>
            <a:ext cx="1952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资源调度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B8941FB-A2B7-42A6-950F-7768E3C994C6}"/>
              </a:ext>
            </a:extLst>
          </p:cNvPr>
          <p:cNvSpPr>
            <a:spLocks noGrp="1"/>
          </p:cNvSpPr>
          <p:nvPr/>
        </p:nvSpPr>
        <p:spPr>
          <a:xfrm>
            <a:off x="6762750" y="3219450"/>
            <a:ext cx="4286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163" b="0">
                <a:solidFill>
                  <a:srgbClr val="263238"/>
                </a:solidFill>
              </a:defRPr>
            </a:pPr>
            <a:r>
              <a:rPr lang="zh-CN" altLang="en-US" sz="1163" dirty="0">
                <a:solidFill>
                  <a:srgbClr val="263238"/>
                </a:solidFill>
              </a:rPr>
              <a:t>不能用</a:t>
            </a:r>
            <a:r>
              <a:rPr lang="en-US" altLang="zh-CN" sz="1163" dirty="0" err="1">
                <a:solidFill>
                  <a:srgbClr val="263238"/>
                </a:solidFill>
              </a:rPr>
              <a:t>torchrun</a:t>
            </a:r>
            <a:r>
              <a:rPr lang="zh-CN" altLang="en-US" sz="1163" dirty="0">
                <a:solidFill>
                  <a:srgbClr val="263238"/>
                </a:solidFill>
              </a:rPr>
              <a:t>启动，起任务可能还要结合蚂蚁这边的业务</a:t>
            </a:r>
            <a:endParaRPr sz="1163" b="0" dirty="0">
              <a:solidFill>
                <a:srgbClr val="263238"/>
              </a:solidFill>
            </a:endParaRPr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E7599BAF-1FCC-4976-8B73-BFACC7A7CBEF}"/>
              </a:ext>
            </a:extLst>
          </p:cNvPr>
          <p:cNvSpPr>
            <a:spLocks noGrp="1"/>
          </p:cNvSpPr>
          <p:nvPr/>
        </p:nvSpPr>
        <p:spPr>
          <a:xfrm>
            <a:off x="6172200" y="3924300"/>
            <a:ext cx="438150" cy="438150"/>
          </a:xfrm>
          <a:prstGeom prst="ellipse">
            <a:avLst/>
          </a:prstGeom>
          <a:solidFill>
            <a:srgbClr val="EAF5EC"/>
          </a:solidFill>
          <a:ln w="9525">
            <a:solidFill>
              <a:srgbClr val="196B24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125" b="1">
                <a:solidFill>
                  <a:srgbClr val="196B24"/>
                </a:solidFill>
              </a:defRPr>
            </a:pPr>
            <a:r>
              <a:rPr sz="1125" b="1">
                <a:solidFill>
                  <a:srgbClr val="196B24"/>
                </a:solidFill>
              </a:rPr>
              <a:t>07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358B01CD-8BB8-4F79-B96F-D53F74348F0F}"/>
              </a:ext>
            </a:extLst>
          </p:cNvPr>
          <p:cNvSpPr>
            <a:spLocks noGrp="1"/>
          </p:cNvSpPr>
          <p:nvPr/>
        </p:nvSpPr>
        <p:spPr>
          <a:xfrm>
            <a:off x="6762750" y="3905250"/>
            <a:ext cx="1952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275" b="1">
                <a:solidFill>
                  <a:srgbClr val="111827"/>
                </a:solidFill>
              </a:defRPr>
            </a:pPr>
            <a:r>
              <a:rPr lang="zh-CN" altLang="en-US" sz="1275" b="1" dirty="0">
                <a:solidFill>
                  <a:srgbClr val="111827"/>
                </a:solidFill>
              </a:rPr>
              <a:t>故障逻辑</a:t>
            </a:r>
            <a:endParaRPr sz="1275" b="1" dirty="0">
              <a:solidFill>
                <a:srgbClr val="111827"/>
              </a:solidFill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C910D00-0CCB-4F65-8389-E994171A9D71}"/>
              </a:ext>
            </a:extLst>
          </p:cNvPr>
          <p:cNvSpPr>
            <a:spLocks noGrp="1"/>
          </p:cNvSpPr>
          <p:nvPr/>
        </p:nvSpPr>
        <p:spPr>
          <a:xfrm>
            <a:off x="6762750" y="4191000"/>
            <a:ext cx="4286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163" b="0">
                <a:solidFill>
                  <a:srgbClr val="263238"/>
                </a:solidFill>
              </a:defRPr>
            </a:pPr>
            <a:r>
              <a:rPr lang="zh-CN" altLang="en-US" sz="1163" dirty="0">
                <a:solidFill>
                  <a:srgbClr val="263238"/>
                </a:solidFill>
              </a:rPr>
              <a:t>目前是注入故障，直接</a:t>
            </a:r>
            <a:r>
              <a:rPr lang="en-US" altLang="zh-CN" sz="1163" dirty="0">
                <a:solidFill>
                  <a:srgbClr val="263238"/>
                </a:solidFill>
              </a:rPr>
              <a:t>kill</a:t>
            </a:r>
            <a:r>
              <a:rPr lang="zh-CN" altLang="en-US" sz="1163" dirty="0">
                <a:solidFill>
                  <a:srgbClr val="263238"/>
                </a:solidFill>
              </a:rPr>
              <a:t> </a:t>
            </a:r>
            <a:r>
              <a:rPr lang="en-US" altLang="zh-CN" sz="1163" dirty="0">
                <a:solidFill>
                  <a:srgbClr val="263238"/>
                </a:solidFill>
              </a:rPr>
              <a:t>worker</a:t>
            </a:r>
            <a:r>
              <a:rPr lang="zh-CN" altLang="en-US" sz="1163" dirty="0">
                <a:solidFill>
                  <a:srgbClr val="263238"/>
                </a:solidFill>
              </a:rPr>
              <a:t>进程</a:t>
            </a:r>
            <a:endParaRPr sz="1163" b="0" dirty="0">
              <a:solidFill>
                <a:srgbClr val="263238"/>
              </a:solidFill>
            </a:endParaRPr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F5B17BBD-BAFB-459D-8ED2-C02BC3F3A3C1}"/>
              </a:ext>
            </a:extLst>
          </p:cNvPr>
          <p:cNvSpPr>
            <a:spLocks noGrp="1"/>
          </p:cNvSpPr>
          <p:nvPr/>
        </p:nvSpPr>
        <p:spPr>
          <a:xfrm>
            <a:off x="6172200" y="4895850"/>
            <a:ext cx="438150" cy="438150"/>
          </a:xfrm>
          <a:prstGeom prst="ellipse">
            <a:avLst/>
          </a:prstGeom>
          <a:solidFill>
            <a:srgbClr val="EAF5EC"/>
          </a:solidFill>
          <a:ln w="9525">
            <a:solidFill>
              <a:srgbClr val="196B24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125" b="1">
                <a:solidFill>
                  <a:srgbClr val="196B24"/>
                </a:solidFill>
              </a:defRPr>
            </a:pPr>
            <a:r>
              <a:rPr sz="1125" b="1">
                <a:solidFill>
                  <a:srgbClr val="196B24"/>
                </a:solidFill>
              </a:rPr>
              <a:t>08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064EC53-412F-4DE7-85DA-A10051928754}"/>
              </a:ext>
            </a:extLst>
          </p:cNvPr>
          <p:cNvSpPr>
            <a:spLocks noGrp="1"/>
          </p:cNvSpPr>
          <p:nvPr/>
        </p:nvSpPr>
        <p:spPr>
          <a:xfrm>
            <a:off x="6762750" y="4876800"/>
            <a:ext cx="1952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正常训练零扰动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1407C4B0-51B9-411C-AC10-9095D7D69530}"/>
              </a:ext>
            </a:extLst>
          </p:cNvPr>
          <p:cNvSpPr>
            <a:spLocks noGrp="1"/>
          </p:cNvSpPr>
          <p:nvPr/>
        </p:nvSpPr>
        <p:spPr>
          <a:xfrm>
            <a:off x="6762750" y="5162550"/>
            <a:ext cx="4286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163" b="0">
                <a:solidFill>
                  <a:srgbClr val="263238"/>
                </a:solidFill>
              </a:defRPr>
            </a:pPr>
            <a:r>
              <a:rPr sz="1163" b="0" dirty="0" err="1">
                <a:solidFill>
                  <a:srgbClr val="263238"/>
                </a:solidFill>
              </a:rPr>
              <a:t>所有恢复开关打开但无故障时：无额外</a:t>
            </a:r>
            <a:r>
              <a:rPr sz="1163" b="0" dirty="0">
                <a:solidFill>
                  <a:srgbClr val="263238"/>
                </a:solidFill>
              </a:rPr>
              <a:t> </a:t>
            </a:r>
            <a:r>
              <a:rPr sz="1163" b="0" dirty="0" err="1">
                <a:solidFill>
                  <a:srgbClr val="263238"/>
                </a:solidFill>
              </a:rPr>
              <a:t>barrier、无</a:t>
            </a:r>
            <a:r>
              <a:rPr sz="1163" b="0" dirty="0">
                <a:solidFill>
                  <a:srgbClr val="263238"/>
                </a:solidFill>
              </a:rPr>
              <a:t> iteration </a:t>
            </a:r>
            <a:r>
              <a:rPr sz="1163" b="0" dirty="0" err="1">
                <a:solidFill>
                  <a:srgbClr val="263238"/>
                </a:solidFill>
              </a:rPr>
              <a:t>回归、无额外</a:t>
            </a:r>
            <a:r>
              <a:rPr sz="1163" b="0" dirty="0">
                <a:solidFill>
                  <a:srgbClr val="263238"/>
                </a:solidFill>
              </a:rPr>
              <a:t> NCCL group creation。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A5C793BD-C9B7-412C-94CD-963C6B32333D}"/>
              </a:ext>
            </a:extLst>
          </p:cNvPr>
          <p:cNvSpPr>
            <a:spLocks noGrp="1"/>
          </p:cNvSpPr>
          <p:nvPr/>
        </p:nvSpPr>
        <p:spPr>
          <a:xfrm>
            <a:off x="1924050" y="5886450"/>
            <a:ext cx="912495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275" b="1">
                <a:solidFill>
                  <a:srgbClr val="111827"/>
                </a:solidFill>
              </a:defRPr>
            </a:pPr>
            <a:endParaRPr sz="1275" b="1" dirty="0">
              <a:solidFill>
                <a:srgbClr val="111827"/>
              </a:solidFill>
            </a:endParaRPr>
          </a:p>
        </p:txBody>
      </p:sp>
      <p:sp>
        <p:nvSpPr>
          <p:cNvPr id="36" name="直线连接符 35">
            <a:extLst>
              <a:ext uri="{FF2B5EF4-FFF2-40B4-BE49-F238E27FC236}">
                <a16:creationId xmlns:a16="http://schemas.microsoft.com/office/drawing/2014/main" id="{38F7EE92-8EDB-4590-8EC5-967E977B0874}"/>
              </a:ext>
            </a:extLst>
          </p:cNvPr>
          <p:cNvSpPr>
            <a:spLocks noGrp="1"/>
          </p:cNvSpPr>
          <p:nvPr/>
        </p:nvSpPr>
        <p:spPr>
          <a:xfrm>
            <a:off x="400050" y="6486525"/>
            <a:ext cx="11239500" cy="0"/>
          </a:xfrm>
          <a:prstGeom prst="line">
            <a:avLst/>
          </a:prstGeom>
          <a:noFill/>
          <a:ln w="9525">
            <a:solidFill>
              <a:srgbClr val="E4E7EC"/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CEAA3409-7A18-43FD-8F08-6BA76EB18306}"/>
              </a:ext>
            </a:extLst>
          </p:cNvPr>
          <p:cNvSpPr>
            <a:spLocks noGrp="1"/>
          </p:cNvSpPr>
          <p:nvPr/>
        </p:nvSpPr>
        <p:spPr>
          <a:xfrm>
            <a:off x="419100" y="6543675"/>
            <a:ext cx="6000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825" b="0">
                <a:solidFill>
                  <a:srgbClr val="98A2B3"/>
                </a:solidFill>
              </a:defRPr>
            </a:pPr>
            <a:r>
              <a:rPr sz="825" b="0">
                <a:solidFill>
                  <a:srgbClr val="98A2B3"/>
                </a:solidFill>
              </a:rPr>
              <a:t>MoEGambit  |  real-cluster validation matrix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4FF0596E-5143-A9FF-33FF-9EB7129596AD}"/>
              </a:ext>
            </a:extLst>
          </p:cNvPr>
          <p:cNvSpPr txBox="1"/>
          <p:nvPr/>
        </p:nvSpPr>
        <p:spPr>
          <a:xfrm>
            <a:off x="1162050" y="5753100"/>
            <a:ext cx="58304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B</a:t>
            </a:r>
            <a:r>
              <a:rPr kumimoji="1" lang="zh-CN" altLang="en-US" dirty="0"/>
              <a:t>卡特性</a:t>
            </a:r>
          </a:p>
        </p:txBody>
      </p:sp>
    </p:spTree>
    <p:extLst>
      <p:ext uri="{BB962C8B-B14F-4D97-AF65-F5344CB8AC3E}">
        <p14:creationId xmlns:p14="http://schemas.microsoft.com/office/powerpoint/2010/main" val="2628931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668</TotalTime>
  <Words>2397</Words>
  <Application>Microsoft Macintosh PowerPoint</Application>
  <DocSecurity>0</DocSecurity>
  <PresentationFormat>宽屏</PresentationFormat>
  <Paragraphs>375</Paragraphs>
  <Slides>13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8" baseType="lpstr">
      <vt:lpstr>等线</vt:lpstr>
      <vt:lpstr>等线 Light</vt:lpstr>
      <vt:lpstr>Arial</vt:lpstr>
      <vt:lpstr>Courier New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zds</cp:lastModifiedBy>
  <cp:revision>8</cp:revision>
  <dcterms:created xsi:type="dcterms:W3CDTF">2026-08-05T11:01:55Z</dcterms:created>
  <dcterms:modified xsi:type="dcterms:W3CDTF">2026-08-06T02:02:46Z</dcterms:modified>
</cp:coreProperties>
</file>