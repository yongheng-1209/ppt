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5d00b0fca743f6" /><Relationship Type="http://schemas.openxmlformats.org/officeDocument/2006/relationships/extended-properties" Target="/docProps/app.xml" Id="Rab604d6713c0415e" /><Relationship Type="http://schemas.openxmlformats.org/officeDocument/2006/relationships/officeDocument" Target="/ppt/presentation.xml" Id="R65d1f5bb22a74b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342e0fe8bd4383"/>
  </p:sldMasterIdLst>
  <p:notesMasterIdLst>
    <p:notesMasterId xmlns:r="http://schemas.openxmlformats.org/officeDocument/2006/relationships" r:id="R98d7b50fb1244dfd"/>
  </p:notesMasterIdLst>
  <p:sldIdLst>
    <p:sldId xmlns:r="http://schemas.openxmlformats.org/officeDocument/2006/relationships" id="256" r:id="Rb5ee6ea235534542"/>
    <p:sldId xmlns:r="http://schemas.openxmlformats.org/officeDocument/2006/relationships" id="257" r:id="R5a267d017d194e25"/>
    <p:sldId xmlns:r="http://schemas.openxmlformats.org/officeDocument/2006/relationships" id="258" r:id="R53a534c7de254da1"/>
    <p:sldId xmlns:r="http://schemas.openxmlformats.org/officeDocument/2006/relationships" id="259" r:id="R6a687a096a7b4361"/>
    <p:sldId xmlns:r="http://schemas.openxmlformats.org/officeDocument/2006/relationships" id="260" r:id="Rdbba1fd43d234ddf"/>
    <p:sldId xmlns:r="http://schemas.openxmlformats.org/officeDocument/2006/relationships" id="261" r:id="R4ef8d34d7fbe47cb"/>
    <p:sldId xmlns:r="http://schemas.openxmlformats.org/officeDocument/2006/relationships" id="262" r:id="R35c6d31550834282"/>
    <p:sldId xmlns:r="http://schemas.openxmlformats.org/officeDocument/2006/relationships" id="263" r:id="Re4699eca9f1748ca"/>
    <p:sldId xmlns:r="http://schemas.openxmlformats.org/officeDocument/2006/relationships" id="264" r:id="R16f3a5ffc3994b7e"/>
    <p:sldId xmlns:r="http://schemas.openxmlformats.org/officeDocument/2006/relationships" id="265" r:id="R8a3e6e29c9174e52"/>
    <p:sldId xmlns:r="http://schemas.openxmlformats.org/officeDocument/2006/relationships" id="266" r:id="R368f029ffe894833"/>
    <p:sldId xmlns:r="http://schemas.openxmlformats.org/officeDocument/2006/relationships" id="267" r:id="R01841232bb104886"/>
    <p:sldId xmlns:r="http://schemas.openxmlformats.org/officeDocument/2006/relationships" id="268" r:id="Ree6418d8777a491e"/>
    <p:sldId xmlns:r="http://schemas.openxmlformats.org/officeDocument/2006/relationships" id="269" r:id="Rc4b659bfbfaf4abe"/>
    <p:sldId xmlns:r="http://schemas.openxmlformats.org/officeDocument/2006/relationships" id="270" r:id="R50b13cc90b0d49f8"/>
    <p:sldId xmlns:r="http://schemas.openxmlformats.org/officeDocument/2006/relationships" id="271" r:id="R4819ed0ae1a84acb"/>
    <p:sldId xmlns:r="http://schemas.openxmlformats.org/officeDocument/2006/relationships" id="272" r:id="R54f167404b4a4ec7"/>
    <p:sldId xmlns:r="http://schemas.openxmlformats.org/officeDocument/2006/relationships" id="273" r:id="Rf956353785dc4645"/>
    <p:sldId xmlns:r="http://schemas.openxmlformats.org/officeDocument/2006/relationships" id="274" r:id="R0075f4e6de5a43ea"/>
    <p:sldId xmlns:r="http://schemas.openxmlformats.org/officeDocument/2006/relationships" id="275" r:id="Rbc13134ea301430e"/>
    <p:sldId xmlns:r="http://schemas.openxmlformats.org/officeDocument/2006/relationships" id="276" r:id="R8473234840754a34"/>
    <p:sldId xmlns:r="http://schemas.openxmlformats.org/officeDocument/2006/relationships" id="277" r:id="R817f029171d94c5c"/>
    <p:sldId xmlns:r="http://schemas.openxmlformats.org/officeDocument/2006/relationships" id="278" r:id="Rebbc5521e1224245"/>
    <p:sldId xmlns:r="http://schemas.openxmlformats.org/officeDocument/2006/relationships" id="279" r:id="R0887e03658e94d8d"/>
    <p:sldId xmlns:r="http://schemas.openxmlformats.org/officeDocument/2006/relationships" id="280" r:id="R1ebf505c0742428d"/>
    <p:sldId xmlns:r="http://schemas.openxmlformats.org/officeDocument/2006/relationships" id="281" r:id="R8812ba48378b495c"/>
    <p:sldId xmlns:r="http://schemas.openxmlformats.org/officeDocument/2006/relationships" id="282" r:id="Rba4293a6a79d4d84"/>
    <p:sldId xmlns:r="http://schemas.openxmlformats.org/officeDocument/2006/relationships" id="283" r:id="Ra981309115e042a0"/>
    <p:sldId xmlns:r="http://schemas.openxmlformats.org/officeDocument/2006/relationships" id="284" r:id="R2476dfbcc68e43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42e0fe8bd4383" /><Relationship Type="http://schemas.openxmlformats.org/officeDocument/2006/relationships/theme" Target="/ppt/theme/theme1.xml" Id="R7ff09c016cf94ced" /><Relationship Type="http://schemas.openxmlformats.org/officeDocument/2006/relationships/notesMaster" Target="/ppt/notesMasters/notesMaster1.xml" Id="R98d7b50fb1244dfd" /><Relationship Type="http://schemas.openxmlformats.org/officeDocument/2006/relationships/presProps" Target="/ppt/presProps.xml" Id="R4c1e5680eedf46cd" /><Relationship Type="http://schemas.openxmlformats.org/officeDocument/2006/relationships/viewProps" Target="/ppt/viewProps.xml" Id="Rdd17ddc2cf2f4732" /><Relationship Type="http://schemas.openxmlformats.org/officeDocument/2006/relationships/tableStyles" Target="/ppt/tableStyles.xml" Id="Rb2976b9443334ef9" /><Relationship Type="http://schemas.openxmlformats.org/officeDocument/2006/relationships/slide" Target="/ppt/slides/slide1.xml" Id="Rb5ee6ea235534542" /><Relationship Type="http://schemas.openxmlformats.org/officeDocument/2006/relationships/slide" Target="/ppt/slides/slide2.xml" Id="R5a267d017d194e25" /><Relationship Type="http://schemas.openxmlformats.org/officeDocument/2006/relationships/slide" Target="/ppt/slides/slide3.xml" Id="R53a534c7de254da1" /><Relationship Type="http://schemas.openxmlformats.org/officeDocument/2006/relationships/slide" Target="/ppt/slides/slide4.xml" Id="R6a687a096a7b4361" /><Relationship Type="http://schemas.openxmlformats.org/officeDocument/2006/relationships/slide" Target="/ppt/slides/slide5.xml" Id="Rdbba1fd43d234ddf" /><Relationship Type="http://schemas.openxmlformats.org/officeDocument/2006/relationships/slide" Target="/ppt/slides/slide6.xml" Id="R4ef8d34d7fbe47cb" /><Relationship Type="http://schemas.openxmlformats.org/officeDocument/2006/relationships/slide" Target="/ppt/slides/slide7.xml" Id="R35c6d31550834282" /><Relationship Type="http://schemas.openxmlformats.org/officeDocument/2006/relationships/slide" Target="/ppt/slides/slide8.xml" Id="Re4699eca9f1748ca" /><Relationship Type="http://schemas.openxmlformats.org/officeDocument/2006/relationships/slide" Target="/ppt/slides/slide9.xml" Id="R16f3a5ffc3994b7e" /><Relationship Type="http://schemas.openxmlformats.org/officeDocument/2006/relationships/slide" Target="/ppt/slides/slide10.xml" Id="R8a3e6e29c9174e52" /><Relationship Type="http://schemas.openxmlformats.org/officeDocument/2006/relationships/slide" Target="/ppt/slides/slide11.xml" Id="R368f029ffe894833" /><Relationship Type="http://schemas.openxmlformats.org/officeDocument/2006/relationships/slide" Target="/ppt/slides/slide12.xml" Id="R01841232bb104886" /><Relationship Type="http://schemas.openxmlformats.org/officeDocument/2006/relationships/slide" Target="/ppt/slides/slide13.xml" Id="Ree6418d8777a491e" /><Relationship Type="http://schemas.openxmlformats.org/officeDocument/2006/relationships/slide" Target="/ppt/slides/slide14.xml" Id="Rc4b659bfbfaf4abe" /><Relationship Type="http://schemas.openxmlformats.org/officeDocument/2006/relationships/slide" Target="/ppt/slides/slide15.xml" Id="R50b13cc90b0d49f8" /><Relationship Type="http://schemas.openxmlformats.org/officeDocument/2006/relationships/slide" Target="/ppt/slides/slide16.xml" Id="R4819ed0ae1a84acb" /><Relationship Type="http://schemas.openxmlformats.org/officeDocument/2006/relationships/slide" Target="/ppt/slides/slide17.xml" Id="R54f167404b4a4ec7" /><Relationship Type="http://schemas.openxmlformats.org/officeDocument/2006/relationships/slide" Target="/ppt/slides/slide18.xml" Id="Rf956353785dc4645" /><Relationship Type="http://schemas.openxmlformats.org/officeDocument/2006/relationships/slide" Target="/ppt/slides/slide19.xml" Id="R0075f4e6de5a43ea" /><Relationship Type="http://schemas.openxmlformats.org/officeDocument/2006/relationships/slide" Target="/ppt/slides/slide20.xml" Id="Rbc13134ea301430e" /><Relationship Type="http://schemas.openxmlformats.org/officeDocument/2006/relationships/slide" Target="/ppt/slides/slide21.xml" Id="R8473234840754a34" /><Relationship Type="http://schemas.openxmlformats.org/officeDocument/2006/relationships/slide" Target="/ppt/slides/slide22.xml" Id="R817f029171d94c5c" /><Relationship Type="http://schemas.openxmlformats.org/officeDocument/2006/relationships/slide" Target="/ppt/slides/slide23.xml" Id="Rebbc5521e1224245" /><Relationship Type="http://schemas.openxmlformats.org/officeDocument/2006/relationships/slide" Target="/ppt/slides/slide24.xml" Id="R0887e03658e94d8d" /><Relationship Type="http://schemas.openxmlformats.org/officeDocument/2006/relationships/slide" Target="/ppt/slides/slide25.xml" Id="R1ebf505c0742428d" /><Relationship Type="http://schemas.openxmlformats.org/officeDocument/2006/relationships/slide" Target="/ppt/slides/slide26.xml" Id="R8812ba48378b495c" /><Relationship Type="http://schemas.openxmlformats.org/officeDocument/2006/relationships/slide" Target="/ppt/slides/slide27.xml" Id="Rba4293a6a79d4d84" /><Relationship Type="http://schemas.openxmlformats.org/officeDocument/2006/relationships/slide" Target="/ppt/slides/slide28.xml" Id="Ra981309115e042a0" /><Relationship Type="http://schemas.openxmlformats.org/officeDocument/2006/relationships/slide" Target="/ppt/slides/slide29.xml" Id="R2476dfbcc68e43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ae0804e414543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037c512ec64a5c" /><Relationship Type="http://schemas.openxmlformats.org/officeDocument/2006/relationships/notesMaster" Target="/ppt/notesMasters/notesMaster1.xml" Id="R20aa9240e0f243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defadd2bcf4ede" /><Relationship Type="http://schemas.openxmlformats.org/officeDocument/2006/relationships/notesMaster" Target="/ppt/notesMasters/notesMaster1.xml" Id="R91d15efe9ca54b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7fd1014d024275" /><Relationship Type="http://schemas.openxmlformats.org/officeDocument/2006/relationships/notesMaster" Target="/ppt/notesMasters/notesMaster1.xml" Id="R0a7c8d1c602e42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68122d5b974243" /><Relationship Type="http://schemas.openxmlformats.org/officeDocument/2006/relationships/notesMaster" Target="/ppt/notesMasters/notesMaster1.xml" Id="Rd9655326c01f44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48c9a8bf264f32" /><Relationship Type="http://schemas.openxmlformats.org/officeDocument/2006/relationships/notesMaster" Target="/ppt/notesMasters/notesMaster1.xml" Id="R30a8a8c162104b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226f1bc4c54786" /><Relationship Type="http://schemas.openxmlformats.org/officeDocument/2006/relationships/notesMaster" Target="/ppt/notesMasters/notesMaster1.xml" Id="R4ae7c5d312ee45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35051a0b7e4295" /><Relationship Type="http://schemas.openxmlformats.org/officeDocument/2006/relationships/notesMaster" Target="/ppt/notesMasters/notesMaster1.xml" Id="R8e7c8db6795e4a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8da02724004848" /><Relationship Type="http://schemas.openxmlformats.org/officeDocument/2006/relationships/notesMaster" Target="/ppt/notesMasters/notesMaster1.xml" Id="R2b1e73a8d61647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281d981e4b48fc" /><Relationship Type="http://schemas.openxmlformats.org/officeDocument/2006/relationships/notesMaster" Target="/ppt/notesMasters/notesMaster1.xml" Id="R17798157970446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b94445a0d64742" /><Relationship Type="http://schemas.openxmlformats.org/officeDocument/2006/relationships/notesMaster" Target="/ppt/notesMasters/notesMaster1.xml" Id="R343ed51de09d4d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082ea79ca04464" /><Relationship Type="http://schemas.openxmlformats.org/officeDocument/2006/relationships/notesMaster" Target="/ppt/notesMasters/notesMaster1.xml" Id="Rc413371f919d49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1b005fe48f40c1" /><Relationship Type="http://schemas.openxmlformats.org/officeDocument/2006/relationships/notesMaster" Target="/ppt/notesMasters/notesMaster1.xml" Id="Radc83ed27b3743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adf011422f425b" /><Relationship Type="http://schemas.openxmlformats.org/officeDocument/2006/relationships/notesMaster" Target="/ppt/notesMasters/notesMaster1.xml" Id="R105124742f974d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0eadcf042c4e63" /><Relationship Type="http://schemas.openxmlformats.org/officeDocument/2006/relationships/notesMaster" Target="/ppt/notesMasters/notesMaster1.xml" Id="Rf48aae1dcd6149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ee57a453f5d4ddc" /><Relationship Type="http://schemas.openxmlformats.org/officeDocument/2006/relationships/notesMaster" Target="/ppt/notesMasters/notesMaster1.xml" Id="R763898d098d2471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724c363650741c3" /><Relationship Type="http://schemas.openxmlformats.org/officeDocument/2006/relationships/notesMaster" Target="/ppt/notesMasters/notesMaster1.xml" Id="R84ad733c62174ff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eae9d1c32bc4128" /><Relationship Type="http://schemas.openxmlformats.org/officeDocument/2006/relationships/notesMaster" Target="/ppt/notesMasters/notesMaster1.xml" Id="R1d0e5facb053400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b6d5f32dcbb482d" /><Relationship Type="http://schemas.openxmlformats.org/officeDocument/2006/relationships/notesMaster" Target="/ppt/notesMasters/notesMaster1.xml" Id="R0b8663597e6f411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b2f3a5d86c24004" /><Relationship Type="http://schemas.openxmlformats.org/officeDocument/2006/relationships/notesMaster" Target="/ppt/notesMasters/notesMaster1.xml" Id="R9bd05644c40b4e7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a3fa5fecf144555" /><Relationship Type="http://schemas.openxmlformats.org/officeDocument/2006/relationships/notesMaster" Target="/ppt/notesMasters/notesMaster1.xml" Id="R119a6116f63a46a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20644dc2b0441fb" /><Relationship Type="http://schemas.openxmlformats.org/officeDocument/2006/relationships/notesMaster" Target="/ppt/notesMasters/notesMaster1.xml" Id="R9086202dd2ef4b2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3bf4ddb1cc14882" /><Relationship Type="http://schemas.openxmlformats.org/officeDocument/2006/relationships/notesMaster" Target="/ppt/notesMasters/notesMaster1.xml" Id="Rcc5bcc5d90464c4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cd86b882d144b66" /><Relationship Type="http://schemas.openxmlformats.org/officeDocument/2006/relationships/notesMaster" Target="/ppt/notesMasters/notesMaster1.xml" Id="R62043039dd4547f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dff5789e1244a4a" /><Relationship Type="http://schemas.openxmlformats.org/officeDocument/2006/relationships/notesMaster" Target="/ppt/notesMasters/notesMaster1.xml" Id="R1b505b7dac614c6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bc1098b3f1f48e4" /><Relationship Type="http://schemas.openxmlformats.org/officeDocument/2006/relationships/notesMaster" Target="/ppt/notesMasters/notesMaster1.xml" Id="R1e2fac759ff7491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409c021699b4519" /><Relationship Type="http://schemas.openxmlformats.org/officeDocument/2006/relationships/notesMaster" Target="/ppt/notesMasters/notesMaster1.xml" Id="Rf58f41b19e87470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bb84be1490d4e9b" /><Relationship Type="http://schemas.openxmlformats.org/officeDocument/2006/relationships/notesMaster" Target="/ppt/notesMasters/notesMaster1.xml" Id="Rf9971c1a9c13490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493c3f57fd04a06" /><Relationship Type="http://schemas.openxmlformats.org/officeDocument/2006/relationships/notesMaster" Target="/ppt/notesMasters/notesMaster1.xml" Id="Rebd2fb194cd64a2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71b123a3d624706" /><Relationship Type="http://schemas.openxmlformats.org/officeDocument/2006/relationships/notesMaster" Target="/ppt/notesMasters/notesMaster1.xml" Id="R22eb949499604a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ab6822769b4ef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0347ffa8b0a4cb7" /><Relationship Type="http://schemas.openxmlformats.org/officeDocument/2006/relationships/slideLayout" Target="/ppt/slideLayouts/slideLayout2.xml" Id="R9b310e827dbf4d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310e827dbf4d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52de525df64101" /><Relationship Type="http://schemas.openxmlformats.org/officeDocument/2006/relationships/image" Target="/ppt/media/image.png" Id="R8ac8e9f22ba2442e" /><Relationship Type="http://schemas.openxmlformats.org/officeDocument/2006/relationships/image" Target="/ppt/media/image2.png" Id="Ra72a7644cecc4883" /><Relationship Type="http://schemas.openxmlformats.org/officeDocument/2006/relationships/image" Target="/ppt/media/image.jpeg" Id="R1ccaddcc7a4346c3" /><Relationship Type="http://schemas.openxmlformats.org/officeDocument/2006/relationships/notesSlide" Target="/ppt/notesSlides/notesSlide1.xml" Id="Rc88fd1a0fcdf49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791876f75841d3" /><Relationship Type="http://schemas.openxmlformats.org/officeDocument/2006/relationships/image" Target="/ppt/media/image3.png" Id="R64786ad9657e4de7" /><Relationship Type="http://schemas.openxmlformats.org/officeDocument/2006/relationships/notesSlide" Target="/ppt/notesSlides/notesSlide2.xml" Id="R17089d09aadf49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f0e4a27dbe4674" /><Relationship Type="http://schemas.openxmlformats.org/officeDocument/2006/relationships/image" Target="/ppt/media/image4.png" Id="Rc9eee10145284837" /><Relationship Type="http://schemas.openxmlformats.org/officeDocument/2006/relationships/notesSlide" Target="/ppt/notesSlides/notesSlide3.xml" Id="R120651ae5c9940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9d0ea04dc547b7" /><Relationship Type="http://schemas.openxmlformats.org/officeDocument/2006/relationships/image" Target="/ppt/media/image5.png" Id="Rf4a52ffd38b54e34" /><Relationship Type="http://schemas.openxmlformats.org/officeDocument/2006/relationships/image" Target="/ppt/media/image6.png" Id="R6a863e3d07f54f6c" /><Relationship Type="http://schemas.openxmlformats.org/officeDocument/2006/relationships/image" Target="/ppt/media/image7.png" Id="R1a86557e1b9f4e7e" /><Relationship Type="http://schemas.openxmlformats.org/officeDocument/2006/relationships/notesSlide" Target="/ppt/notesSlides/notesSlide4.xml" Id="Re4ab5bf58a1b41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4038d5d1be480e" /><Relationship Type="http://schemas.openxmlformats.org/officeDocument/2006/relationships/image" Target="/ppt/media/image8.png" Id="R4dabe4a6e69c438b" /><Relationship Type="http://schemas.openxmlformats.org/officeDocument/2006/relationships/image" Target="/ppt/media/image2.jpeg" Id="R333a40c4e4f44017" /><Relationship Type="http://schemas.openxmlformats.org/officeDocument/2006/relationships/image" Target="/ppt/media/image3.jpeg" Id="R37bd1b57040041d1" /><Relationship Type="http://schemas.openxmlformats.org/officeDocument/2006/relationships/image" Target="/ppt/media/image4.jpeg" Id="Rfdc0b77aba7d4cd8" /><Relationship Type="http://schemas.openxmlformats.org/officeDocument/2006/relationships/image" Target="/ppt/media/image5.jpeg" Id="Rb05d9a36ffb3424b" /><Relationship Type="http://schemas.openxmlformats.org/officeDocument/2006/relationships/notesSlide" Target="/ppt/notesSlides/notesSlide5.xml" Id="R71fc955dde9947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5c605c7b3a4341" /><Relationship Type="http://schemas.openxmlformats.org/officeDocument/2006/relationships/image" Target="/ppt/media/image9.png" Id="R5b9d14b7ec164010" /><Relationship Type="http://schemas.openxmlformats.org/officeDocument/2006/relationships/image" Target="/ppt/media/image10.png" Id="R61dccd77c2784045" /><Relationship Type="http://schemas.openxmlformats.org/officeDocument/2006/relationships/notesSlide" Target="/ppt/notesSlides/notesSlide6.xml" Id="Rbb195154c2ce4b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d3215dcf7c44fc" /><Relationship Type="http://schemas.openxmlformats.org/officeDocument/2006/relationships/image" Target="/ppt/media/image11.png" Id="R87b04b13df1f4df2" /><Relationship Type="http://schemas.openxmlformats.org/officeDocument/2006/relationships/image" Target="/ppt/media/image12.png" Id="Rd715a89ddaa54d75" /><Relationship Type="http://schemas.openxmlformats.org/officeDocument/2006/relationships/notesSlide" Target="/ppt/notesSlides/notesSlide7.xml" Id="Ra51bef0c10c341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8ce0862e9e49d4" /><Relationship Type="http://schemas.openxmlformats.org/officeDocument/2006/relationships/image" Target="/ppt/media/image13.png" Id="R9b95ffd79da04541" /><Relationship Type="http://schemas.openxmlformats.org/officeDocument/2006/relationships/notesSlide" Target="/ppt/notesSlides/notesSlide8.xml" Id="R168f979a60a94a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132a5f7f6a40da" /><Relationship Type="http://schemas.openxmlformats.org/officeDocument/2006/relationships/image" Target="/ppt/media/image14.png" Id="Rca9f08e982314466" /><Relationship Type="http://schemas.openxmlformats.org/officeDocument/2006/relationships/image" Target="/ppt/media/image15.png" Id="R1f45e6b3f18b43e8" /><Relationship Type="http://schemas.openxmlformats.org/officeDocument/2006/relationships/notesSlide" Target="/ppt/notesSlides/notesSlide9.xml" Id="Rdd31ad8c67fb41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c53a2e876b44a5" /><Relationship Type="http://schemas.openxmlformats.org/officeDocument/2006/relationships/image" Target="/ppt/media/image16.png" Id="R8e68406fba6c482c" /><Relationship Type="http://schemas.openxmlformats.org/officeDocument/2006/relationships/notesSlide" Target="/ppt/notesSlides/notesSlide10.xml" Id="R5023278ad64f4c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97ee285c6c4529" /><Relationship Type="http://schemas.openxmlformats.org/officeDocument/2006/relationships/image" Target="/ppt/media/image17.png" Id="R9eda66f364d44f19" /><Relationship Type="http://schemas.openxmlformats.org/officeDocument/2006/relationships/notesSlide" Target="/ppt/notesSlides/notesSlide11.xml" Id="R5326cc8f9c0b45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03f34788724da5" /><Relationship Type="http://schemas.openxmlformats.org/officeDocument/2006/relationships/image" Target="/ppt/media/image18.png" Id="Re42a524cbea44b31" /><Relationship Type="http://schemas.openxmlformats.org/officeDocument/2006/relationships/notesSlide" Target="/ppt/notesSlides/notesSlide12.xml" Id="R0cab09ef7ea74f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c5f4b0f8694ba6" /><Relationship Type="http://schemas.openxmlformats.org/officeDocument/2006/relationships/image" Target="/ppt/media/image19.png" Id="R24309f23352f4c89" /><Relationship Type="http://schemas.openxmlformats.org/officeDocument/2006/relationships/image" Target="/ppt/media/image20.png" Id="R5e68ed148df24af5" /><Relationship Type="http://schemas.openxmlformats.org/officeDocument/2006/relationships/image" Target="/ppt/media/image21.png" Id="R0004894383474390" /><Relationship Type="http://schemas.openxmlformats.org/officeDocument/2006/relationships/image" Target="/ppt/media/image22.png" Id="R39a780ae7bc14956" /><Relationship Type="http://schemas.openxmlformats.org/officeDocument/2006/relationships/image" Target="/ppt/media/image23.png" Id="Rc26153fff5974be7" /><Relationship Type="http://schemas.openxmlformats.org/officeDocument/2006/relationships/notesSlide" Target="/ppt/notesSlides/notesSlide13.xml" Id="R1ae32b16334a4a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309c96d28e4975" /><Relationship Type="http://schemas.openxmlformats.org/officeDocument/2006/relationships/image" Target="/ppt/media/image24.png" Id="Rc5c06d324acb43f4" /><Relationship Type="http://schemas.openxmlformats.org/officeDocument/2006/relationships/image" Target="/ppt/media/image25.png" Id="R5a62b797cc254484" /><Relationship Type="http://schemas.openxmlformats.org/officeDocument/2006/relationships/image" Target="/ppt/media/image26.png" Id="R240152e30d39444c" /><Relationship Type="http://schemas.openxmlformats.org/officeDocument/2006/relationships/image" Target="/ppt/media/image27.png" Id="R53ddd542b82b43d0" /><Relationship Type="http://schemas.openxmlformats.org/officeDocument/2006/relationships/image" Target="/ppt/media/image28.png" Id="R42a03e0603b449ca" /><Relationship Type="http://schemas.openxmlformats.org/officeDocument/2006/relationships/notesSlide" Target="/ppt/notesSlides/notesSlide14.xml" Id="R15819e6ac6f047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8c202779c64714" /><Relationship Type="http://schemas.openxmlformats.org/officeDocument/2006/relationships/image" Target="/ppt/media/image29.png" Id="R15e04452c26b4fc6" /><Relationship Type="http://schemas.openxmlformats.org/officeDocument/2006/relationships/image" Target="/ppt/media/image30.png" Id="Rc9be614a708748d3" /><Relationship Type="http://schemas.openxmlformats.org/officeDocument/2006/relationships/image" Target="/ppt/media/image31.png" Id="Rd91ce3cbb46a469a" /><Relationship Type="http://schemas.openxmlformats.org/officeDocument/2006/relationships/notesSlide" Target="/ppt/notesSlides/notesSlide15.xml" Id="Rd582083b6a5a4ca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477b0415f84e0e" /><Relationship Type="http://schemas.openxmlformats.org/officeDocument/2006/relationships/image" Target="/ppt/media/image32.png" Id="R5ee341e8b79d4f35" /><Relationship Type="http://schemas.openxmlformats.org/officeDocument/2006/relationships/image" Target="/ppt/media/image33.png" Id="R7d1a291304204f4e" /><Relationship Type="http://schemas.openxmlformats.org/officeDocument/2006/relationships/notesSlide" Target="/ppt/notesSlides/notesSlide16.xml" Id="Re47451483bf244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a886c3476a4e22" /><Relationship Type="http://schemas.openxmlformats.org/officeDocument/2006/relationships/image" Target="/ppt/media/image34.png" Id="R479b6350cc6f4c1e" /><Relationship Type="http://schemas.openxmlformats.org/officeDocument/2006/relationships/image" Target="/ppt/media/image35.png" Id="R265a3db20f0841c4" /><Relationship Type="http://schemas.openxmlformats.org/officeDocument/2006/relationships/notesSlide" Target="/ppt/notesSlides/notesSlide17.xml" Id="R54b69ccba00a4e1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f3483beaec4e5a" /><Relationship Type="http://schemas.openxmlformats.org/officeDocument/2006/relationships/image" Target="/ppt/media/image36.png" Id="R002d81e3bbb84507" /><Relationship Type="http://schemas.openxmlformats.org/officeDocument/2006/relationships/image" Target="/ppt/media/image37.png" Id="R2a05fbc562fb478a" /><Relationship Type="http://schemas.openxmlformats.org/officeDocument/2006/relationships/image" Target="/ppt/media/image38.png" Id="R19a42dbbd3494593" /><Relationship Type="http://schemas.openxmlformats.org/officeDocument/2006/relationships/notesSlide" Target="/ppt/notesSlides/notesSlide18.xml" Id="R520329e575f74ea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2367f6721248e0" /><Relationship Type="http://schemas.openxmlformats.org/officeDocument/2006/relationships/image" Target="/ppt/media/image39.png" Id="R9b7ee56b3ec64773" /><Relationship Type="http://schemas.openxmlformats.org/officeDocument/2006/relationships/image" Target="/ppt/media/image40.png" Id="R7323f60f73dd4c84" /><Relationship Type="http://schemas.openxmlformats.org/officeDocument/2006/relationships/image" Target="/ppt/media/image41.png" Id="R3bbd367f486d4b69" /><Relationship Type="http://schemas.openxmlformats.org/officeDocument/2006/relationships/notesSlide" Target="/ppt/notesSlides/notesSlide19.xml" Id="Raf965d4ae491437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ba608c383f4997" /><Relationship Type="http://schemas.openxmlformats.org/officeDocument/2006/relationships/image" Target="/ppt/media/image42.png" Id="Rceebe69aaf9a431d" /><Relationship Type="http://schemas.openxmlformats.org/officeDocument/2006/relationships/image" Target="/ppt/media/image43.png" Id="R25cb101bf0e24bd7" /><Relationship Type="http://schemas.openxmlformats.org/officeDocument/2006/relationships/image" Target="/ppt/media/image44.png" Id="R7febb54276f949bf" /><Relationship Type="http://schemas.openxmlformats.org/officeDocument/2006/relationships/notesSlide" Target="/ppt/notesSlides/notesSlide20.xml" Id="R84703a111a4f462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8469083f074c34" /><Relationship Type="http://schemas.openxmlformats.org/officeDocument/2006/relationships/image" Target="/ppt/media/image45.png" Id="R3b6a01949f3744e1" /><Relationship Type="http://schemas.openxmlformats.org/officeDocument/2006/relationships/image" Target="/ppt/media/image46.png" Id="R339cfe6214a2431c" /><Relationship Type="http://schemas.openxmlformats.org/officeDocument/2006/relationships/image" Target="/ppt/media/image47.png" Id="Rb087b16e86714778" /><Relationship Type="http://schemas.openxmlformats.org/officeDocument/2006/relationships/notesSlide" Target="/ppt/notesSlides/notesSlide21.xml" Id="R6de656c0da134dd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26fdcb421a485f" /><Relationship Type="http://schemas.openxmlformats.org/officeDocument/2006/relationships/image" Target="/ppt/media/image48.png" Id="Rf3fd2f1bec0649a6" /><Relationship Type="http://schemas.openxmlformats.org/officeDocument/2006/relationships/image" Target="/ppt/media/image49.png" Id="Rd87820c0a7ff44eb" /><Relationship Type="http://schemas.openxmlformats.org/officeDocument/2006/relationships/notesSlide" Target="/ppt/notesSlides/notesSlide22.xml" Id="Rf8ccfb39b2af4d1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ae8e53cd8f4c8d" /><Relationship Type="http://schemas.openxmlformats.org/officeDocument/2006/relationships/image" Target="/ppt/media/image50.png" Id="Rbcabb7267cea4dfd" /><Relationship Type="http://schemas.openxmlformats.org/officeDocument/2006/relationships/image" Target="/ppt/media/image51.png" Id="R3f43e2324be448be" /><Relationship Type="http://schemas.openxmlformats.org/officeDocument/2006/relationships/image" Target="/ppt/media/image52.png" Id="Raf47610eedd74cdd" /><Relationship Type="http://schemas.openxmlformats.org/officeDocument/2006/relationships/notesSlide" Target="/ppt/notesSlides/notesSlide23.xml" Id="Raf79175a16f34a6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722619aecb4492" /><Relationship Type="http://schemas.openxmlformats.org/officeDocument/2006/relationships/image" Target="/ppt/media/image53.png" Id="R8a8224686bab41f6" /><Relationship Type="http://schemas.openxmlformats.org/officeDocument/2006/relationships/image" Target="/ppt/media/image54.png" Id="R07302ad899c04343" /><Relationship Type="http://schemas.openxmlformats.org/officeDocument/2006/relationships/image" Target="/ppt/media/image55.png" Id="R47b68abcd34b4da0" /><Relationship Type="http://schemas.openxmlformats.org/officeDocument/2006/relationships/notesSlide" Target="/ppt/notesSlides/notesSlide24.xml" Id="Rc805686f89f9434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66fd9c635e478f" /><Relationship Type="http://schemas.openxmlformats.org/officeDocument/2006/relationships/image" Target="/ppt/media/image56.png" Id="R6db7f6af0a314513" /><Relationship Type="http://schemas.openxmlformats.org/officeDocument/2006/relationships/image" Target="/ppt/media/image57.png" Id="R85a08b9fd0634278" /><Relationship Type="http://schemas.openxmlformats.org/officeDocument/2006/relationships/image" Target="/ppt/media/image58.png" Id="R62353c2b11364591" /><Relationship Type="http://schemas.openxmlformats.org/officeDocument/2006/relationships/image" Target="/ppt/media/image59.png" Id="R461e0f29bd454e53" /><Relationship Type="http://schemas.openxmlformats.org/officeDocument/2006/relationships/notesSlide" Target="/ppt/notesSlides/notesSlide25.xml" Id="Recfddace11fe406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8aa1b1fa814807" /><Relationship Type="http://schemas.openxmlformats.org/officeDocument/2006/relationships/image" Target="/ppt/media/image60.png" Id="R897f77f8d59f4a0a" /><Relationship Type="http://schemas.openxmlformats.org/officeDocument/2006/relationships/notesSlide" Target="/ppt/notesSlides/notesSlide26.xml" Id="R60a25116224c454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c15ac02a664cb8" /><Relationship Type="http://schemas.openxmlformats.org/officeDocument/2006/relationships/image" Target="/ppt/media/image61.png" Id="R273b255df9784f21" /><Relationship Type="http://schemas.openxmlformats.org/officeDocument/2006/relationships/notesSlide" Target="/ppt/notesSlides/notesSlide27.xml" Id="R68cf8c6bd2474bd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dbdb2f7e8f4708" /><Relationship Type="http://schemas.openxmlformats.org/officeDocument/2006/relationships/image" Target="/ppt/media/image62.png" Id="R61f82df7d8cb42d5" /><Relationship Type="http://schemas.openxmlformats.org/officeDocument/2006/relationships/image" Target="/ppt/media/image63.png" Id="Rd242e453228a4106" /><Relationship Type="http://schemas.openxmlformats.org/officeDocument/2006/relationships/notesSlide" Target="/ppt/notesSlides/notesSlide28.xml" Id="Rdfd7152242a849b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1cd1db07f74905" /><Relationship Type="http://schemas.openxmlformats.org/officeDocument/2006/relationships/image" Target="/ppt/media/image64.png" Id="Rffad9f0f06364b9b" /><Relationship Type="http://schemas.openxmlformats.org/officeDocument/2006/relationships/notesSlide" Target="/ppt/notesSlides/notesSlide29.xml" Id="R6abaa70542364c7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2D8297-94A0-4692-9716-F8B4FD3F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E36B2-0212-4DBB-B7BE-36C521B5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0CDA1-C384-48BB-90F0-863D0A2A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62375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338D2-6C0F-46CE-AA03-32431996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8620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B0AD6-207F-4482-B9DA-3088FDFD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571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8e9f22ba2442e"/>
          <a:stretch xmlns:a="http://schemas.openxmlformats.org/drawingml/2006/main"/>
        </p:blipFill>
        <p:spPr>
          <a:xfrm xmlns:a="http://schemas.openxmlformats.org/drawingml/2006/main">
            <a:off x="9592866" y="314325"/>
            <a:ext cx="1102519" cy="400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25D68-D174-433F-8393-EA69EEFC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715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高温钢渣余热驱动PVC废塑料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裂解制合成气及脱氯性能研究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ADC43-33BB-474A-8E48-C4561587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毕业设计答辩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1817F-CE02-4468-90F2-B79DE31F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4095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13163-6536-4709-9AD6-310313C8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14850"/>
            <a:ext cx="4095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75EDA-B7D8-451D-AFEF-0F5703F7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291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汇报人：王阅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D5EF9-4A3F-4202-B8CF-9254EE4A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291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指导教师：段文军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a7644cecc4883"/>
          <a:srcRect xmlns:a="http://schemas.openxmlformats.org/drawingml/2006/main" l="0" t="132" r="0" b="1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5286375"/>
            <a:ext cx="1619250" cy="104775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addcc7a4346c3"/>
          <a:srcRect xmlns:a="http://schemas.openxmlformats.org/drawingml/2006/main" l="0" t="1233" r="0" b="12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82125" y="5286375"/>
            <a:ext cx="1428750" cy="104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530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666811-191F-484A-BBCB-BA88EA1B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21590-1E17-40D0-81B9-1BA240F0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6700"/>
            <a:ext cx="2524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86ad9657e4de7"/>
          <a:stretch xmlns:a="http://schemas.openxmlformats.org/drawingml/2006/main"/>
        </p:blipFill>
        <p:spPr>
          <a:xfrm xmlns:a="http://schemas.openxmlformats.org/drawingml/2006/main">
            <a:off x="9669179" y="314325"/>
            <a:ext cx="997517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6B477-B486-4A60-91E9-0962641C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毕业设计答辩框架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9BF35-2231-43D8-9E69-38E42C4A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273"/>
                </a:solidFill>
                <a:latin typeface="Microsoft YaHei"/>
                <a:ea typeface="Microsoft YaHei"/>
                <a:cs typeface="Microsoft YaHei"/>
              </a:rPr>
              <a:t>围绕“为什么做、怎么做、结果是什么、下一步如何优化”展开。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F1F6B-26A4-48F7-9E30-470CEC3C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00250"/>
            <a:ext cx="2095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5BD0F-7661-4AA8-979F-7AB87977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19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EB529-0547-41EB-AA20-E2B191FD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81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7F8DE-791E-4863-8B09-32BFAB89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03D92-EC5D-4833-B112-46CA27E4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767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62A31-56CF-4BE9-B25D-7E17C59F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476750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0D51D-6678-4BF9-ADDD-637BD307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00250"/>
            <a:ext cx="2095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CC326-42A3-4972-847E-C9ADD58B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19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46DA0-71D4-40D4-BF45-C49DC7F2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81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A88E4-03C1-4F8D-B66F-988E05BF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C2040-9F83-4B94-ABD2-26F7E0C2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767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4F5FA-2BB8-4BD5-9A0F-C1981C1C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476750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288A63-FC9A-485A-B271-3A4E3EE5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2095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29C0B5-1D17-4E27-8F90-D020CE3A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19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B8526-EBC0-4E4B-B412-EF0FB47F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81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64450B-7CAA-4216-B3C4-578D110A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565030-99BB-4462-9623-0FC2030B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767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6A62D1-4BB9-4F92-846D-08215FE3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76750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5CD319-8DD8-499C-86C2-512D568F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00250"/>
            <a:ext cx="2095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E2FAB0-0BB5-42AB-9E2C-67A3CA94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19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096C04-760B-4088-B03B-EC89A113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81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5EFD4F-331B-4F28-B73F-678EAF35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945F14-C471-48AD-91F7-157CA7E5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767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302E45-F639-414B-B277-F95EF34F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476750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617EE6-B3EC-4BDB-B046-6D77F6F2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AA0DA7-4029-4A98-907C-F5519764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ECA104-126F-47FE-A4F2-AFFE2761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132770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2D9BBA-9E92-47C0-83BB-2A1D7270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1A77F-0967-4135-A9E5-0206C454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571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ee10145284837"/>
          <a:stretch xmlns:a="http://schemas.openxmlformats.org/drawingml/2006/main"/>
        </p:blipFill>
        <p:spPr>
          <a:xfrm xmlns:a="http://schemas.openxmlformats.org/drawingml/2006/main">
            <a:off x="9566615" y="371475"/>
            <a:ext cx="1155020" cy="419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F57EC-A3A9-4767-B577-8B36CAA9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2095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5373C-A650-4003-9B79-A4BB80E9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19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A5471-A958-4298-9247-7B272A55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BB9C9-A417-43A2-B021-8561A348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55F7E-1EF2-4138-B3EF-74624123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0B266-82D8-4D5D-9E6A-04403CEF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FCE76-C74F-4A3E-9C8C-D6E1CD46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2095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D6814-C22F-4E81-8F8F-2F31C67C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19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64AC1-AAB2-49B8-9972-9AC463C6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81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685FB-97EF-40F7-9A8E-6F4A23C3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E979F-AE97-4B59-82C3-018D04F3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2DCB0-04E4-46D6-9B22-F932DDB8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76750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97D5A0-7917-4BBA-931C-A474DDDB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095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1E90C-ACFF-4C5E-A6D9-5940A97C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EBF47D-C4C3-452B-8657-9C72C9C7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BEA57F-DFC3-4904-BBB7-42A4B1C7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CC3188-8081-44A8-B586-1656E48A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C24FA9-7010-46E8-98D5-C96EAA9E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158B5F-0E41-4060-B900-CF02D059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095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02EF00-A19F-4820-B8EC-69FEB253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4AEE7D-DA0C-4B62-815E-BA79561A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09CDE7-40E5-485F-A852-150DADAE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F7CF1E-15B1-4F82-A761-A3304A04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767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00CF61-63B2-4CC4-896E-772DCA87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0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900153-F509-47EB-91D1-12C3B2BD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36670A-7115-4873-A3A8-B4C71F36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C9F87C-3C13-4555-B661-7D346AA6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588330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D0A6AC-9A44-417B-A62A-1AB74EE6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5DD03-C9DC-4FBA-8E7C-554EA42E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28137-E78F-42BB-93CF-906C9933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4775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8A8A7-DEEE-44AF-85ED-AE329732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2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0BA3C-090F-469D-AEB9-8B1323CE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FFF1E-07AF-455D-ACE0-76E4549F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8ADE1-A0DD-42DA-84BB-F8949406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4B795-EAB5-463C-BEA4-1EA7509B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299F0-0AED-4AF4-AB95-EE607005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96052-6DD6-4C4C-A590-65332BCA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9C80D-37F2-42B8-B386-AC985D08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8881C-76B2-4BF6-AFA8-8FA123A3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E2B62-8441-486A-88CD-CEC21E4C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02CE0-0FC0-4F2B-AEAE-47AD1AAA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52ffd38b54e34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AFB9C-1CDF-482F-A580-E954558A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A24371-02B7-4307-B513-8A2EF4A8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283E0-A9E7-4F5E-A51F-7F1A5559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3D10C8-E23F-41A4-8614-9A9CAAB4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双碳约束与钢铁行业固废压力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55E0B-DAB5-4C7A-90BE-C373B26E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57CBE5-41D4-4FD6-AD99-27304FC0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9AE184-179C-4789-9FF7-B67720A5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381125"/>
            <a:ext cx="52387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63e3d07f54f6c"/>
          <a:stretch xmlns:a="http://schemas.openxmlformats.org/drawingml/2006/main"/>
        </p:blipFill>
        <p:spPr>
          <a:xfrm xmlns:a="http://schemas.openxmlformats.org/drawingml/2006/main">
            <a:off x="495300" y="1434828"/>
            <a:ext cx="5143500" cy="2064294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3C5D64-4CAA-4F88-A0E4-150E8D63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52875"/>
            <a:ext cx="4191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6557e1b9f4e7e"/>
          <a:stretch xmlns:a="http://schemas.openxmlformats.org/drawingml/2006/main"/>
        </p:blipFill>
        <p:spPr>
          <a:xfrm xmlns:a="http://schemas.openxmlformats.org/drawingml/2006/main">
            <a:off x="1443598" y="4000500"/>
            <a:ext cx="2846853" cy="15430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607E8D-288A-4FAB-BD70-96C26ECB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2381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271034-502D-44C5-B2DB-F60DE5FE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2190750" cy="370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1.89亿吨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11BFE2-B67B-44A7-BA6E-34E820BE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28266"/>
            <a:ext cx="2190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2024年全国碳市场累计成交量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4F4CCE-96CD-4EB1-96A2-D25D0478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381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192F94-9561-445C-AF55-F9B7DA1A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04950"/>
            <a:ext cx="2190750" cy="370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高温+高排放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C2C1D1-38AF-4B26-A2CE-6D073EC8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28266"/>
            <a:ext cx="2190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钢铁行业面临减污降碳压力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FB5558-F19F-409B-A2EC-32FB903C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51435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E9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4CB371-D55E-41FC-8865-9BE0C747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33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7EA210-E32A-45FF-8B36-8CDD0012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1314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碳约束增强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77C612-421E-45E1-9D02-35FBC751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67050"/>
            <a:ext cx="3276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钢铁、水泥、铝冶炼等高排放部门被纳入重点管理。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4747E9-5855-45DD-A7C9-6E94BEC2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48EF1D-A9F0-4C2A-9B4C-47F59A81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余热未充分回收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78BBA2-0F97-45CE-AC77-A922E3F1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95700"/>
            <a:ext cx="3124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钢渣显热品位高，但冷却与回收方式仍受限制。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27D60C-0F58-41EC-BC9D-DA82ADB9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91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E6CEDA-6E54-432E-BEB9-3F1451D8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协同处理需求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DC95A1-34C9-436E-9F96-9080C776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24350"/>
            <a:ext cx="3124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工业固废和废塑料资源化需要耦合型低碳路径。</a:t>
            </a:r>
          </a:p>
        </p:txBody>
      </p:sp>
    </p:spTree>
    <p:extLst>
      <p:ext uri="{BB962C8B-B14F-4D97-AF65-F5344CB8AC3E}">
        <p14:creationId xmlns:p14="http://schemas.microsoft.com/office/powerpoint/2010/main" val="17903216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CAA78D-4FA0-49EE-92E5-9A616B58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DCFC9-7AF1-4FAD-BF66-CD953ED9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A403E-CE0D-4C24-BF64-C86AB638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4775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4B5F9-42A0-47DE-8369-1427916E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2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BE08B-3DFB-4FCB-8160-6BF6EB39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A6C47-223D-41C3-AEE7-CCA247A2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F004E-0C95-410E-980F-B47E9EC4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49171-C3EC-4DA7-BB41-CE7D473E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1DCB9-4477-4820-9CB1-787694F3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9D714-8D0D-475C-8F01-24BCD05B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39869-F796-4203-9365-E0FFF708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8376D-BA48-4F78-93DB-A5F33A6A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3E9E3-09B7-4FA7-9CE5-9D5DA801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135A4-B594-4CB1-A1CA-9C835C41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be4a6e69c438b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DB268-8F37-4EEF-A989-6D73CFDA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531E6-2D01-4F87-9FEB-B780A3D5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5DD67-236D-4906-B263-398B90E3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AE8E8-B847-48EB-9BB6-0296D75E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高温钢渣余热回收方式与瓶颈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BABE40-C4A9-4A34-822C-6FD99B22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6706F1-C12C-4537-BDC3-D9247FEA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6247E5-B054-4C78-A37D-EE4B817D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476375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a40c4e4f44017"/>
          <a:srcRect xmlns:a="http://schemas.openxmlformats.org/drawingml/2006/main" l="486" t="0" r="4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2952750" cy="17145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8DE66C-DA3D-42A2-AC7F-F265017D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476375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d1b57040041d1"/>
          <a:stretch xmlns:a="http://schemas.openxmlformats.org/drawingml/2006/main"/>
        </p:blipFill>
        <p:spPr>
          <a:xfrm xmlns:a="http://schemas.openxmlformats.org/drawingml/2006/main">
            <a:off x="4028889" y="1524000"/>
            <a:ext cx="2705471" cy="17145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7EDB72-E55F-4D1B-9057-A7175C00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667125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0b77aba7d4cd8"/>
          <a:stretch xmlns:a="http://schemas.openxmlformats.org/drawingml/2006/main"/>
        </p:blipFill>
        <p:spPr>
          <a:xfrm xmlns:a="http://schemas.openxmlformats.org/drawingml/2006/main">
            <a:off x="609600" y="3732312"/>
            <a:ext cx="2952750" cy="1679377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94FA11-29E4-41A2-8CB3-8291588F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67125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d9a36ffb3424b"/>
          <a:stretch xmlns:a="http://schemas.openxmlformats.org/drawingml/2006/main"/>
        </p:blipFill>
        <p:spPr>
          <a:xfrm xmlns:a="http://schemas.openxmlformats.org/drawingml/2006/main">
            <a:off x="4155838" y="3714750"/>
            <a:ext cx="2451575" cy="1714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FDF999-318C-4763-B7B5-F149802D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04950"/>
            <a:ext cx="390525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E9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A10DC0-DF43-47ED-84C4-FB0093BC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62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DF91DC-F211-474D-8CC1-CBD36B6B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95450"/>
            <a:ext cx="914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热闷法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5AD244-7B5E-4CAF-89BF-559045B4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95450"/>
            <a:ext cx="2438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污染较重、周期较长，尾渣粒度不均。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26E4EE-C033-4CB4-805C-43EEB33B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86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2EBEEB-35EF-48CE-93AA-28D32BB7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19350"/>
            <a:ext cx="914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风淬法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C721AF-889F-4C53-91F3-F6F60950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19350"/>
            <a:ext cx="2438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对处理钢渣要求高，工程应用局限明显。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C145F7-EAAB-4E83-84A1-0B8C64DF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09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47C5E3-26CB-4B87-84C3-24FC0550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43250"/>
            <a:ext cx="123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化学重整法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F4D5EE-CB1E-4ABA-8059-5BF42399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43250"/>
            <a:ext cx="2114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可把显热转化为化学能，具备更高价值。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810C8E-15CF-4A1C-BE53-3380BB4D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33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146FF2-E253-4231-89D6-D3EF373E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67150"/>
            <a:ext cx="1066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20F9F4-3C36-48D3-9D16-EACA7E28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6715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如何把热量、碱性组分和金属氧化物协同利用。</a:t>
            </a:r>
          </a:p>
        </p:txBody>
      </p:sp>
    </p:spTree>
    <p:extLst>
      <p:ext uri="{BB962C8B-B14F-4D97-AF65-F5344CB8AC3E}">
        <p14:creationId xmlns:p14="http://schemas.microsoft.com/office/powerpoint/2010/main" val="7754721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FD7E95-3C63-49E1-832D-599A226E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5FC84-E8C9-49DB-BF99-251700FD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5588E-344C-4D03-81FA-9A38FB1C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4775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083F0-C410-4A31-8E51-6E5A0A53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2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37381-9F3F-4D95-86DA-D759DEB8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FECA9-F85E-4E67-814D-630FDDAA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E3439-3D88-4559-9560-C3A02C6F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403DE-CBF8-48A2-9BAC-79EF8029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407BF-CAC6-498A-95DA-B9D5D0C1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E3F11-BE36-4287-8323-4728BDA1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A6944-7F16-4DC8-9F37-EAA16341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50375-B73B-493E-812E-EF911694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8BB75-FA75-49D7-9CFA-284EDC5A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F4BBD-5E74-40C3-AC1E-7380BD13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d14b7ec164010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5793F-F518-4E6A-A3CB-9BB5ADE9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195C3D-C164-4D21-B75A-8D046B0A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D65901-1AB4-46B9-80D5-0E0DC61D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AE106B-84A0-4CC3-B677-B769EC3B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PVC废塑料处理痛点：资源化与脱氯并重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A7E7FD-0D20-48F1-B7DF-CC2ECD32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41BC46-284B-463B-AEEE-1EAE764A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8D883-35CF-40FE-ABB3-00249F87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209675"/>
            <a:ext cx="4762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ccd77c2784045"/>
          <a:stretch xmlns:a="http://schemas.openxmlformats.org/drawingml/2006/main"/>
        </p:blipFill>
        <p:spPr>
          <a:xfrm xmlns:a="http://schemas.openxmlformats.org/drawingml/2006/main">
            <a:off x="6572250" y="1347237"/>
            <a:ext cx="4667250" cy="2677625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3567E2-1357-4F62-B6BA-3CC39651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E92B9A-1596-476C-8114-25E20487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2143125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6300万吨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6B4B6D-1835-47B3-B67F-D75FA4EB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9592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2022年废弃塑料产生量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CD8790-6A1F-4EB4-B7D6-B5D77EAF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47800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FD90ED-4471-4290-9B81-0FF16311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2143125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1890万吨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C8D033-5D7B-4A99-A7ED-A0D90EA9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69592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回收量，占比约30%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EF5792-6F7D-48CA-B20C-307E1A8F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4AB1FF-6577-40CA-B134-7573B95E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143125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1953万吨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09DADC-6772-496C-A59D-8954B28D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69742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焚烧处置量，占比约31%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82CC91-B18E-4623-BA14-6D742F29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C46490-2C51-4336-A643-8B1CF0DD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2143125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含氯污染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D01A49-8DAF-48B9-A440-6BF17813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69742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HCl及二噁英风险突出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69EB58-F4CC-4C00-866A-E40B4B37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106870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C678D8-223B-4887-994C-0C51D112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6C7EE5-0F9B-472D-BF5C-00AC4992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机械回收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2016BB-3DB5-499E-938E-3EBFFF0C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86250"/>
            <a:ext cx="899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受原料纯度、种类和稳定性影响，产品价值波动明显。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775E0A-8BBC-4A1F-9B2D-6EC39957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61A54B-1441-4B98-8937-A04763F8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1314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热化学转化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C352C9-92FC-4E3A-A0FF-F9A4661F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800600"/>
            <a:ext cx="882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可实现碳氢资源回收，但PVC含氯组分会带来酸性气体与腐蚀问题。</a:t>
            </a:r>
          </a:p>
        </p:txBody>
      </p:sp>
    </p:spTree>
    <p:extLst>
      <p:ext uri="{BB962C8B-B14F-4D97-AF65-F5344CB8AC3E}">
        <p14:creationId xmlns:p14="http://schemas.microsoft.com/office/powerpoint/2010/main" val="6707801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C99F7A-E467-4EB2-B327-5BA4631C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79B27-05AA-4AEF-BB1F-C8E9F1AD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8041C-41B8-4ACC-B1D1-7376EDB2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4775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B317A-CFBA-4298-9A03-3AADE4AB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2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9113C-868C-46B3-B2D8-3F3440D9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E593B-0DDD-41B6-B2CB-35889306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6DDAE-7B14-44AD-BB1D-2F82F3F6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50811-3977-4125-95FA-9C32446F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6CD5A-DD5F-456C-B0ED-C19C7A3B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21558-8E52-473B-A58A-F0F2553D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18B09-6D64-4A19-98E3-A3CB986D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7E016-A96E-4E10-B9C1-79F7DD50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EA57E-95AB-43B2-AA93-EBD8311F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F6AE4-510B-46AB-BA75-B9133039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04b13df1f4df2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F8142-FCD1-4812-AF90-D04C648A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4275B1-4A39-4431-BEC7-4E3AB1DD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73DDF4-8C1B-415D-9D75-F3EC431F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378CFA-3A6D-4E81-8435-4DB90547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研究问题：把钢渣热、质与PVC裂解过程耦合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E830D-BE24-4109-94AD-7413A10F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119090-9A78-4227-AD4D-BCB55F76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66D4C-4652-4BBA-8E24-0705D0C6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23975"/>
            <a:ext cx="50482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5a89ddaa54d75"/>
          <a:stretch xmlns:a="http://schemas.openxmlformats.org/drawingml/2006/main"/>
        </p:blipFill>
        <p:spPr>
          <a:xfrm xmlns:a="http://schemas.openxmlformats.org/drawingml/2006/main">
            <a:off x="639471" y="1371600"/>
            <a:ext cx="4931358" cy="2905125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95AD6F-B687-4721-9D06-D5909CBF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43050"/>
            <a:ext cx="1428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E594F2-3C5B-4272-858F-93457A39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钢渣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6973F4-D072-4BBE-A4E6-0DDA4D1B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1162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显热供能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CaO/MnO/FeO固氯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C8A2E3-0820-4969-99DD-17CAD4CB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43050"/>
            <a:ext cx="1428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4DFE39-88AD-4831-82F3-95134284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PVC废塑料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6525A3-2C69-4F2A-B03F-4847A0B4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1162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碳氢资源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含氯污染需控制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1BE4AA-6FBF-46BB-92CA-39BFDC05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43050"/>
            <a:ext cx="1428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AACEBC-C4C5-4476-9C7A-10611DAC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335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CO2气化剂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1A7A16-4F20-4C77-A796-17C4C4FD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90750"/>
            <a:ext cx="1162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促进气化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参与合成气调控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49DB9C-0F57-47E7-BD35-C5F4B6DC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52625"/>
            <a:ext cx="26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7FFDEC-F067-491D-9D39-B7C9E637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52625"/>
            <a:ext cx="26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844908-E858-4916-B690-41F6CC18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5048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9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CEFA0D-EA70-4618-8D16-829276AD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86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5780B7-5248-41A0-82B0-93AC9217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195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目标产物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297611-4A0D-444F-9527-19DD50FB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19500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CO、H2等高品质合成气。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EEF20A-7FC3-4B6C-B098-FA08E487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43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0DDD64-EA61-40E4-864D-4E02E101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767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污染控制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DAAE55-BE61-40AA-A008-62C96175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76700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氯元素由HCl转向CaCl2、MnCl2等稳定固相。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A7716F-379F-4F5A-8A01-6560E0B5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00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E599F2-E468-46B6-842B-4F821717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339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评价维度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045FF3-F3C5-41ED-8FF4-98E16AF0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33900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热力学、能量-㶲、生命周期环境影响。</a:t>
            </a:r>
          </a:p>
        </p:txBody>
      </p:sp>
    </p:spTree>
    <p:extLst>
      <p:ext uri="{BB962C8B-B14F-4D97-AF65-F5344CB8AC3E}">
        <p14:creationId xmlns:p14="http://schemas.microsoft.com/office/powerpoint/2010/main" val="139474142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707843-F1E1-4CB7-9EB3-BB3C58E6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F9EF8-2717-4B2A-BD50-F4B9629E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571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5ffd79da04541"/>
          <a:stretch xmlns:a="http://schemas.openxmlformats.org/drawingml/2006/main"/>
        </p:blipFill>
        <p:spPr>
          <a:xfrm xmlns:a="http://schemas.openxmlformats.org/drawingml/2006/main">
            <a:off x="9566615" y="371475"/>
            <a:ext cx="1155020" cy="419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0AF63-999E-492E-BC96-C49EDF28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2095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8733C-8514-488F-9FF6-AADFE464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19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7928D-9C8A-4E45-8C57-96C5E22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1A544-5845-4950-AFCD-57205668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8AC7D-1030-4D36-845D-EDCECFB1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02D48-9157-484B-A21C-DB574474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8F877-BF16-4913-BAF5-18054A02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2095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6A923-BF25-4326-A153-A52780AD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19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890C5-467D-40AE-AB7D-8EBB7852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81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0DE25-D817-4499-9D42-78C9DBDB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F8F8D-D88D-4562-A26F-09EA6969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2D0E6-C457-466F-85A1-4AA21B41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76750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69478-DE32-4B26-90C3-7B22F38C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095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C5197-6EE4-4076-AF80-1E54D488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4129A-E40E-4280-89F4-369D2760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560233-0938-4289-AAFB-D482AE43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E5FDC-3599-4B8F-AB52-451514C8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4D6C84-BCA2-49EA-A115-C214168D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701EA-438E-4DEF-852F-0829FC90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095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8DECA6-E1E7-4141-9BED-A5C2F070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DD9E3B-4447-4B3B-99BF-85D31604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EBDBD5-D9C0-45E3-939F-58B66968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46D0DB-8A00-4448-A448-5E42935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767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A1DDE4-30F0-41C7-9B24-B806B76E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0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BF7F1F-AA0E-40C7-A737-DD378049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39F19E-B309-4841-BF56-CC0A4049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130B57-B186-4600-8CC8-8EBF059D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239214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729024-56AB-4C42-901E-3B518979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32F27-C034-42A5-9E8C-113C74AD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B936D-4DF9-4157-B1AF-A0C8454D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DF3BA-6912-44E6-866C-B0F7AC39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68AE1-C767-4938-ADDD-8EFD4F22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4CFE0-6C5F-4FB3-A090-40D82ECF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04775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E7ECD-42CF-43E0-8CD8-C8760C97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52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66B57-93A9-4689-928C-31AB418F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6FE31-8875-4907-BF53-4C11DE0D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6666B-00B6-4E40-AACB-18A2F59C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26C75-ADA2-4068-9D97-86D84E35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B6F10-B62F-4889-A78D-16969F02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641C7-97B8-4BBA-9F28-14466DC7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A536D-90DC-4E59-AB5B-88FAF413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f08e982314466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1E66C-4B78-47D4-A0F9-5A020BB2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D4AFF-DDD6-4D8D-9AEF-7AC6E85E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53652D-3A71-4448-B04D-66AD626A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2ABB8F-0FF5-4546-BC4E-1A40EE13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技术路线：从建模筛选到综合评价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B6E29-5ADE-4869-8289-B184DD8B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BE218B-7905-4CE1-BB72-D1EACEE1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8E3D99-7614-46C0-BC48-5B4575C3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285875"/>
            <a:ext cx="1047750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5e6b3f18b43e8"/>
          <a:stretch xmlns:a="http://schemas.openxmlformats.org/drawingml/2006/main"/>
        </p:blipFill>
        <p:spPr>
          <a:xfrm xmlns:a="http://schemas.openxmlformats.org/drawingml/2006/main">
            <a:off x="2649569" y="1333500"/>
            <a:ext cx="6492813" cy="37909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96EA5-0739-47BE-9920-722FDC81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5D9DC9-FA25-450B-9716-C0FF393D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244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建模分析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23A14E-5AE6-4BE4-B1BD-A52A1A93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86375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85A220-8A1A-494F-84B9-688F6ADF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3244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深入研究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84A2F6-C9FD-4F20-9FC6-E90C4ABC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86375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CDEDF7-ECD0-44B7-9CEF-CBB7CA99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24475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能量与环境分析</a:t>
            </a:r>
          </a:p>
        </p:txBody>
      </p:sp>
    </p:spTree>
    <p:extLst>
      <p:ext uri="{BB962C8B-B14F-4D97-AF65-F5344CB8AC3E}">
        <p14:creationId xmlns:p14="http://schemas.microsoft.com/office/powerpoint/2010/main" val="843024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7D9BE4-8EEC-4114-A9CE-D67FF849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C8C59-FA85-4FC1-8F69-7DBDE760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BBEA7-DB9F-46D0-AAC2-B784ACE0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B15CB-FD83-4AFF-8F37-7AEE2787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8D33D-B743-427D-B783-D1F1BA6B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01BBC-22B7-42F7-90E2-2812B989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04775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83688-2711-4C35-B8C8-392C11A3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52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9CDAB-5F33-4814-8D74-A866E129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A6ADA-BFCB-456D-A446-E52193BF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E7743-92DC-4885-B189-24371A9E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22A7E-A0A3-43D3-A1D9-C2492A25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8BEC1-B496-4064-B213-82D7AC1A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77C90-D6B2-4D55-9AA0-078077FF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A763C-F915-45D8-B2AB-DEC1C9AC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8406fba6c482c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4A5F4-96D2-4E22-BA4C-69DFB997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46CE2-2A39-4A8A-8A92-65E20D7B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CF4FA-AA0C-4DA9-9772-4B25658F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ECBDB-87D7-4D98-BE81-A995F4B6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创新点：热-质协同与多指标闭环评价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7B14E-9068-43F0-884C-03CB10BC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79D43-F1A2-4C58-9B3B-4F5CA8D4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70A3D2-A85E-4DF1-8345-869DA63D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98E02D-F5EA-43BB-854F-BABDBD26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43075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E7BE4A-53B6-457B-B856-3309B3E6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76425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74D932-199F-4932-B204-A471978C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17145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热-质协同利用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33358B-BF45-4464-9C60-4B453CD3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143125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高温钢渣不仅供热，还利用CaO、FeO、MnO参与脱氯与产物调控。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0C2844-BCB5-4877-B4E5-B08785AB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905E87-D53B-43DB-8443-FEA53276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43075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CCACB1-2058-41EE-B1BC-84B3A97E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76425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5A5576-DDD2-43D8-A79E-C449DFB6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145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双目标优化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72CB01-77BE-41D7-805F-5383186A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43125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以合成气品质和脱氯效率共同判断工况，而不是只看产气量。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EFF959-D2E3-4CAB-8248-9B3201B8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76625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48A43A-62FF-4477-92A7-CF991DFE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43325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C1B5D5-5ACA-484B-9782-EB785AF3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76675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99815B-6AB7-4F60-87D0-9CE927FD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71475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组分机制拆解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82B1E2-644C-4490-9739-EF211CBE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143375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分别考察碱度、FeO、MnO对氯元素迁移和固相固定的贡献。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861C2D-5948-4E24-83C8-A5A32D5F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A43843-0C31-48F1-BBB0-D3539447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43325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7FB6C2-C81F-47EA-8458-CAA7D4F8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76675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C6A806-FF7F-49D7-A8C8-609F52E0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1475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综合环境评价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081A3D-FBB2-4C32-9F5E-C678C71D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43375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把能量、㶲效率与LCA环境指标纳入同一评价框架。</a:t>
            </a:r>
          </a:p>
        </p:txBody>
      </p:sp>
    </p:spTree>
    <p:extLst>
      <p:ext uri="{BB962C8B-B14F-4D97-AF65-F5344CB8AC3E}">
        <p14:creationId xmlns:p14="http://schemas.microsoft.com/office/powerpoint/2010/main" val="2881379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38916A-3469-4EE4-A03F-F44CADF4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D9B5E-6B10-4202-9284-00BD11CB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571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a66f364d44f19"/>
          <a:stretch xmlns:a="http://schemas.openxmlformats.org/drawingml/2006/main"/>
        </p:blipFill>
        <p:spPr>
          <a:xfrm xmlns:a="http://schemas.openxmlformats.org/drawingml/2006/main">
            <a:off x="9566615" y="371475"/>
            <a:ext cx="1155020" cy="419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37D43-B264-4C14-B175-024E0759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2095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622C3-0463-4940-A5F6-6BE12B04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19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E4161-B0A9-4DEF-A0C8-DCB8871D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9DD62-E638-4634-A7D2-A8549F95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528F9-2AF6-4E8C-BB36-DAA12329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EDB7D-2037-4D1C-967B-9CD3D5A2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40A7A-227B-43D7-B865-00007EEF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2095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CB5C1-93E9-4E11-91B0-E1213A97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19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057DB-EA7C-4BE7-A046-B2CF41D9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81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22136-9B53-40AF-85F0-44396A93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B3AC9-31DA-4D19-AA39-FC674219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153B3-8FDE-4F38-B529-75099A50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76750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0096A0-2EF8-42B2-8414-7F6F098E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095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56058-7632-4A7C-AE19-C545CAC8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DFB81-1D13-4553-8E82-21790EF5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8DF15-148E-491D-9845-61C5D889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78D3C0-D2D4-464B-A0D7-01F40495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C82FA-E954-47CC-9FAE-F659E2C2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32E9CF-7A6D-44FE-A6CF-58DCAAFF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095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790FAD-9C01-46B0-ADDA-060042AC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0FBC73-9DA0-46A2-81F8-23E4F32B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7C08FD-0F95-4C2B-B2F4-CD3EADE2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3CC22C-2765-4F6F-8139-72683154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767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49206E-BE31-47A1-A74D-5AD35A7A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0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ED5494-30AD-4D96-BA43-2135A1A8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04AC09-C7CA-47F7-A8CA-482DA171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890FC3-BCE6-45E7-9139-396B7E8D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141250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92FD83-00AF-4E52-A5A0-4F7575F1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2894F-673D-4E1A-9AD6-5EF18996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21192-886C-4E48-921F-7348A927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CD11B-245C-4D24-9158-6A96CADB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35CDB-CA5C-420C-8649-18AD2AB1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D1A85-0D51-4157-905F-0D56FEDD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0BD8F-6644-4271-BA3E-8D60D062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37E95-CE8F-4155-8679-8D9B8958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311C7-D396-48EF-BF5B-D483D415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4775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73E1A-1540-42F7-953B-64FB5DE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52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9EBAA-10DA-4B0E-A79D-DDD8FBD6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021C3-B7F2-4208-AF0B-4863268A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BAE22-AD6D-403C-B8AC-D3C844F3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EC59C-F25A-4E65-8357-943CF4DD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a524cbea44b31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BA8DC-68A1-4768-B809-01BD2951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A6D214-E88E-4EF1-A4E2-CC9E7ACE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525CDB-FDF0-488D-A2D6-8A9FACB0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317BA0-D0A4-4750-83B7-0E2CAFBB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模型方法与评价指标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E1933B-3309-4E3F-8347-6D477345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DDE9B-093D-4B74-9A0E-58F8A532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E60808-ABA0-4B30-BD01-BF7DC695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BEA82B-465E-4BE4-AF2F-7C43A9B3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研究环节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0B961D-D5DE-4C4B-85BF-7F0917AB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428750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9B9491-3C15-4891-8B77-1E1987B1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5240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输入变量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12201F-3530-4331-8070-7FA6E4A5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28750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E4F236-38B8-4C6A-9F60-21879973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5240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核心输出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032CE2-61A5-4C70-946D-0ECB5FBA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28750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DD725C-8058-4211-AE50-B03423E5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5240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评价指标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88294B-B93A-4DCC-91D3-1CDCE836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20B632-6A50-4183-86DC-0931381C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1581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热力学平衡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0D5A4A-C9D1-4AB6-ADD6-8F1F5280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66900"/>
            <a:ext cx="276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3D0453-DA57-4FF2-8BB7-C44F8CA9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019300"/>
            <a:ext cx="2533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T、n(CO2)/n(C)、压力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1BF9C9-5F7E-4030-A537-21E97EA6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66900"/>
            <a:ext cx="276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83BAA7-8CCA-4F92-B1B1-52B38015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19300"/>
            <a:ext cx="2533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H2、CO、CH4、CO2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平衡组成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79B893-A4DC-476A-B5D5-33E18B14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66900"/>
            <a:ext cx="276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AEE002-3148-4F2B-88BD-2487DEED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19300"/>
            <a:ext cx="2533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合成气产率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碳转化率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高位热值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998BC2-C192-48A8-ADCD-1932F1D2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FD41EA-7D4B-434A-94A1-B48C05E5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581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钢渣组分调控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F69B01-7694-43B8-8626-1013151E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09900"/>
            <a:ext cx="276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0B1E06-7819-4120-876B-746785B2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162300"/>
            <a:ext cx="2533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碱度、FeO、MnO含量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6C4476-9E57-42E5-A408-9EB17385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9900"/>
            <a:ext cx="276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D73D24-6D91-46EE-98CE-345252F0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62300"/>
            <a:ext cx="2533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HCl、CaCl2、FeCl2、MnCl2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031F95-0525-463E-9EA0-78C3B3A4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09900"/>
            <a:ext cx="276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0A48B4-472A-46D6-A28D-EC467E40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162300"/>
            <a:ext cx="2533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脱氯效率DE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氯元素赋存分布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0925A5-6D71-463B-BBD0-E6DFEFFE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2DA20B-E1D5-428E-8011-40B7C17B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1581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能量-㶲与LCA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77DE88-0C5E-4D2D-8441-B0435ED8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52900"/>
            <a:ext cx="276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50E20C-0708-4CB2-883B-F63C4F02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305300"/>
            <a:ext cx="2533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最佳工况、功能单位1 t钢渣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4653B6-78BE-44DB-B986-A9673E2B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52900"/>
            <a:ext cx="276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B9828C-0DEA-42B0-9E85-B58F5CAD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05300"/>
            <a:ext cx="2533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能量流、㶲流、环境影响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2E7425C-4D4A-4147-B632-285DF8C5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152900"/>
            <a:ext cx="276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8E6998-DC7F-4B11-8D01-B26B9AD7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305300"/>
            <a:ext cx="2533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能量效率/㶲效率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CML-IA baseline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F5EB64-044A-4E7B-A37E-82703BEA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108299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5"/>
          </a:solidFill>
          <a:ln xmlns:a="http://schemas.openxmlformats.org/drawingml/2006/main" w="9525">
            <a:solidFill>
              <a:srgbClr val="F3CC7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2752CE-A43D-4A90-A1B5-F615FF48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81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15E2B4-CFA0-450A-8943-DD9C00D4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方法主线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E6890F3-A6D3-413E-AE02-158B2CC1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15000"/>
            <a:ext cx="90773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HSC Chemistry热力学模拟 + SimaPro生命周期评价 + 能量/㶲平衡核算。</a:t>
            </a:r>
          </a:p>
        </p:txBody>
      </p:sp>
    </p:spTree>
    <p:extLst>
      <p:ext uri="{BB962C8B-B14F-4D97-AF65-F5344CB8AC3E}">
        <p14:creationId xmlns:p14="http://schemas.microsoft.com/office/powerpoint/2010/main" val="16609710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D865C3-04EC-449A-BA9F-02EB89E8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8DB66-12B8-4100-BB62-FA02CC93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D62CC-D438-4876-918C-C1C7429A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4D367-06E5-4541-BCF1-EAEAAF95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B51D2-CC82-4F4F-81E5-F17927DE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04DA7-5CED-4D82-ABFD-066FFBF2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C8E23-19BD-4122-A790-1A3B336E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1F916-6084-4888-B3DD-A70C7C90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FD30A-B1EE-45F2-9049-94B9FA84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4775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4A62A-3F6F-4B5A-B648-ACEB9CD0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52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29C0C-C191-44B3-BC39-B659A7F9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5245D-A59A-4A87-B6AB-F2486580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03FF4-23C6-45F7-8AAB-FF6E033F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7F95D-5919-4405-856C-12BECC84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09f23352f4c89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B9625-209B-47D7-A0DF-1830661C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E6A13-887B-4B4A-9D65-8AFE4FEA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E10A52-F591-478F-9AD2-0ED750DD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3B83B-8976-46FE-9338-6D8612AB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热力学分析：温度和n(CO2)/n(C)对产气的影响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5279BD-0693-45D0-B3EE-0689F256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90575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T=500-1500℃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B1966B-245B-451B-8B2B-9724E272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70525-E912-4D5F-81BB-94308228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B6C9D3-AF9B-480F-8FD0-11D7E5C1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333500"/>
            <a:ext cx="2333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8ed148df24af5"/>
          <a:stretch xmlns:a="http://schemas.openxmlformats.org/drawingml/2006/main"/>
        </p:blipFill>
        <p:spPr>
          <a:xfrm xmlns:a="http://schemas.openxmlformats.org/drawingml/2006/main">
            <a:off x="520495" y="1381125"/>
            <a:ext cx="2226085" cy="17145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D4B9F6-5ECD-42E2-92B2-649C3A61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33500"/>
            <a:ext cx="2333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4894383474390"/>
          <a:stretch xmlns:a="http://schemas.openxmlformats.org/drawingml/2006/main"/>
        </p:blipFill>
        <p:spPr>
          <a:xfrm xmlns:a="http://schemas.openxmlformats.org/drawingml/2006/main">
            <a:off x="3043054" y="1381125"/>
            <a:ext cx="2153016" cy="1714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1037FD-0BAF-41C0-BFC9-DFC48CC5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381375"/>
            <a:ext cx="2333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780ae7bc14956"/>
          <a:stretch xmlns:a="http://schemas.openxmlformats.org/drawingml/2006/main"/>
        </p:blipFill>
        <p:spPr>
          <a:xfrm xmlns:a="http://schemas.openxmlformats.org/drawingml/2006/main">
            <a:off x="542795" y="3429000"/>
            <a:ext cx="2181484" cy="17145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DE5E85-6B4B-4B0D-9091-71C07C76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81375"/>
            <a:ext cx="2333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153fff5974be7"/>
          <a:stretch xmlns:a="http://schemas.openxmlformats.org/drawingml/2006/main"/>
        </p:blipFill>
        <p:spPr>
          <a:xfrm xmlns:a="http://schemas.openxmlformats.org/drawingml/2006/main">
            <a:off x="3067702" y="3429000"/>
            <a:ext cx="2103720" cy="17145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410E66-5927-42FA-A4AC-F54E2342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5334000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E9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95B771-CF9D-4311-9C12-3402801E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38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82AFF3-C1BF-4F67-86E0-2E756338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71625"/>
            <a:ext cx="11239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升温作用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367FA3-BB25-4A01-9D72-7434B625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571625"/>
            <a:ext cx="36576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促进CH4转化，提高CO与H2生成。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1894D3-106C-4E5B-983E-4CBF2C5A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52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966BE3-5815-4B23-B9E6-97267EDA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86000"/>
            <a:ext cx="11239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配比窗口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ECF46D-CF9A-4F07-A02A-26225006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86000"/>
            <a:ext cx="36576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n(CO2)/n(C)=1时合成气产率达到较优。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704012-FD13-4A86-96E7-83C9E6D8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67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9A62EE-DA2B-4513-9FC4-C261DF03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0375"/>
            <a:ext cx="11239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过量CO2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97980C-94BD-46C5-9E1A-16136682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00375"/>
            <a:ext cx="36576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会稀释有效气并抑制H2生成，合成气品质下降。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3D1C4E-33FC-432A-A9DE-1766656A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81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2A79C7-5898-4BF7-927C-5E4012B4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14750"/>
            <a:ext cx="11239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趋势判断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6E8684-31B7-44BB-9CB3-919C57F7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14750"/>
            <a:ext cx="36576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适当升温与适量CO2可兼顾气化反应和产气质量。</a:t>
            </a:r>
          </a:p>
        </p:txBody>
      </p:sp>
    </p:spTree>
    <p:extLst>
      <p:ext uri="{BB962C8B-B14F-4D97-AF65-F5344CB8AC3E}">
        <p14:creationId xmlns:p14="http://schemas.microsoft.com/office/powerpoint/2010/main" val="213260288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56569F-B54A-4E25-941D-FF28A256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B445D-1C4B-4BAF-BEA9-8546CD65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90536-C0F3-4839-ABCB-C6ED13AF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63D06-F8A3-4131-AC73-34979990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F585D-FB08-4B76-9E07-61A1B3A3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3E807-1492-4F17-A18F-2A29D548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785CD-72BE-47CF-850E-E5959684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F38D2-1DEB-4D77-988F-E0597F77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047EE-B144-45ED-A90A-1889BC64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4775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620E8-0B8B-4792-B48E-676606C3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52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D513C-3177-4E7C-8941-993F3C73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00D1F-0337-460D-BFD7-3D56F424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CA3BF-2631-4243-B1CC-8D99DFA9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CC45C-27BE-4AE4-B96A-343B3015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06d324acb43f4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B790E-FEC9-43B5-BE1C-C423676D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25C7A-462C-4C1F-81CC-BE03F233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337812-F4C8-4D9B-B50B-2FA2E314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5E5314-F73E-4C8C-A423-438CD035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综合指标筛选：最佳温度与CO2配比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8F1DC9-5D38-46DC-A4F9-E61544C5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90575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常压条件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FD9BA3-B90D-45A1-AF44-167F3A62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F7B860-ED3E-47BA-954B-97385AC4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D26357-95F6-4DBA-88E7-6853BCCC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304925"/>
            <a:ext cx="2476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2b797cc254484"/>
          <a:stretch xmlns:a="http://schemas.openxmlformats.org/drawingml/2006/main"/>
        </p:blipFill>
        <p:spPr>
          <a:xfrm xmlns:a="http://schemas.openxmlformats.org/drawingml/2006/main">
            <a:off x="533400" y="1367707"/>
            <a:ext cx="2381250" cy="1779436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D4564F-ACAC-454B-943A-82AE7214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04925"/>
            <a:ext cx="2476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152e30d39444c"/>
          <a:stretch xmlns:a="http://schemas.openxmlformats.org/drawingml/2006/main"/>
        </p:blipFill>
        <p:spPr>
          <a:xfrm xmlns:a="http://schemas.openxmlformats.org/drawingml/2006/main">
            <a:off x="3143250" y="1379247"/>
            <a:ext cx="2381250" cy="1756357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04C48F-92D3-4F88-B292-AA56868A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495675"/>
            <a:ext cx="2476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dd542b82b43d0"/>
          <a:stretch xmlns:a="http://schemas.openxmlformats.org/drawingml/2006/main"/>
        </p:blipFill>
        <p:spPr>
          <a:xfrm xmlns:a="http://schemas.openxmlformats.org/drawingml/2006/main">
            <a:off x="533400" y="3577688"/>
            <a:ext cx="2381250" cy="1740974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D8B4CA-A4E0-4BFD-87D8-79680F25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95675"/>
            <a:ext cx="2476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03e0603b449ca"/>
          <a:stretch xmlns:a="http://schemas.openxmlformats.org/drawingml/2006/main"/>
        </p:blipFill>
        <p:spPr>
          <a:xfrm xmlns:a="http://schemas.openxmlformats.org/drawingml/2006/main">
            <a:off x="3143250" y="3547504"/>
            <a:ext cx="2381250" cy="1801341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996762-8293-4EED-AC6B-A3212ADB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2143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0FFD24-585E-4740-BF10-04E49E54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1952625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900-1000℃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EBFFDD-08BD-4193-A039-78189021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26742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适宜温度区间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19DEB3-1699-4F00-BF47-1AA5D116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04950"/>
            <a:ext cx="2143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16090E-C0CB-4E02-B91C-207B0716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81150"/>
            <a:ext cx="1952625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n=1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E1C4F1-7D83-498B-B023-D8251783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26742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最佳CO2/C配比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FE63EE-4F0A-4380-A374-7B0A2BD8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143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000F99-C14A-4307-B727-EC927665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952625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≈100%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20FDEC-4386-4993-96A9-8DD439F7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3092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碳转化率接近完全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2B5283-6A7A-4A41-9645-1EB6AC9D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81300"/>
            <a:ext cx="2143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2EC5E3-35D2-4EE3-BC40-522B5D61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1952625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较低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89DBFA-A84C-471E-AC1F-F3C12631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03092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加权温室气体排放强度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577D6A-5726-44F0-A5F3-85B7F6B5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629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7E5"/>
          </a:solidFill>
          <a:ln xmlns:a="http://schemas.openxmlformats.org/drawingml/2006/main" w="9525">
            <a:solidFill>
              <a:srgbClr val="F3CC7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98A01B-7141-4DDA-9296-580283C2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57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4068C1-013B-4828-A438-F8B0A77C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68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0E2D90-CB23-4321-BA16-FA616EEA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900-1000℃、n(CO2)/n(C)=1可兼顾产气、转化和排放强度。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3DB44D-8DB8-407A-ADA9-F1C9D9C5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91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5B5BB9-33A5-401F-B6F7-DBF8B00D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24400"/>
            <a:ext cx="68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取舍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EE0F9D-F4B2-42D7-AB6B-07F9E890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2440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继续提高CO2配比会降低H2产率，不利于合成气品质。</a:t>
            </a:r>
          </a:p>
        </p:txBody>
      </p:sp>
    </p:spTree>
    <p:extLst>
      <p:ext uri="{BB962C8B-B14F-4D97-AF65-F5344CB8AC3E}">
        <p14:creationId xmlns:p14="http://schemas.microsoft.com/office/powerpoint/2010/main" val="93807116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5E551A-7535-48B1-A6D8-E5F1B564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7FDCD-23E6-4136-89C4-981FECE3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14862-A95A-4ED0-A928-6327300E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4D471-60A3-4AD7-8277-DDB3A077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710C0-55BB-4B77-A091-4ED2B894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A463B-7B1D-40B7-A99E-7745D1B9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B391E-C76F-413B-9708-54FB3125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19C68-1245-4984-9CC3-090FAC55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18CDE-E93E-488A-B506-F6F4EDA0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4775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0FCAD-C34E-4FF2-B2B8-5A03FE3A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52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F83D8-1707-4698-A7F5-401ACA38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CABF9-0A9F-49DB-BF97-CBBE6931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1579B-48FE-470B-8CC6-48DF6628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18967-4064-4657-A574-1663E9AA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04452c26b4fc6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2A6D1-8313-4FD7-ACB9-BE6EE969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25CBF-F65A-463C-BC76-B048DB08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91D02-3852-468C-9F76-477DD053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83510-8488-4EA8-86D5-B904A3A1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压力影响：升压不利于裂解和气化反应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57FF0-D9FB-4C32-9C1B-2CDBEECD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90575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900℃, n(CO2)/n(C)=1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36B6B-089B-4048-B1E5-EDEA1D09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868FB-3667-4054-A277-2049178C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B96DC2-CDE3-49E7-9733-FD8246F4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000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e614a708748d3"/>
          <a:stretch xmlns:a="http://schemas.openxmlformats.org/drawingml/2006/main"/>
        </p:blipFill>
        <p:spPr>
          <a:xfrm xmlns:a="http://schemas.openxmlformats.org/drawingml/2006/main">
            <a:off x="994382" y="1428750"/>
            <a:ext cx="3345237" cy="28575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7C7991-2684-42F8-B0C4-8102B83E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381125"/>
            <a:ext cx="385762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ce3cbb46a469a"/>
          <a:stretch xmlns:a="http://schemas.openxmlformats.org/drawingml/2006/main"/>
        </p:blipFill>
        <p:spPr>
          <a:xfrm xmlns:a="http://schemas.openxmlformats.org/drawingml/2006/main">
            <a:off x="5233434" y="1428750"/>
            <a:ext cx="3677758" cy="2857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F0547E-A506-4671-8C34-277BBC76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8239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1D4026-7E7F-490F-BB21-46AEBC46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24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021571-8A09-4A93-886D-93481DC7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857750"/>
            <a:ext cx="1104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常压最佳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3FC485-0332-4C07-9A59-53A74FE2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857750"/>
            <a:ext cx="6581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压力从0.1 MPa升至3 MPa时，合成气产率、碳转化率和高位热值下降。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DD46C3-C276-4905-B9A8-7B8FDE52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428750"/>
            <a:ext cx="2190750" cy="2857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9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5053A6-0D19-4601-8817-DD634135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685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84F39B-4E44-4449-AC0E-222719DA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619250"/>
            <a:ext cx="1638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升压推动平衡向气体摩尔数较小方向移动。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774ED1-90DB-4C20-B5E8-479341BF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428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FBE30C-8C7C-47D0-832C-15672456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362200"/>
            <a:ext cx="1638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CO、H2生成受到抑制，CH4略有增加。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08C66D-4A2E-4016-A282-77F35132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171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DE9E05-43D0-4603-89D0-D18F0152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105150"/>
            <a:ext cx="1638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适宜操作压力为0.1 MPa。</a:t>
            </a:r>
          </a:p>
        </p:txBody>
      </p:sp>
    </p:spTree>
    <p:extLst>
      <p:ext uri="{BB962C8B-B14F-4D97-AF65-F5344CB8AC3E}">
        <p14:creationId xmlns:p14="http://schemas.microsoft.com/office/powerpoint/2010/main" val="9104117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B97F79-5C65-4415-B3EF-1044D947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93822-2604-4008-B1F5-F2E95DAA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B0AB0-2D0A-43E9-B42F-183FD1B6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1EF2B-1A7E-4B95-BE14-5F816965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CB597-1D35-4D1F-AF13-CBFCD294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5FCD8-0FEB-4632-97EE-07645771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10515-AD21-4B5B-9C7E-91C1DCE8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A43F2-3DA4-45D3-9E7A-A870FEEF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F168C-F7A9-46CF-94F2-E096CCDA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4775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DD9B0-65EC-4C14-9E04-D361A59E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52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C74E4-9296-42A9-99FC-21DFAFEA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77314-8486-42D9-A6E5-C4590E2E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396D7-B7EF-41C3-8515-15D351B0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3AB13-E3FD-4303-87AC-9FC368B9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341e8b79d4f35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00B5C-697E-459A-92F3-2644D6B5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D6FD0-E920-4A57-B612-F21C9E3E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281DD-4DC3-40C2-B6C0-E8FA2860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6BF3ED-A243-457B-99DD-E1ACD19E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钢渣加入改变氯元素赋存形态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E760A-D7DB-43BE-88FB-F0376C43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90575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900℃, n(CO2)/n(C)=1, 0.1MPa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ED29D6-340E-4E0D-B25E-0E7EB3D4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9F41A8-074F-4B72-9C3F-1F94DDAD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7BF433-1D12-486F-B5EA-9E9F9B79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33500"/>
            <a:ext cx="5476875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a291304204f4e"/>
          <a:stretch xmlns:a="http://schemas.openxmlformats.org/drawingml/2006/main"/>
        </p:blipFill>
        <p:spPr>
          <a:xfrm xmlns:a="http://schemas.openxmlformats.org/drawingml/2006/main">
            <a:off x="1515472" y="1381125"/>
            <a:ext cx="3836581" cy="34290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973A6A-1D27-4F5B-B670-512513CA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428750"/>
            <a:ext cx="3714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E87FAD-CEE5-42CF-88B3-3BB0706C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504950"/>
            <a:ext cx="352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100% → 28.74%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0AD6B7-D24B-497B-AA18-BE1F5B6F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76450"/>
            <a:ext cx="3524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HCl中氯占比显著下降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D10ECC-A55A-46BF-B7F6-5BF8CAED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86050"/>
            <a:ext cx="3714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DEFFC0-692A-4FF4-8E7A-B1BA97E3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62250"/>
            <a:ext cx="352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67.25%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007EDA-9CA7-4E6A-A215-1E1D7A5B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33750"/>
            <a:ext cx="3524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氯转入CaCl2固相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01122F-5543-4284-BEAF-3035E244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43350"/>
            <a:ext cx="3714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1AC4C1-A090-422B-B7E3-74C1AAB4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19550"/>
            <a:ext cx="352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0.71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AB96AA-BEC8-4861-981D-7785CB22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591050"/>
            <a:ext cx="3524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有钢渣时脱氯效率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8D34FD-2E76-4A59-934C-0A0E017A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9700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钢渣在热解中发挥固氯作用，有效抑制酸性气体外排。</a:t>
            </a:r>
          </a:p>
        </p:txBody>
      </p:sp>
    </p:spTree>
    <p:extLst>
      <p:ext uri="{BB962C8B-B14F-4D97-AF65-F5344CB8AC3E}">
        <p14:creationId xmlns:p14="http://schemas.microsoft.com/office/powerpoint/2010/main" val="73617898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C08498-0415-4B42-A941-D2085B92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705DE-CAC6-4BF2-9F90-312D2403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8ED6D-B4DD-4D0B-BE09-5D8AF8D2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47F9B-66E7-4F3D-908F-7AE73D7A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1F034-6C85-43C5-AE71-6648B5E4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D90D8-6096-4E7F-B0A4-226F6C8A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9F858-E8F0-4601-8D32-66097D44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18A16-B5C0-465E-BF7C-F92605FF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78013-6503-4486-9067-C2C3BDED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4775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08B76-0A01-4FBA-BC20-21C3EC8B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52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48CC8-B2DC-45C2-9D9B-BBAF5F00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C2BDF-CC36-4193-AD5D-A77AEBC0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93357-5E3A-484C-A05A-4AC1797B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12D6D9-35D8-439D-A3B5-8A5A2956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b6350cc6f4c1e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98EE6-04AC-4A1B-A5C0-E679335F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78941-D149-4B2A-B7F3-A32F22E8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6D6C5-8185-4971-80AB-5B1BF416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33F231-8C8B-47C5-959F-6C1CAB3F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钢渣碱度是提升脱氯效率的主导因素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4CF956-588E-4E17-8C37-EC13A963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90575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900℃, n(CO2)/n(C)=1, 0.1MPa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AC0CF3-6FE9-4245-9717-1E105251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EABE5-A0A4-4B92-A621-011F47D9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65FD3B-3D98-4036-BFD8-7427B9E3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5905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a3db20f0841c4"/>
          <a:stretch xmlns:a="http://schemas.openxmlformats.org/drawingml/2006/main"/>
        </p:blipFill>
        <p:spPr>
          <a:xfrm xmlns:a="http://schemas.openxmlformats.org/drawingml/2006/main">
            <a:off x="1666169" y="1428750"/>
            <a:ext cx="3849511" cy="31432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8785BD-2FDD-4A55-B852-E0DA8481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2875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9AE1A3-96F5-416C-98D9-28BBA982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04950"/>
            <a:ext cx="1619250" cy="3154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2 → 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B9852B-47E6-4502-A1CD-C8826666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24634"/>
            <a:ext cx="1619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钢渣碱度提高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C27C3C-6C70-4089-86C3-A86C00C1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287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CB7983-9A62-4F5A-9CC9-E9E67D40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504950"/>
            <a:ext cx="1905000" cy="3154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0.30 → 0.13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0DC58E-529E-43B3-9755-071C0660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24634"/>
            <a:ext cx="1905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HCl中氯占比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977389-71C7-420E-AF3E-CDFAA1F0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289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6B0836-F2D3-4754-A6A7-AC10E142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05100"/>
            <a:ext cx="1619250" cy="3154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0.69 → 0.86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6E0860-029F-45E3-985A-66559626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24784"/>
            <a:ext cx="1619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CaCl2中氯占比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3BB714-1A16-40AA-9296-8B4D7446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289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561616-F98F-4599-A512-6E7FFA1F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05100"/>
            <a:ext cx="1905000" cy="3154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0.70 → 0.87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BA1F51-5663-4D21-B61D-DE756608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24784"/>
            <a:ext cx="1905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脱氯效率提升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1F18EB-0A6B-4734-BF3D-35E46541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90950"/>
            <a:ext cx="4257675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9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BFDC8A-29F3-4D10-8DDB-0F94205B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48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EC9AC9-B368-4F15-ABCB-F11DC8BC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81450"/>
            <a:ext cx="723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机制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A655F0-8ACC-4D21-A325-1B52E4AC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81450"/>
            <a:ext cx="29813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CaO与HCl反应生成稳定CaCl2，是主要固氯路径。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C15861-69BC-49F0-A52B-F4E9DC88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62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368F96-3A92-48F8-B194-AF6F0641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95800"/>
            <a:ext cx="723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2BC87A-B9CE-4927-BE7A-327D2DFE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95800"/>
            <a:ext cx="29813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提高钢渣碱度对PVC脱氯的促进作用最明显。</a:t>
            </a:r>
          </a:p>
        </p:txBody>
      </p:sp>
    </p:spTree>
    <p:extLst>
      <p:ext uri="{BB962C8B-B14F-4D97-AF65-F5344CB8AC3E}">
        <p14:creationId xmlns:p14="http://schemas.microsoft.com/office/powerpoint/2010/main" val="151457488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2B1F7B-7E5B-4361-A654-8F339490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BB7C0-1B9D-48C9-AEF8-DF0E72B6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823F0-8402-4DBA-A4FA-65B3B2FC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C1E4A-8174-4053-8C9A-3C47FC43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BCF1C-A5A7-4625-BCA1-670402FA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3F420-119C-4D71-B1B8-9ACA2124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E72C7-7208-4050-856E-BFE864CB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3B1E4-3991-47E4-BBA5-210609E5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0E83A-AC86-4062-8EC6-1DE866E5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4775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B6D0F-63FF-4693-87AC-75EE2127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52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8F1C7-3D9A-4E6C-8935-B2C9F799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95C8E-8B60-411C-AD57-4C865B8E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2473F-3F70-4B16-8705-FB7BCE18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E1866-A834-470D-A16E-0F676A1D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d81e3bbb84507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ACB70-C60E-48F5-B901-97AC34B6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B2A65-C8A5-414F-9FFF-1813D06F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49903E-CCB6-4A84-BC67-20C868C3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DB571-003C-4173-832D-D8340782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FeO与MnO对脱氯具有辅助增强作用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7C57F5-DEF4-4CF7-866C-7F5EB867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90575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900℃, n(CO2)/n(C)=1, 0.1MPa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32F12-4709-48F1-AC8B-AC09373A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ED7F7-A803-4400-85F3-26F45CC5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6152D6-555E-45C5-82A6-06C81791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81125"/>
            <a:ext cx="4572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5fbc562fb478a"/>
          <a:stretch xmlns:a="http://schemas.openxmlformats.org/drawingml/2006/main"/>
        </p:blipFill>
        <p:spPr>
          <a:xfrm xmlns:a="http://schemas.openxmlformats.org/drawingml/2006/main">
            <a:off x="917877" y="1428750"/>
            <a:ext cx="3822095" cy="30480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EDD956-8452-4E86-A97C-7777BD09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381125"/>
            <a:ext cx="4572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42dbbd3494593"/>
          <a:stretch xmlns:a="http://schemas.openxmlformats.org/drawingml/2006/main"/>
        </p:blipFill>
        <p:spPr>
          <a:xfrm xmlns:a="http://schemas.openxmlformats.org/drawingml/2006/main">
            <a:off x="5795446" y="1428750"/>
            <a:ext cx="3782458" cy="30480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3DA5F2-D6B8-49C0-9BDC-B0C4A520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97631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BF9DC4-AA13-433D-B92F-550E5600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6E711F-6D2E-4D6F-9A38-2E403EEC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9585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FeO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5273F5-DDF3-4231-9A25-31A08D83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8543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8%增至20%，脱氯效率由0.771缓升至0.788，增幅约2.2%。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3E6068-1F63-453E-B069-F1BB57C9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38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5F6960-7F57-4C49-B962-DAECC11F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721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MnO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B31858-B295-4415-B3B4-4D0767BA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72100"/>
            <a:ext cx="8543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1%增至4.6%，脱氯效率由0.778升至0.794，增幅约2.1%。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D17070-0BBA-4677-9708-2D6F446D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76950"/>
            <a:ext cx="828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结论：CaO主导固氯，FeO与MnO更多体现为辅助调控。</a:t>
            </a:r>
          </a:p>
        </p:txBody>
      </p:sp>
    </p:spTree>
    <p:extLst>
      <p:ext uri="{BB962C8B-B14F-4D97-AF65-F5344CB8AC3E}">
        <p14:creationId xmlns:p14="http://schemas.microsoft.com/office/powerpoint/2010/main" val="44735355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D572D8-9A6A-414F-9D40-B7FE169D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853B1-6B5E-4147-9596-42B79F70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E6187-BDD9-4EF6-BB87-07D8D322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93F3B-55DB-4363-8D53-67C921DC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34977-4E4C-4738-A622-DE619A48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61DE9-D7E9-4C4F-A82A-A869B91A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1281D-8C2F-41A5-B679-C7548BED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E5E7D-D0DB-4FFE-AAE4-8F2821D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F704E-58BD-4141-AFE9-2DE9BF6A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4775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729A4-32A4-4C92-80F4-4F5BD62D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52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1B682-C596-4AB6-88D1-63BFC643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7C61B-E810-44F3-BB7C-78FCDAA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E385A-58A8-4F2C-BE8F-F6EDE17D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A1F7F-D537-45AE-835D-E3C1AA4D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ee56b3ec64773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215C4-6C6E-45BE-8DB0-6955124D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F45EE-C1CD-408C-B6CC-DE282C9C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3FF08-6E24-4C93-8242-4879C7CF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2F12C-82A5-4DC0-952A-0640DDA8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脱氯机理：自由基脱氯与碱性氧化物固氯协同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0E9897-D375-4315-929C-B931B0FB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E58285-BF85-48A5-A710-56D470AF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B62B4-BBF5-45FB-BAEB-8B568831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5524500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3f60f73dd4c84"/>
          <a:stretch xmlns:a="http://schemas.openxmlformats.org/drawingml/2006/main"/>
        </p:blipFill>
        <p:spPr>
          <a:xfrm xmlns:a="http://schemas.openxmlformats.org/drawingml/2006/main">
            <a:off x="571500" y="1352550"/>
            <a:ext cx="5429250" cy="2714625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227C7D-62C2-4B91-86CD-84E9BD80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19225"/>
            <a:ext cx="4381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d367f486d4b69"/>
          <a:stretch xmlns:a="http://schemas.openxmlformats.org/drawingml/2006/main"/>
        </p:blipFill>
        <p:spPr>
          <a:xfrm xmlns:a="http://schemas.openxmlformats.org/drawingml/2006/main">
            <a:off x="6381750" y="1555345"/>
            <a:ext cx="4286250" cy="966011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101F48-ED16-4795-8317-97E69471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4286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9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053DC0-6AF3-4C04-A2BF-5F9D81B7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86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55C261-2DAE-43EB-87E5-FE2D6391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19450"/>
            <a:ext cx="1104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热解断键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2EE0E-E2FA-45A7-9D03-6961E495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19450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钢渣显热促进PVC分子C-Cl键断裂。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AC46B6-D197-4EC0-BC78-DF6CB495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38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004F80-E577-48A5-8815-0C57C10D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719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自由基脱氯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5B7D8D-8AA7-47FF-92D6-25465146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71900"/>
            <a:ext cx="2457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含氯有机碎片逐步转为HCl等无机氯。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8C4AA9-0C07-440C-9DD4-F144EF57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F22F4D-15E2-4E50-9CFC-564DFB54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24350"/>
            <a:ext cx="1104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固相固定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4602DC-FBEC-4283-A29B-90088FFA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24350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CaO/MnO捕获HCl并生成CaCl2、MnCl2。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CA50B8-3D4B-4E6E-9839-F8313642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981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钢渣的“供热 + 固氯 + 催化”作用，使氯从气相迁移到稳定固相。</a:t>
            </a:r>
          </a:p>
        </p:txBody>
      </p:sp>
    </p:spTree>
    <p:extLst>
      <p:ext uri="{BB962C8B-B14F-4D97-AF65-F5344CB8AC3E}">
        <p14:creationId xmlns:p14="http://schemas.microsoft.com/office/powerpoint/2010/main" val="69499182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19C9F0-5092-4DE5-8532-C045D083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CC6E7-B51D-493E-9834-816565D5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69E0A-684A-4AE2-9C40-5590AAE0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5F178-BCE4-4A50-A7C1-7E75A225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6F7F2-C1B2-4398-B303-F0B21457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5C6B7-4F56-4BC1-B6C3-F559F2CF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4246E-15E8-4512-9EB0-72CA1205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1114D-98AC-4C01-9378-99E104DF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FFD0D-69BD-4B6D-B160-A9AA30DD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4775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A2B95-628C-413F-835B-761227B4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52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F2BE7-48E0-48EB-BC3B-4C1388E5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0E713-55FD-40A2-93D8-3E34E34E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22355-5F4F-4B30-8752-E56DEA56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8CC7FD-C3C2-457D-B957-659C6937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be69aaf9a431d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A029E-7F19-49BD-9E8B-FD2FF0D2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194646-8AD2-4E45-8CE8-9BE30450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0D67DE-A354-4B88-BFC6-CEFC8589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345C0-CA7D-4472-A8B3-DA58E8A7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能量分析：合成气成为主要能量输出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321270-1D2D-4074-9991-EBACCEF4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90575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最佳工况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B1C48-CCB4-43D7-A0E6-A43AA187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105DC2-7553-4834-9F6B-BCAB902F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4C1EE1-1CB9-4CA4-8D99-9B450C2E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285875"/>
            <a:ext cx="609600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b101bf0e24bd7"/>
          <a:stretch xmlns:a="http://schemas.openxmlformats.org/drawingml/2006/main"/>
        </p:blipFill>
        <p:spPr>
          <a:xfrm xmlns:a="http://schemas.openxmlformats.org/drawingml/2006/main">
            <a:off x="1176595" y="1333500"/>
            <a:ext cx="4676260" cy="300037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0C90CF-FBA9-4476-B72A-0940CA08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81125"/>
            <a:ext cx="2619375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bb54276f949bf"/>
          <a:stretch xmlns:a="http://schemas.openxmlformats.org/drawingml/2006/main"/>
        </p:blipFill>
        <p:spPr>
          <a:xfrm xmlns:a="http://schemas.openxmlformats.org/drawingml/2006/main">
            <a:off x="7239000" y="1597673"/>
            <a:ext cx="2524125" cy="1614779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379985-A8E3-4D72-B67F-8640CF2D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23336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1B3D31-42EA-4148-9D5B-937489FE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2143125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110564.29 MJ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E96DC9-7021-4219-B314-7899494E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2476"/>
            <a:ext cx="2143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系统总输入能量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6178D5-5620-4E95-A686-B5BB1BC6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23336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994354-DADA-4A4A-865C-AFEF8E10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38700"/>
            <a:ext cx="2143125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79989.4 MJ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69212D-2A7C-4BDF-994E-4101265A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32476"/>
            <a:ext cx="2143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合成气总能量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A2814F-4677-4CB6-A420-1480727E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57625"/>
            <a:ext cx="23336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79B4D5-0960-4C4A-A5B7-A53591A9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33825"/>
            <a:ext cx="2143125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72.34%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2E6895-88C2-4863-BEBB-0AC681D2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27601"/>
            <a:ext cx="2143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系统能量效率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429154-D5C2-4E03-80A9-34C8ABE5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29150"/>
            <a:ext cx="4191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A3B90C-15C4-4A4B-AD0A-5593A453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863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A4B998-E84E-47AA-83D8-2C4233D7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196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PVC废塑料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DE2AD1-2CC6-4F98-AE5F-E9C3189C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19650"/>
            <a:ext cx="2343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贡献64526.09 MJ，为主要能量来源。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808DE0-2D3A-4003-B300-78476694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419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19557B-56DF-4691-8F23-885E83AC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530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钢渣显热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CC078B-F5AB-4D3A-BF27-BB8FC3C3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53050"/>
            <a:ext cx="2343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贡献40804.43 MJ，体现余热回收潜力。</a:t>
            </a:r>
          </a:p>
        </p:txBody>
      </p:sp>
    </p:spTree>
    <p:extLst>
      <p:ext uri="{BB962C8B-B14F-4D97-AF65-F5344CB8AC3E}">
        <p14:creationId xmlns:p14="http://schemas.microsoft.com/office/powerpoint/2010/main" val="155976828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732EB7-BE78-455E-9588-D74D5E9D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023CC-2D9D-4047-880E-28CA428A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9523E-7ECD-4635-B129-6BF53A5D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EDFC0-2A19-498C-AA21-EAD47B00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C3431-F80A-44C6-B8E8-CE1AF609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BED42-57B9-46EB-A119-F6F955C8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A79FE-7F92-4C1E-947D-EE7AF378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9629E-315C-490B-882F-83E4DF9B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75DA4-9BF9-4207-AC20-34614431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4775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133DF-5994-4986-B1DA-2008D4F4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52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39774-06AF-4B79-9C06-36174349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27DA9-7C5D-4029-A144-26807A4A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58FD6-5E64-4BAF-907B-48D6C751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C2970-425C-48C8-BCCB-0FD53191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a01949f3744e1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875BD-74FA-4834-AC87-5AEFCC6D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DA3FA-A885-4A2B-AB68-B456A0FF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DCFE7-2E03-47F4-B35F-7D82265B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8A6E09-F3DA-4F1A-AB5C-0A617E29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㶲分析：有效能利用效率达到71.46%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E1B3CE-EC8D-4057-AAEE-D6926BEC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90575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最佳工况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BBB615-368F-48C5-9AED-283E4EE8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9271E4-0007-48DB-A776-BDC21348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30838A-1555-45D8-A0AC-6FD59F5D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285875"/>
            <a:ext cx="609600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cfe6214a2431c"/>
          <a:stretch xmlns:a="http://schemas.openxmlformats.org/drawingml/2006/main"/>
        </p:blipFill>
        <p:spPr>
          <a:xfrm xmlns:a="http://schemas.openxmlformats.org/drawingml/2006/main">
            <a:off x="1221395" y="1333500"/>
            <a:ext cx="4586660" cy="300037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8965A4-B8BD-4CA6-A018-96591B59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81125"/>
            <a:ext cx="2619375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7b16e86714778"/>
          <a:stretch xmlns:a="http://schemas.openxmlformats.org/drawingml/2006/main"/>
        </p:blipFill>
        <p:spPr>
          <a:xfrm xmlns:a="http://schemas.openxmlformats.org/drawingml/2006/main">
            <a:off x="7239000" y="1562702"/>
            <a:ext cx="2524125" cy="168472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197595-0EB5-45DD-9BAD-86CEEE22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23336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9F6876-C061-4572-96E9-BB07EB1E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2143125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100095.13 MJ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431B08-4B75-4482-B862-4B29CD19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2476"/>
            <a:ext cx="2143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系统总输入㶲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EC9FF5-06EE-47FB-868A-87461823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23336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82657B-6196-4467-B2A6-2FABCE53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38700"/>
            <a:ext cx="2143125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69353.79 MJ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27FBDC-763F-4211-B51A-376C76C0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32476"/>
            <a:ext cx="2143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合成气总㶲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6AEC59-339A-47FE-9BD4-0A56055A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57625"/>
            <a:ext cx="23336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6CC032-8C21-43D7-A889-05421633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33825"/>
            <a:ext cx="2143125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71.46%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404C88-9556-4C11-A0A3-2E2871A9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27601"/>
            <a:ext cx="2143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系统㶲效率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13C374-10A1-4D26-8836-5CBA6385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29150"/>
            <a:ext cx="4191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CB0573-8059-4AC5-A3A6-30244CF8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863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492B51-2DB5-45E4-A4A7-F95C6676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19650"/>
            <a:ext cx="1123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主要来源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A31DC1-A12A-4AE2-A502-086D2D7D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19650"/>
            <a:ext cx="2514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PVC化学㶲与钢渣物理㶲共同驱动反应。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988AFC-FDBD-483B-9E4A-52CF92C7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419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9C3B31-C74C-4D25-937B-CF2A4E38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53050"/>
            <a:ext cx="1123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损失来源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19B48F-0D99-4C7E-8BCD-3DB7C02F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53050"/>
            <a:ext cx="2514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不可逆化学反应、传热及固体产物带出。</a:t>
            </a:r>
          </a:p>
        </p:txBody>
      </p:sp>
    </p:spTree>
    <p:extLst>
      <p:ext uri="{BB962C8B-B14F-4D97-AF65-F5344CB8AC3E}">
        <p14:creationId xmlns:p14="http://schemas.microsoft.com/office/powerpoint/2010/main" val="166770206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5EE2B8-25B7-46D1-8B36-B93CBE8C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08AB9-5ECC-423D-A703-4E67DE1E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A0723-C31E-4F27-9D4B-2A3DD76E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A6795-968C-483D-B4FF-91C9548C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05425-5F96-4B3F-967D-0AF83AF1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C40E8-5916-4694-A5D6-DCB4FAA4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A5902-4870-4D95-89CC-47948B88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8B2AE-110B-4111-B8EE-1715DA98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C6121-50EC-4166-94D2-4BC78163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4775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C0DCA-D1A7-4DE6-86B5-32AA9DAA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52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5E77F-17B3-4787-8FFC-1B4E6F91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F16D4-954B-40A4-AA15-0B619395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0C805-18F6-4306-A6E2-B9B61F11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E865F-2463-492A-B553-E30B1ABA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d2f1bec0649a6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05A55-81F7-4F38-999F-D8CB68AC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11EBBF-0719-4718-8802-8412D97E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9F1071-839E-4F59-89E8-3DCE4736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7C9FC-CE3F-4C1A-87EA-0A524DC1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生命周期评价边界：从原料进入到产物离开系统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204196-500E-46D3-A27B-7F804A7A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D245E0-2517-4DCB-A4C2-0C31AB4F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8767A0-317D-48B1-91CF-06337FA5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33500"/>
            <a:ext cx="61912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820c0a7ff44eb"/>
          <a:stretch xmlns:a="http://schemas.openxmlformats.org/drawingml/2006/main"/>
        </p:blipFill>
        <p:spPr>
          <a:xfrm xmlns:a="http://schemas.openxmlformats.org/drawingml/2006/main">
            <a:off x="945833" y="1381125"/>
            <a:ext cx="5423535" cy="37147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936988-0C52-44FC-9618-A40EE9CC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376237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9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59248B-5C55-42D9-9259-97B5A2C5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85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4902A8-BD5C-4210-B3DF-AEC3D9A8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19250"/>
            <a:ext cx="1123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功能单位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1C39ED-0BA6-4760-9C73-B2FCEAAE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19250"/>
            <a:ext cx="2085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处理1 t钢渣。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144F89-D81E-4ACD-AE36-B7C91583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7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BDFFF3-C00B-4046-B3F1-AC817C9A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09800"/>
            <a:ext cx="95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输入端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830CA9-C3CF-4650-9C5E-2C4E8DC5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09800"/>
            <a:ext cx="22574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钢渣、PVC废塑料、CO2气化剂。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8242F6-87D6-4A4B-A7C9-3BF5C47C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67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D95EB8-22ED-44D4-9BA9-6312D619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00350"/>
            <a:ext cx="95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输出端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76A327-0220-41D1-B2C3-9C3995EB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00350"/>
            <a:ext cx="22574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H2、CO、CaCl2以及未利用气固废物。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92D205-4AB2-44CB-B300-EAE616F2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57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54366F-ABBA-4336-8704-09770B88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1123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081C8A-A2E6-4139-8327-C585E30A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90900"/>
            <a:ext cx="2085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不计设备制造、基础设施和拆解处置。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205EB4-65AF-40F1-802B-B8FB3EAE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62500"/>
            <a:ext cx="2381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C22203-C190-480E-B7C7-0B036044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00600"/>
            <a:ext cx="2305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CML-IA baseline 方法</a:t>
            </a:r>
          </a:p>
        </p:txBody>
      </p:sp>
    </p:spTree>
    <p:extLst>
      <p:ext uri="{BB962C8B-B14F-4D97-AF65-F5344CB8AC3E}">
        <p14:creationId xmlns:p14="http://schemas.microsoft.com/office/powerpoint/2010/main" val="4098674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243605-1920-43BF-A700-94DFE397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F0872-6FC7-413F-811B-B61BA8E9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8BE51-018D-4600-9DA5-7C69C9F8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FCDBE-A995-45C9-A093-4C69FFCC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03480-DB91-48E2-A5CE-A4F03384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C40E8-5EC2-4EFA-980E-4E6B4BA1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8F64F-5A67-4586-B844-0058C1FF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B77EA-1487-48F6-B64D-97ED8B60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E632E-9CC8-437B-8001-6358A56F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4775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2BF9A-5940-4B8F-9AF5-870D4195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52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F04E5-66BA-4DEA-A0FA-91FDD747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D16E4-3B80-4F79-AA2A-606826B2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182AC-B992-400C-BF4F-65A36619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58B6F-FECE-46EF-B47A-47EDD58A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bb7267cea4dfd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0896B-6530-430C-82DE-A0687CAF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F18CB-D76C-4424-A858-4898581C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CE5BB0-E759-4F1C-BA7C-6B8D78B2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56BE71-7972-47B6-87BF-7B917EBA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生命周期评价：碳排放仍有优化空间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E1996-A1D6-46C9-80DC-5CAEBEE6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90575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全球变暖潜能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06297D-D2A9-4FB8-A334-FE13A024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E2A8B2-57E7-4CCE-A9E5-84817AD5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C72D0F-6845-4438-B1F0-1569DA33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4857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3e2324be448be"/>
          <a:stretch xmlns:a="http://schemas.openxmlformats.org/drawingml/2006/main"/>
        </p:blipFill>
        <p:spPr>
          <a:xfrm xmlns:a="http://schemas.openxmlformats.org/drawingml/2006/main">
            <a:off x="622297" y="1381125"/>
            <a:ext cx="4565656" cy="3333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514958-E4C3-4F11-919C-53632F8F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33500"/>
            <a:ext cx="2476500" cy="3429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7610eedd74cdd"/>
          <a:stretch xmlns:a="http://schemas.openxmlformats.org/drawingml/2006/main"/>
        </p:blipFill>
        <p:spPr>
          <a:xfrm xmlns:a="http://schemas.openxmlformats.org/drawingml/2006/main">
            <a:off x="5619750" y="1854564"/>
            <a:ext cx="2381250" cy="2386873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C1385D-99D2-4B7F-A652-7DAB3749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81125"/>
            <a:ext cx="3190875" cy="3333750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E9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657F16-2B35-4BC0-9B42-AA8594D7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38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198651-8C0C-4379-A1F7-7539927E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71625"/>
            <a:ext cx="26384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净效益：0.68×10^3 kg CO2 eq，小幅正排放。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372EBB-1011-44E7-A7DA-68C26263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14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30CBF5-84FB-49FD-9737-671AD1D2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47925"/>
            <a:ext cx="2638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主要负荷：CO2供给与电力消耗等背景过程。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4FF057-AA6C-49DE-8532-3E53B7B1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5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0D7639-E889-4087-A16F-0C73C520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28975"/>
            <a:ext cx="26384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抵消来源：气体替代与CaCl2资源化形成环境收益。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CD3B41-8616-4C18-A304-CF4DCE03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优化方向：降低背景过程排放，优先考虑清洁电力与低碳CO2来源。</a:t>
            </a:r>
          </a:p>
        </p:txBody>
      </p:sp>
    </p:spTree>
    <p:extLst>
      <p:ext uri="{BB962C8B-B14F-4D97-AF65-F5344CB8AC3E}">
        <p14:creationId xmlns:p14="http://schemas.microsoft.com/office/powerpoint/2010/main" val="177414376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32E0D8-DBF2-49A2-855E-B68D67FB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D207C-7E9D-49B3-B1CD-14423D00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DFF41-6B7B-4C41-A4F8-185CD402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C1ABE-F418-44F5-B48E-870F30FC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A17D3-9144-45D4-8972-65714825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54BA9-FE52-465A-96D0-C3DF6F02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63FE0-B2D9-4FFE-8ADC-1E55D43A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0676A-1DA7-455E-8B0B-F50E93C0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D87B4-B110-4A79-B948-FF27CCBB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4775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CC686-A2B1-45CE-8EA2-78AB4E6F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52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32726-C491-4DD8-96FD-63E07B7B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5158A-35E5-4ACD-9577-2DF15731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C3A94-E499-4DBB-85E8-CBD365F7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E7B085-C93B-416A-B58D-835B96F9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224686bab41f6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155A93-B2D0-4319-BA17-F8E94A05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37509-C026-4ECD-AAA1-469DBC77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098C7-AB8B-4012-A708-97772E1F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34690-BB2D-4404-BD00-17EEBD6D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资源消耗特征：能源替代优势突出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6F36E1-C022-4F7F-BE76-517DA22C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E2D9F-BE5F-4F47-B635-129ADF75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B56B9A-F0F1-46C9-A2B3-C554DB5E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4714875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02ad899c04343"/>
          <a:stretch xmlns:a="http://schemas.openxmlformats.org/drawingml/2006/main"/>
        </p:blipFill>
        <p:spPr>
          <a:xfrm xmlns:a="http://schemas.openxmlformats.org/drawingml/2006/main">
            <a:off x="1008156" y="1381125"/>
            <a:ext cx="3936812" cy="31432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21177B-04FC-45C3-AE1D-9984ACC5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33500"/>
            <a:ext cx="4714875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68abcd34b4da0"/>
          <a:stretch xmlns:a="http://schemas.openxmlformats.org/drawingml/2006/main"/>
        </p:blipFill>
        <p:spPr>
          <a:xfrm xmlns:a="http://schemas.openxmlformats.org/drawingml/2006/main">
            <a:off x="6464810" y="1381125"/>
            <a:ext cx="4072504" cy="31432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6B4FCB-3447-405E-B663-AFD20971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99060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3319D0-3553-4881-A945-A31EC6EB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4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49303E-ACCE-452F-BF4F-FA653BC4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化石燃料消耗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292825-7B27-4C90-AB2B-6B3B44D2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57750"/>
            <a:ext cx="7734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净效益为-2.00×10^4 MJ，表现为明显净节约。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15F90E-01F9-47FE-8B2A-302782C8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38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FC82E3-FFF3-4DB0-B274-F1DF1B30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721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非生物资源消耗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5C9FFD-E374-4B3E-92AE-2DC54DB7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372100"/>
            <a:ext cx="754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净效益为0.06×10^-2 kg Sb eq，仍有进一步优化空间。</a:t>
            </a:r>
          </a:p>
        </p:txBody>
      </p:sp>
    </p:spTree>
    <p:extLst>
      <p:ext uri="{BB962C8B-B14F-4D97-AF65-F5344CB8AC3E}">
        <p14:creationId xmlns:p14="http://schemas.microsoft.com/office/powerpoint/2010/main" val="9440943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A4CCC7-3E6E-41B2-B39B-0C514BE3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47DC9-BB24-4B36-894B-D4D12424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8CD26-BE51-4029-BBDC-37EB016E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7005D-FFC8-4C48-8D9E-ABB85054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7E5C9-32D2-4507-AFD3-C229F7D9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95C97-AB78-48F0-A47B-4ADCE3B0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F8AFD-19A2-4C6D-851D-E47C6C2D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7DC90-F79D-4360-86EC-DC1D44E7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29E51-5DE4-40F3-BB66-8A9BEE59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4775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BCE71-2266-4707-ABFD-047327B3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52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F3BE5-E4A8-483A-9CF5-3A1FD434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9D10A-D7D9-4F63-AB01-943E89DB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27F86-E0D0-47FE-847E-7F917AF2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60527-2107-4B1E-AF24-7EEA5C99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7f6af0a314513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57BA7-807F-4330-A740-823C6A1C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CBB574-C48E-4732-87C6-14605E76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109D1-F6D8-48B2-BB00-8119B9CA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7C369E-0B86-4AA2-B1C1-BBB6CA23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环境污染与综合评价：人体毒性是主要压力来源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4391F-D9FD-4643-BC35-03DEACCE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B109C3-4932-43BD-85BA-861DA61C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DAB639-9A2B-4AA9-B601-E65E0363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38250"/>
            <a:ext cx="5715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08b9fd0634278"/>
          <a:stretch xmlns:a="http://schemas.openxmlformats.org/drawingml/2006/main"/>
        </p:blipFill>
        <p:spPr>
          <a:xfrm xmlns:a="http://schemas.openxmlformats.org/drawingml/2006/main">
            <a:off x="476250" y="1300780"/>
            <a:ext cx="5619750" cy="292294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B3D69C-83FC-40CE-8E5F-CEBB3C6D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238250"/>
            <a:ext cx="2286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53c2b11364591"/>
          <a:stretch xmlns:a="http://schemas.openxmlformats.org/drawingml/2006/main"/>
        </p:blipFill>
        <p:spPr>
          <a:xfrm xmlns:a="http://schemas.openxmlformats.org/drawingml/2006/main">
            <a:off x="6572250" y="1393185"/>
            <a:ext cx="2190750" cy="1214131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97AE37-B89F-443E-B55D-3165B929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38250"/>
            <a:ext cx="2286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2D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e0f29bd454e53"/>
          <a:stretch xmlns:a="http://schemas.openxmlformats.org/drawingml/2006/main"/>
        </p:blipFill>
        <p:spPr>
          <a:xfrm xmlns:a="http://schemas.openxmlformats.org/drawingml/2006/main">
            <a:off x="9096375" y="1395124"/>
            <a:ext cx="2190750" cy="1210252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790A03-3B3E-4230-884E-1481CB37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762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9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09EC81-5454-41FE-A82C-618E12B4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00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C83D39-D92A-4307-8D8E-F56619A4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33750"/>
            <a:ext cx="100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净减排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FDF8C0-DF3D-4C51-8B1E-1CF1FEAD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320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酸化潜能、臭氧层消耗潜能呈负值，说明有减排优势。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49E266-56E2-4010-BE03-AD888042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57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B0EF04-71A1-41C1-81F0-4B6B6D68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90950"/>
            <a:ext cx="100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净负荷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C704BA-DEE4-4493-B467-6786B4EF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90950"/>
            <a:ext cx="320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人体毒性、光化学氧化、富营养化等仍为正值。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57F3EA-A7BA-4249-B908-3FDD19BF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14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2DE5E6-05B9-45A5-8257-648DD8EE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48150"/>
            <a:ext cx="100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28"/>
                </a:solidFill>
                <a:latin typeface="Microsoft YaHei"/>
                <a:ea typeface="Microsoft YaHei"/>
                <a:cs typeface="Microsoft YaHei"/>
              </a:rPr>
              <a:t>综合判断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5534C8-D127-4DBD-A97A-D07CDC0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48150"/>
            <a:ext cx="320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标准化与加权后，人体毒性贡献最突出。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32B546-5B35-434B-9D2D-40BA3ADB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942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后续优化重点：清洁电力替代、减少有毒背景输入、提高副产物利用水平。</a:t>
            </a:r>
          </a:p>
        </p:txBody>
      </p:sp>
    </p:spTree>
    <p:extLst>
      <p:ext uri="{BB962C8B-B14F-4D97-AF65-F5344CB8AC3E}">
        <p14:creationId xmlns:p14="http://schemas.microsoft.com/office/powerpoint/2010/main" val="2624047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8076E9-CA31-4370-B220-87B3A31E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01BDE-6122-49CC-A17B-34F6FE02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571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f77f8d59f4a0a"/>
          <a:stretch xmlns:a="http://schemas.openxmlformats.org/drawingml/2006/main"/>
        </p:blipFill>
        <p:spPr>
          <a:xfrm xmlns:a="http://schemas.openxmlformats.org/drawingml/2006/main">
            <a:off x="9566615" y="371475"/>
            <a:ext cx="1155020" cy="419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BFC66-FAC1-454A-AC8A-304B4547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2095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AB77B-8D8B-41F2-ADB6-F9985757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19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0E439-474B-41DB-9DE6-24C8AF16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13780-7561-4F13-9D13-14261FF7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9F419-EE8E-4224-9E40-58F4D69C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E5647-8201-444C-9D95-CA095D00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703CC-353A-48CC-B7D2-E54339CB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2095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07B07-345E-41C6-9695-19057CC4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19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289FA-1521-4A80-8EBC-52BC369D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81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320A6-1CAB-434F-AC25-2C8C6B43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188B3-7C9F-4697-900C-9E83EFAC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F93BF-8744-4941-AC99-82DDB86E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76750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19200-94D4-4A84-82E6-7B15F451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095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F7925-C7F5-4070-B9AB-E8E3D758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BBF8A-3E60-4101-A153-40D36862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12C44-66C7-4167-9510-9779523A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B2D03-7EAF-4AFA-9876-769A3D98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52823-64DC-4CBE-AFA9-0FFD7F92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5BE61D-A654-43E6-86C9-AFAD3802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095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0F54A2-A87B-416C-8083-9A702E9A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887DDF-E3AB-4A0D-9D35-14F10BB8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76F900-1210-401B-8CE5-E8E8C278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00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993340-1372-4089-9BFD-AC6BA12E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767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3BBE6D-34FF-4354-B7B3-CDDC0B69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0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BAC57F-66B8-4317-AB47-29B98037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C54B83-5288-4884-824F-B72B203D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CDAB55-CACE-4C98-9230-7B8B9DC4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356006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4B00C7-A347-4005-91DA-09EA8B29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9F275-98AA-4584-B6BA-03D8C902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39927-C97E-4E36-8A47-239F9ED9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B16A9-F82D-4BCC-92F6-CEA056E5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3E700-3D17-4E5A-9D47-D079986D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8DD19-2E80-46EF-8548-DDB590D3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23A08-4A56-44B4-BDFD-E4838D19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3715F-AD8A-4BFD-BADE-B0EB29E9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CA07E-6C37-4E1B-B1D8-384A13C5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AF8D1-DCCF-44A4-8C04-8BD21F3E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2FBCD-2396-4262-9799-4B1B760D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787C88-CFF4-4E37-9A2C-27BC3BC5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04775"/>
            <a:ext cx="1466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F49A9-04F5-40EC-9647-19422001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524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FD4078-D44B-434A-A8CE-0BD8688B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b255df9784f21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EF054-0DB9-4328-B8AF-1BD1A94B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80D4E-3127-45F8-AF55-B9BE61D1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40016-24C2-4C57-83A5-F939D7EA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6A991-A303-4658-94B1-4A94FC5C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主要结论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B41695-5D98-4A89-AECC-22498E0A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54A94B-7DB9-4D72-A27E-EAABB656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C70F78-53A5-48B9-92F6-D442C311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EBF2BB-5297-4A3A-8D1C-EDAC88CB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3D5725-56D0-424D-85CC-8AF8258F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38350"/>
            <a:ext cx="666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8D8989-A4C3-46BB-B971-02181E33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48000"/>
            <a:ext cx="2609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最优工况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CC81A6-12EF-43AF-879F-206FDAB0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571875"/>
            <a:ext cx="2533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900-1000℃、n(CO2)/n(C)=1、常压下，合成气生成与碳转化表现较优。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A1B081-2CC1-49F3-9A25-AA2AF95E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2400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A77F61-507A-4312-8B2E-F09C3BCF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9B0907-1989-46B9-9DF0-F71603C3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38350"/>
            <a:ext cx="666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3854BB-4AA1-45F7-A086-F72A1DDD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48000"/>
            <a:ext cx="2609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脱氯规律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EE71F3-48FC-40D8-81AB-BA17E70A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571875"/>
            <a:ext cx="2533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钢渣使氯由气相HCl向CaCl2、MnCl2等固相氯化物迁移，碱度提升作用最明显。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A711F7-855E-4BB1-BEF1-EA7ABA30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2400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1F9CCE-D392-4D4F-BDE4-095E6CAE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C5E932-D72D-4CCE-879A-6A390090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38350"/>
            <a:ext cx="666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E073F0-B5C3-461A-B5C5-B969ED08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48000"/>
            <a:ext cx="2609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能源与环境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398FBE-402C-4BE8-A5FB-998055FB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71875"/>
            <a:ext cx="2533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能量效率72.34%；㶲效率71.46%；余热回收和污染控制潜力明显。</a:t>
            </a:r>
          </a:p>
        </p:txBody>
      </p:sp>
    </p:spTree>
    <p:extLst>
      <p:ext uri="{BB962C8B-B14F-4D97-AF65-F5344CB8AC3E}">
        <p14:creationId xmlns:p14="http://schemas.microsoft.com/office/powerpoint/2010/main" val="1656069325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FA8534-F394-4860-ABDA-6F3C4018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72D72-A418-4484-A646-D13D52F2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BB288-3EC6-4F9D-890E-7FF463AD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DEAB7-A4E1-4525-B639-C34306D8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56524-3276-41FA-A44B-41CA7D9D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303DF-5259-4B3D-B147-F17E5370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94F7D-1856-4D08-A99E-52BCD926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3CA57-9B1F-44E8-8F9C-00B4DAF8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66840-B4F2-4958-8AAE-CB6F938D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24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BCE8E-5BB0-44F8-82B2-DBAC6BB5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20EF5-9114-4983-8935-65F1BC63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68F1B-05AE-4138-9328-01D0A840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04775"/>
            <a:ext cx="1466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6730F-83A1-4306-84AA-06C4AEA3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524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4EB80-B669-4417-BA2B-D5E33122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82df7d8cb42d5"/>
          <a:stretch xmlns:a="http://schemas.openxmlformats.org/drawingml/2006/main"/>
        </p:blipFill>
        <p:spPr>
          <a:xfrm xmlns:a="http://schemas.openxmlformats.org/drawingml/2006/main">
            <a:off x="10081305" y="161925"/>
            <a:ext cx="840014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43092-0ABF-48D8-B55A-83940A08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50810-7FAD-4737-A61B-D1FFAD0F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D7CD1-B7FE-4CF3-A590-6E01BE20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38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DC92A4-DE12-4E20-8015-260E644A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4B93"/>
                </a:solidFill>
                <a:latin typeface="Microsoft YaHei"/>
                <a:ea typeface="Microsoft YaHei"/>
                <a:cs typeface="Microsoft YaHei"/>
              </a:rPr>
              <a:t>Ø 展望：从热力学可行走向实验与工程验证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9CFF6-21F3-4173-B679-96306893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71575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8EE193-F281-4B58-AFBF-4B51746D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71575"/>
            <a:ext cx="247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97F40-83AD-4856-8D78-5D89533B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28750"/>
            <a:ext cx="8191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30A1AB-1087-419C-B327-46599D85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90675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4F1935-5AC0-48A9-AD91-875629FD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43075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E688CB-CECC-4DA1-BD14-7E9A4388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66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实验验证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303771-DB0C-4285-A99C-313EE7A8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搭建台架，验证实际气化效率、产气组成和脱氯效果。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1CB0C7-ED04-4A5E-904E-E0E7BA78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8191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BA49C4-B01C-4986-9DB8-1ED4CC9A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9080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0842A-12BA-4D47-ADB0-967A6355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4320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E6F263-197F-4DA5-8C68-B50A7CCD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6697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模型修正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CFDBDD-5D66-496B-BD76-249C5B62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987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引入动力学与传热限制，用实验数据修正平衡模型。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A045B7-7A0B-4F5D-AEA9-5E9FB781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29000"/>
            <a:ext cx="8191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DED34D-8947-4504-8B5D-A57C049D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90925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3955DA-EE41-4B58-8271-847577F4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43325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D9CC1E-D1C4-4DA9-8FD8-2B94CD51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过程优化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AB2906-355B-4A67-8A83-FA661B94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0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优化钢渣/PVC/CO2配比及清洁电力、低碳CO2来源。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30DC75-CC0A-4145-885C-C6DF31C7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8191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4758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806894-72E1-48A6-B860-9367019B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9105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FF70FE-02FC-4C06-A664-4A885308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4345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654E8D-82B0-44ED-8CB3-C218BD5B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6722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92323"/>
                </a:solidFill>
                <a:latin typeface="Microsoft YaHei"/>
                <a:ea typeface="Microsoft YaHei"/>
                <a:cs typeface="Microsoft YaHei"/>
              </a:rPr>
              <a:t>工程评价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AECE22-4C65-4AA8-99EE-9F75C164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1012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开展经济性、连续化运行和副产物利用路径评估。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2e453228a4106"/>
          <a:stretch xmlns:a="http://schemas.openxmlformats.org/drawingml/2006/main"/>
        </p:blipFill>
        <p:spPr>
          <a:xfrm xmlns:a="http://schemas.openxmlformats.org/drawingml/2006/main">
            <a:off x="8858250" y="2725213"/>
            <a:ext cx="2047875" cy="7884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1690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61343F-A45E-4B59-8883-DD13F922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BAE3D-E241-4A70-8CF3-D4B39780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AB559-9CFB-45D1-B6D8-871FC4C0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FDC35-1833-4BFA-9E51-63CC9626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ECE5D-93C2-4AEE-B4BB-4E10E6C6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933450"/>
            <a:ext cx="3143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d9f0f06364b9b"/>
          <a:stretch xmlns:a="http://schemas.openxmlformats.org/drawingml/2006/main"/>
        </p:blipFill>
        <p:spPr>
          <a:xfrm xmlns:a="http://schemas.openxmlformats.org/drawingml/2006/main">
            <a:off x="5392114" y="981075"/>
            <a:ext cx="1312522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BF2C5-9A29-4F8B-9E34-E5CE6074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33625"/>
            <a:ext cx="742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请各位老师批评指正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F42D0-7182-41F8-860F-4D940170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3429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E7EDD-9FC5-4D34-8525-0E03A162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67125"/>
            <a:ext cx="3429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C952B-87D9-48DA-8E26-9CCF2662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814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汇报人：王阅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84D4A-CA7B-4B4E-9558-7BCB9374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814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指导教师：段文军</a:t>
            </a:r>
          </a:p>
        </p:txBody>
      </p:sp>
    </p:spTree>
    <p:extLst>
      <p:ext uri="{BB962C8B-B14F-4D97-AF65-F5344CB8AC3E}">
        <p14:creationId xmlns:p14="http://schemas.microsoft.com/office/powerpoint/2010/main" val="1145060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2026-05-22T22:31:21.7450000Z</dcterms:created>
  <dcterms:modified xsi:type="dcterms:W3CDTF">2026-05-22T22:31:21.7450000Z</dcterms:modified>
</coreProperties>
</file>