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11090765" r:id="rId3"/>
    <p:sldId id="11090766" r:id="rId4"/>
    <p:sldId id="11090767" r:id="rId6"/>
    <p:sldId id="11090768" r:id="rId7"/>
    <p:sldId id="11090795" r:id="rId8"/>
    <p:sldId id="11090769" r:id="rId9"/>
    <p:sldId id="11090770" r:id="rId10"/>
    <p:sldId id="11090788" r:id="rId11"/>
    <p:sldId id="11090787" r:id="rId12"/>
    <p:sldId id="11090784" r:id="rId13"/>
    <p:sldId id="11090789" r:id="rId14"/>
    <p:sldId id="11090774" r:id="rId15"/>
    <p:sldId id="11090793" r:id="rId16"/>
    <p:sldId id="11090776" r:id="rId17"/>
    <p:sldId id="11090791" r:id="rId18"/>
    <p:sldId id="11090778" r:id="rId19"/>
    <p:sldId id="11090779" r:id="rId20"/>
    <p:sldId id="11090780"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74EE"/>
    <a:srgbClr val="1921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13" autoAdjust="0"/>
    <p:restoredTop sz="88405"/>
  </p:normalViewPr>
  <p:slideViewPr>
    <p:cSldViewPr snapToGrid="0">
      <p:cViewPr varScale="1">
        <p:scale>
          <a:sx n="137" d="100"/>
          <a:sy n="137"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76.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F21E5-A7D6-4357-8A2B-A8C380473CD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69640-64A3-452F-AADF-BC56C97BA52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4.xml"/><Relationship Id="rId7" Type="http://schemas.openxmlformats.org/officeDocument/2006/relationships/image" Target="../media/image3.png"/><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1" Type="http://schemas.openxmlformats.org/officeDocument/2006/relationships/image" Target="../media/image6.jpeg"/><Relationship Id="rId10"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560033-507E-48B3-B047-FCF5A3B2AB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D1CC32-A1D6-4004-BDEF-AE1CF127A1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pic>
        <p:nvPicPr>
          <p:cNvPr id="24" name="图片 23" descr="图片包含 图示&#10;&#10;描述已自动生成"/>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83" y="0"/>
            <a:ext cx="12191834" cy="6858000"/>
          </a:xfrm>
          <a:prstGeom prst="rect">
            <a:avLst/>
          </a:prstGeom>
        </p:spPr>
      </p:pic>
      <p:pic>
        <p:nvPicPr>
          <p:cNvPr id="2" name="图片 1"/>
          <p:cNvPicPr>
            <a:picLocks noChangeAspect="1"/>
          </p:cNvPicPr>
          <p:nvPr userDrawn="1">
            <p:custDataLst>
              <p:tags r:id="rId4"/>
            </p:custDataLst>
          </p:nvPr>
        </p:nvPicPr>
        <p:blipFill>
          <a:blip r:embed="rId5"/>
          <a:stretch>
            <a:fillRect/>
          </a:stretch>
        </p:blipFill>
        <p:spPr>
          <a:xfrm>
            <a:off x="8793798" y="121920"/>
            <a:ext cx="2121188" cy="450000"/>
          </a:xfrm>
          <a:prstGeom prst="rect">
            <a:avLst/>
          </a:prstGeom>
        </p:spPr>
      </p:pic>
      <p:pic>
        <p:nvPicPr>
          <p:cNvPr id="3" name="图片 2" descr="资源 1@4x的副本"/>
          <p:cNvPicPr>
            <a:picLocks noChangeAspect="1"/>
          </p:cNvPicPr>
          <p:nvPr userDrawn="1">
            <p:custDataLst>
              <p:tags r:id="rId6"/>
            </p:custDataLst>
          </p:nvPr>
        </p:nvPicPr>
        <p:blipFill>
          <a:blip r:embed="rId7"/>
          <a:stretch>
            <a:fillRect/>
          </a:stretch>
        </p:blipFill>
        <p:spPr>
          <a:xfrm>
            <a:off x="11027093" y="201449"/>
            <a:ext cx="1095257" cy="270000"/>
          </a:xfrm>
          <a:prstGeom prst="rect">
            <a:avLst/>
          </a:prstGeom>
        </p:spPr>
      </p:pic>
      <p:pic>
        <p:nvPicPr>
          <p:cNvPr id="9" name="图片 5" descr="图片 5"/>
          <p:cNvPicPr>
            <a:picLocks noChangeAspect="1"/>
          </p:cNvPicPr>
          <p:nvPr userDrawn="1">
            <p:custDataLst>
              <p:tags r:id="rId8"/>
            </p:custDataLst>
          </p:nvPr>
        </p:nvPicPr>
        <p:blipFill>
          <a:blip r:embed="rId9"/>
          <a:stretch>
            <a:fillRect/>
          </a:stretch>
        </p:blipFill>
        <p:spPr>
          <a:xfrm>
            <a:off x="501339" y="477476"/>
            <a:ext cx="524935" cy="609978"/>
          </a:xfrm>
          <a:prstGeom prst="rect">
            <a:avLst/>
          </a:prstGeom>
          <a:ln w="12700">
            <a:miter lim="400000"/>
            <a:headEnd/>
            <a:tailEnd/>
          </a:ln>
        </p:spPr>
      </p:pic>
      <p:pic>
        <p:nvPicPr>
          <p:cNvPr id="5" name="图片 4"/>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55939" y="406296"/>
            <a:ext cx="7324077" cy="540687"/>
          </a:xfrm>
        </p:spPr>
        <p:txBody>
          <a:bodyPr>
            <a:normAutofit/>
          </a:bodyPr>
          <a:lstStyle>
            <a:lvl1pPr>
              <a:defRPr lang="zh-CN" altLang="en-US" sz="2600" b="1" kern="1200" dirty="0">
                <a:solidFill>
                  <a:schemeClr val="tx1">
                    <a:lumMod val="65000"/>
                    <a:lumOff val="35000"/>
                  </a:schemeClr>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zh-CN" altLang="en-US" dirty="0"/>
          </a:p>
        </p:txBody>
      </p:sp>
      <p:grpSp>
        <p:nvGrpSpPr>
          <p:cNvPr id="7" name="组合 6"/>
          <p:cNvGrpSpPr/>
          <p:nvPr userDrawn="1"/>
        </p:nvGrpSpPr>
        <p:grpSpPr>
          <a:xfrm>
            <a:off x="759739" y="514592"/>
            <a:ext cx="483461" cy="324097"/>
            <a:chOff x="382905" y="356234"/>
            <a:chExt cx="787156" cy="527685"/>
          </a:xfrm>
        </p:grpSpPr>
        <p:sp>
          <p:nvSpPr>
            <p:cNvPr id="8" name="圆角矩形 49"/>
            <p:cNvSpPr/>
            <p:nvPr/>
          </p:nvSpPr>
          <p:spPr>
            <a:xfrm rot="2700000">
              <a:off x="382905" y="356234"/>
              <a:ext cx="527685" cy="527685"/>
            </a:xfrm>
            <a:prstGeom prst="roundRect">
              <a:avLst>
                <a:gd name="adj" fmla="val 7586"/>
              </a:avLst>
            </a:prstGeom>
            <a:solidFill>
              <a:srgbClr val="0058C5"/>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ea typeface="思源黑体 CN Medium" panose="020B0600000000000000" pitchFamily="34" charset="-122"/>
                <a:sym typeface="+mn-ea"/>
              </a:endParaRPr>
            </a:p>
          </p:txBody>
        </p:sp>
        <p:sp>
          <p:nvSpPr>
            <p:cNvPr id="9" name="圆角矩形 50"/>
            <p:cNvSpPr/>
            <p:nvPr/>
          </p:nvSpPr>
          <p:spPr>
            <a:xfrm rot="2700000">
              <a:off x="747451" y="409092"/>
              <a:ext cx="422610" cy="422610"/>
            </a:xfrm>
            <a:prstGeom prst="roundRect">
              <a:avLst>
                <a:gd name="adj" fmla="val 8472"/>
              </a:avLst>
            </a:prstGeom>
            <a:solidFill>
              <a:srgbClr val="0097D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ea typeface="思源黑体 CN Medium" panose="020B0600000000000000" pitchFamily="34" charset="-122"/>
                <a:sym typeface="+mn-ea"/>
              </a:endParaRPr>
            </a:p>
          </p:txBody>
        </p:sp>
      </p:grpSp>
      <p:pic>
        <p:nvPicPr>
          <p:cNvPr id="11" name="图片 10" descr="图片2"/>
          <p:cNvPicPr>
            <a:picLocks noChangeAspect="1"/>
          </p:cNvPicPr>
          <p:nvPr userDrawn="1"/>
        </p:nvPicPr>
        <p:blipFill>
          <a:blip r:embed="rId2"/>
          <a:srcRect t="70007" b="36"/>
          <a:stretch>
            <a:fillRect/>
          </a:stretch>
        </p:blipFill>
        <p:spPr>
          <a:xfrm>
            <a:off x="0" y="6335177"/>
            <a:ext cx="12192000" cy="521970"/>
          </a:xfrm>
          <a:custGeom>
            <a:avLst/>
            <a:gdLst/>
            <a:ahLst/>
            <a:cxnLst>
              <a:cxn ang="3">
                <a:pos x="hc" y="t"/>
              </a:cxn>
              <a:cxn ang="cd2">
                <a:pos x="l" y="vc"/>
              </a:cxn>
              <a:cxn ang="cd4">
                <a:pos x="hc" y="b"/>
              </a:cxn>
              <a:cxn ang="0">
                <a:pos x="r" y="vc"/>
              </a:cxn>
            </a:cxnLst>
            <a:rect l="l" t="t" r="r" b="b"/>
            <a:pathLst>
              <a:path w="19200" h="822">
                <a:moveTo>
                  <a:pt x="0" y="0"/>
                </a:moveTo>
                <a:lnTo>
                  <a:pt x="19200" y="0"/>
                </a:lnTo>
                <a:lnTo>
                  <a:pt x="19200" y="822"/>
                </a:lnTo>
                <a:lnTo>
                  <a:pt x="0" y="822"/>
                </a:lnTo>
                <a:lnTo>
                  <a:pt x="0" y="0"/>
                </a:lnTo>
                <a:close/>
              </a:path>
            </a:pathLst>
          </a:cu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02240" y="6421755"/>
            <a:ext cx="1676400" cy="35242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55939" y="406296"/>
            <a:ext cx="7324077" cy="540687"/>
          </a:xfrm>
        </p:spPr>
        <p:txBody>
          <a:bodyPr>
            <a:normAutofit/>
          </a:bodyPr>
          <a:lstStyle>
            <a:lvl1pPr>
              <a:defRPr lang="zh-CN" altLang="en-US" sz="2600" b="1" kern="1200" dirty="0">
                <a:solidFill>
                  <a:schemeClr val="tx1">
                    <a:lumMod val="65000"/>
                    <a:lumOff val="35000"/>
                  </a:schemeClr>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zh-CN" altLang="en-US" dirty="0"/>
          </a:p>
        </p:txBody>
      </p:sp>
      <p:grpSp>
        <p:nvGrpSpPr>
          <p:cNvPr id="7" name="组合 6"/>
          <p:cNvGrpSpPr/>
          <p:nvPr userDrawn="1"/>
        </p:nvGrpSpPr>
        <p:grpSpPr>
          <a:xfrm>
            <a:off x="759739" y="514592"/>
            <a:ext cx="483461" cy="324097"/>
            <a:chOff x="382905" y="356234"/>
            <a:chExt cx="787156" cy="527685"/>
          </a:xfrm>
        </p:grpSpPr>
        <p:sp>
          <p:nvSpPr>
            <p:cNvPr id="8" name="圆角矩形 49"/>
            <p:cNvSpPr/>
            <p:nvPr/>
          </p:nvSpPr>
          <p:spPr>
            <a:xfrm rot="2700000">
              <a:off x="382905" y="356234"/>
              <a:ext cx="527685" cy="527685"/>
            </a:xfrm>
            <a:prstGeom prst="roundRect">
              <a:avLst>
                <a:gd name="adj" fmla="val 7586"/>
              </a:avLst>
            </a:prstGeom>
            <a:solidFill>
              <a:srgbClr val="0058C5"/>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ea typeface="思源黑体 CN Medium" panose="020B0600000000000000" pitchFamily="34" charset="-122"/>
                <a:sym typeface="+mn-ea"/>
              </a:endParaRPr>
            </a:p>
          </p:txBody>
        </p:sp>
        <p:sp>
          <p:nvSpPr>
            <p:cNvPr id="9" name="圆角矩形 50"/>
            <p:cNvSpPr/>
            <p:nvPr/>
          </p:nvSpPr>
          <p:spPr>
            <a:xfrm rot="2700000">
              <a:off x="747451" y="409092"/>
              <a:ext cx="422610" cy="422610"/>
            </a:xfrm>
            <a:prstGeom prst="roundRect">
              <a:avLst>
                <a:gd name="adj" fmla="val 8472"/>
              </a:avLst>
            </a:prstGeom>
            <a:solidFill>
              <a:srgbClr val="0097D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ea typeface="思源黑体 CN Medium" panose="020B0600000000000000" pitchFamily="34" charset="-122"/>
                <a:sym typeface="+mn-ea"/>
              </a:endParaRPr>
            </a:p>
          </p:txBody>
        </p:sp>
      </p:grpSp>
      <p:pic>
        <p:nvPicPr>
          <p:cNvPr id="11" name="图片 10" descr="图片2"/>
          <p:cNvPicPr>
            <a:picLocks noChangeAspect="1"/>
          </p:cNvPicPr>
          <p:nvPr userDrawn="1"/>
        </p:nvPicPr>
        <p:blipFill>
          <a:blip r:embed="rId2"/>
          <a:srcRect t="70007" b="36"/>
          <a:stretch>
            <a:fillRect/>
          </a:stretch>
        </p:blipFill>
        <p:spPr>
          <a:xfrm>
            <a:off x="0" y="6335177"/>
            <a:ext cx="12192000" cy="521970"/>
          </a:xfrm>
          <a:custGeom>
            <a:avLst/>
            <a:gdLst/>
            <a:ahLst/>
            <a:cxnLst>
              <a:cxn ang="3">
                <a:pos x="hc" y="t"/>
              </a:cxn>
              <a:cxn ang="cd2">
                <a:pos x="l" y="vc"/>
              </a:cxn>
              <a:cxn ang="cd4">
                <a:pos x="hc" y="b"/>
              </a:cxn>
              <a:cxn ang="0">
                <a:pos x="r" y="vc"/>
              </a:cxn>
            </a:cxnLst>
            <a:rect l="l" t="t" r="r" b="b"/>
            <a:pathLst>
              <a:path w="19200" h="822">
                <a:moveTo>
                  <a:pt x="0" y="0"/>
                </a:moveTo>
                <a:lnTo>
                  <a:pt x="19200" y="0"/>
                </a:lnTo>
                <a:lnTo>
                  <a:pt x="19200" y="822"/>
                </a:lnTo>
                <a:lnTo>
                  <a:pt x="0" y="822"/>
                </a:lnTo>
                <a:lnTo>
                  <a:pt x="0" y="0"/>
                </a:lnTo>
                <a:close/>
              </a:path>
            </a:pathLst>
          </a:cu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02240" y="6421755"/>
            <a:ext cx="1676400" cy="3524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560033-507E-48B3-B047-FCF5A3B2AB6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D1CC32-A1D6-4004-BDEF-AE1CF127A1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0" Type="http://schemas.openxmlformats.org/officeDocument/2006/relationships/notesSlide" Target="../notesSlides/notesSlide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2" Type="http://schemas.openxmlformats.org/officeDocument/2006/relationships/slideLayout" Target="../slideLayouts/slideLayout13.xml"/><Relationship Id="rId31" Type="http://schemas.openxmlformats.org/officeDocument/2006/relationships/tags" Target="../tags/tag31.xml"/><Relationship Id="rId30" Type="http://schemas.openxmlformats.org/officeDocument/2006/relationships/image" Target="../media/image19.png"/><Relationship Id="rId3" Type="http://schemas.openxmlformats.org/officeDocument/2006/relationships/tags" Target="../tags/tag6.xml"/><Relationship Id="rId29" Type="http://schemas.openxmlformats.org/officeDocument/2006/relationships/image" Target="../media/image18.jpeg"/><Relationship Id="rId28" Type="http://schemas.openxmlformats.org/officeDocument/2006/relationships/tags" Target="../tags/tag30.xml"/><Relationship Id="rId27" Type="http://schemas.openxmlformats.org/officeDocument/2006/relationships/image" Target="../media/image17.jpeg"/><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22.jpeg"/><Relationship Id="rId7" Type="http://schemas.openxmlformats.org/officeDocument/2006/relationships/tags" Target="../tags/tag35.xml"/><Relationship Id="rId6" Type="http://schemas.openxmlformats.org/officeDocument/2006/relationships/image" Target="../media/image21.jpeg"/><Relationship Id="rId5" Type="http://schemas.openxmlformats.org/officeDocument/2006/relationships/tags" Target="../tags/tag34.xml"/><Relationship Id="rId4" Type="http://schemas.openxmlformats.org/officeDocument/2006/relationships/image" Target="../media/image20.jpeg"/><Relationship Id="rId3" Type="http://schemas.openxmlformats.org/officeDocument/2006/relationships/tags" Target="../tags/tag33.xml"/><Relationship Id="rId22" Type="http://schemas.openxmlformats.org/officeDocument/2006/relationships/slideLayout" Target="../slideLayouts/slideLayout13.xml"/><Relationship Id="rId21" Type="http://schemas.openxmlformats.org/officeDocument/2006/relationships/tags" Target="../tags/tag48.xml"/><Relationship Id="rId20" Type="http://schemas.openxmlformats.org/officeDocument/2006/relationships/tags" Target="../tags/tag47.xml"/><Relationship Id="rId2" Type="http://schemas.openxmlformats.org/officeDocument/2006/relationships/tags" Target="../tags/tag32.xml"/><Relationship Id="rId19" Type="http://schemas.openxmlformats.org/officeDocument/2006/relationships/tags" Target="../tags/tag46.xml"/><Relationship Id="rId18" Type="http://schemas.openxmlformats.org/officeDocument/2006/relationships/tags" Target="../tags/tag45.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9" Type="http://schemas.openxmlformats.org/officeDocument/2006/relationships/image" Target="../media/image24.svg"/><Relationship Id="rId8" Type="http://schemas.openxmlformats.org/officeDocument/2006/relationships/image" Target="../media/image23.png"/><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1" Type="http://schemas.openxmlformats.org/officeDocument/2006/relationships/slideLayout" Target="../slideLayouts/slideLayout13.xml"/><Relationship Id="rId20" Type="http://schemas.openxmlformats.org/officeDocument/2006/relationships/tags" Target="../tags/tag58.xml"/><Relationship Id="rId2" Type="http://schemas.openxmlformats.org/officeDocument/2006/relationships/tags" Target="../tags/tag49.xml"/><Relationship Id="rId19" Type="http://schemas.openxmlformats.org/officeDocument/2006/relationships/image" Target="../media/image31.png"/><Relationship Id="rId18" Type="http://schemas.openxmlformats.org/officeDocument/2006/relationships/image" Target="../media/image30.svg"/><Relationship Id="rId17" Type="http://schemas.openxmlformats.org/officeDocument/2006/relationships/image" Target="../media/image29.png"/><Relationship Id="rId16" Type="http://schemas.openxmlformats.org/officeDocument/2006/relationships/tags" Target="../tags/tag57.xml"/><Relationship Id="rId15" Type="http://schemas.openxmlformats.org/officeDocument/2006/relationships/image" Target="../media/image28.svg"/><Relationship Id="rId14" Type="http://schemas.openxmlformats.org/officeDocument/2006/relationships/image" Target="../media/image27.png"/><Relationship Id="rId13" Type="http://schemas.openxmlformats.org/officeDocument/2006/relationships/tags" Target="../tags/tag56.xml"/><Relationship Id="rId12" Type="http://schemas.openxmlformats.org/officeDocument/2006/relationships/image" Target="../media/image26.svg"/><Relationship Id="rId11" Type="http://schemas.openxmlformats.org/officeDocument/2006/relationships/image" Target="../media/image25.png"/><Relationship Id="rId10" Type="http://schemas.openxmlformats.org/officeDocument/2006/relationships/tags" Target="../tags/tag55.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6" Type="http://schemas.openxmlformats.org/officeDocument/2006/relationships/slideLayout" Target="../slideLayouts/slideLayout13.xml"/><Relationship Id="rId25" Type="http://schemas.openxmlformats.org/officeDocument/2006/relationships/tags" Target="../tags/tag78.xml"/><Relationship Id="rId24" Type="http://schemas.openxmlformats.org/officeDocument/2006/relationships/tags" Target="../tags/tag77.xml"/><Relationship Id="rId23" Type="http://schemas.openxmlformats.org/officeDocument/2006/relationships/tags" Target="../tags/tag76.xml"/><Relationship Id="rId22" Type="http://schemas.openxmlformats.org/officeDocument/2006/relationships/tags" Target="../tags/tag75.xml"/><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tags" Target="../tags/tag59.xml"/><Relationship Id="rId19" Type="http://schemas.openxmlformats.org/officeDocument/2006/relationships/tags" Target="../tags/tag72.xml"/><Relationship Id="rId18" Type="http://schemas.openxmlformats.org/officeDocument/2006/relationships/image" Target="../media/image35.svg"/><Relationship Id="rId17" Type="http://schemas.openxmlformats.org/officeDocument/2006/relationships/image" Target="../media/image34.png"/><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6" Type="http://schemas.openxmlformats.org/officeDocument/2006/relationships/notesSlide" Target="../notesSlides/notesSlide2.xml"/><Relationship Id="rId25" Type="http://schemas.openxmlformats.org/officeDocument/2006/relationships/slideLayout" Target="../slideLayouts/slideLayout13.xml"/><Relationship Id="rId24" Type="http://schemas.openxmlformats.org/officeDocument/2006/relationships/tags" Target="../tags/tag94.xml"/><Relationship Id="rId23" Type="http://schemas.openxmlformats.org/officeDocument/2006/relationships/image" Target="../media/image42.jpeg"/><Relationship Id="rId22" Type="http://schemas.openxmlformats.org/officeDocument/2006/relationships/tags" Target="../tags/tag93.xml"/><Relationship Id="rId21" Type="http://schemas.openxmlformats.org/officeDocument/2006/relationships/tags" Target="../tags/tag92.xml"/><Relationship Id="rId20" Type="http://schemas.openxmlformats.org/officeDocument/2006/relationships/tags" Target="../tags/tag91.xml"/><Relationship Id="rId2" Type="http://schemas.openxmlformats.org/officeDocument/2006/relationships/tags" Target="../tags/tag79.xml"/><Relationship Id="rId19" Type="http://schemas.openxmlformats.org/officeDocument/2006/relationships/tags" Target="../tags/tag90.xml"/><Relationship Id="rId18" Type="http://schemas.openxmlformats.org/officeDocument/2006/relationships/image" Target="../media/image41.svg"/><Relationship Id="rId17" Type="http://schemas.openxmlformats.org/officeDocument/2006/relationships/image" Target="../media/image40.png"/><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image" Target="../media/image39.svg"/><Relationship Id="rId13" Type="http://schemas.openxmlformats.org/officeDocument/2006/relationships/image" Target="../media/image38.png"/><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image" Target="../media/image37.sv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8" Type="http://schemas.openxmlformats.org/officeDocument/2006/relationships/slideLayout" Target="../slideLayouts/slideLayout13.xml"/><Relationship Id="rId17" Type="http://schemas.openxmlformats.org/officeDocument/2006/relationships/tags" Target="../tags/tag110.xml"/><Relationship Id="rId16" Type="http://schemas.openxmlformats.org/officeDocument/2006/relationships/tags" Target="../tags/tag109.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6" Type="http://schemas.openxmlformats.org/officeDocument/2006/relationships/notesSlide" Target="../notesSlides/notesSlide3.xml"/><Relationship Id="rId15" Type="http://schemas.openxmlformats.org/officeDocument/2006/relationships/slideLayout" Target="../slideLayouts/slideLayout13.xml"/><Relationship Id="rId14" Type="http://schemas.openxmlformats.org/officeDocument/2006/relationships/tags" Target="../tags/tag122.xml"/><Relationship Id="rId13" Type="http://schemas.openxmlformats.org/officeDocument/2006/relationships/image" Target="../media/image43.png"/><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9" Type="http://schemas.openxmlformats.org/officeDocument/2006/relationships/image" Target="../media/image44.jpeg"/><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2" Type="http://schemas.openxmlformats.org/officeDocument/2006/relationships/slideLayout" Target="../slideLayouts/slideLayout13.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tags" Target="../tags/tag123.xml"/><Relationship Id="rId19" Type="http://schemas.openxmlformats.org/officeDocument/2006/relationships/tags" Target="../tags/tag138.xml"/><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image" Target="../media/image20.jpeg"/><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5" Type="http://schemas.openxmlformats.org/officeDocument/2006/relationships/slideLayout" Target="../slideLayouts/slideLayout13.xml"/><Relationship Id="rId44" Type="http://schemas.openxmlformats.org/officeDocument/2006/relationships/tags" Target="../tags/tag175.xml"/><Relationship Id="rId43" Type="http://schemas.openxmlformats.org/officeDocument/2006/relationships/tags" Target="../tags/tag174.xml"/><Relationship Id="rId42" Type="http://schemas.openxmlformats.org/officeDocument/2006/relationships/image" Target="../media/image52.svg"/><Relationship Id="rId41" Type="http://schemas.openxmlformats.org/officeDocument/2006/relationships/image" Target="../media/image51.png"/><Relationship Id="rId40" Type="http://schemas.openxmlformats.org/officeDocument/2006/relationships/tags" Target="../tags/tag173.xml"/><Relationship Id="rId4" Type="http://schemas.openxmlformats.org/officeDocument/2006/relationships/tags" Target="../tags/tag143.xml"/><Relationship Id="rId39" Type="http://schemas.openxmlformats.org/officeDocument/2006/relationships/tags" Target="../tags/tag172.xml"/><Relationship Id="rId38" Type="http://schemas.openxmlformats.org/officeDocument/2006/relationships/tags" Target="../tags/tag171.xml"/><Relationship Id="rId37" Type="http://schemas.openxmlformats.org/officeDocument/2006/relationships/tags" Target="../tags/tag170.xml"/><Relationship Id="rId36" Type="http://schemas.openxmlformats.org/officeDocument/2006/relationships/tags" Target="../tags/tag169.xml"/><Relationship Id="rId35" Type="http://schemas.openxmlformats.org/officeDocument/2006/relationships/tags" Target="../tags/tag168.xml"/><Relationship Id="rId34" Type="http://schemas.openxmlformats.org/officeDocument/2006/relationships/tags" Target="../tags/tag167.xml"/><Relationship Id="rId33" Type="http://schemas.openxmlformats.org/officeDocument/2006/relationships/tags" Target="../tags/tag166.xml"/><Relationship Id="rId32" Type="http://schemas.openxmlformats.org/officeDocument/2006/relationships/tags" Target="../tags/tag165.xml"/><Relationship Id="rId31" Type="http://schemas.openxmlformats.org/officeDocument/2006/relationships/tags" Target="../tags/tag164.xml"/><Relationship Id="rId30" Type="http://schemas.openxmlformats.org/officeDocument/2006/relationships/image" Target="../media/image50.svg"/><Relationship Id="rId3" Type="http://schemas.openxmlformats.org/officeDocument/2006/relationships/tags" Target="../tags/tag142.xml"/><Relationship Id="rId29" Type="http://schemas.openxmlformats.org/officeDocument/2006/relationships/image" Target="../media/image49.png"/><Relationship Id="rId28" Type="http://schemas.openxmlformats.org/officeDocument/2006/relationships/tags" Target="../tags/tag163.xml"/><Relationship Id="rId27" Type="http://schemas.openxmlformats.org/officeDocument/2006/relationships/image" Target="../media/image48.svg"/><Relationship Id="rId26" Type="http://schemas.openxmlformats.org/officeDocument/2006/relationships/image" Target="../media/image47.png"/><Relationship Id="rId25" Type="http://schemas.openxmlformats.org/officeDocument/2006/relationships/tags" Target="../tags/tag162.xml"/><Relationship Id="rId24" Type="http://schemas.openxmlformats.org/officeDocument/2006/relationships/image" Target="../media/image46.svg"/><Relationship Id="rId23" Type="http://schemas.openxmlformats.org/officeDocument/2006/relationships/image" Target="../media/image45.png"/><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10391"/>
            <a:ext cx="12192000" cy="6868391"/>
          </a:xfrm>
          <a:prstGeom prst="rect">
            <a:avLst/>
          </a:prstGeom>
          <a:solidFill>
            <a:srgbClr val="1921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1491095"/>
            <a:ext cx="12192000" cy="3418610"/>
          </a:xfrm>
          <a:prstGeom prst="rect">
            <a:avLst/>
          </a:prstGeom>
          <a:solidFill>
            <a:srgbClr val="6E74E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524000" y="1644015"/>
            <a:ext cx="9144000" cy="2656840"/>
          </a:xfrm>
        </p:spPr>
        <p:txBody>
          <a:bodyPr>
            <a:normAutofit fontScale="90000"/>
          </a:bodyPr>
          <a:lstStyle/>
          <a:p>
            <a:pPr>
              <a:lnSpc>
                <a:spcPct val="150000"/>
              </a:lnSpc>
            </a:pPr>
            <a:r>
              <a:rPr lang="en-US" altLang="zh-CN" sz="3600" b="1" dirty="0">
                <a:solidFill>
                  <a:schemeClr val="bg1"/>
                </a:solidFill>
                <a:latin typeface="+mn-lt"/>
              </a:rPr>
              <a:t>2025</a:t>
            </a:r>
            <a:r>
              <a:rPr lang="zh-CN" altLang="en-US" sz="3600" b="1" dirty="0">
                <a:solidFill>
                  <a:schemeClr val="bg1"/>
                </a:solidFill>
                <a:latin typeface="+mn-lt"/>
              </a:rPr>
              <a:t>年</a:t>
            </a:r>
            <a:r>
              <a:rPr lang="en-US" altLang="zh-CN" sz="3600" b="1" dirty="0">
                <a:solidFill>
                  <a:schemeClr val="bg1"/>
                </a:solidFill>
                <a:latin typeface="+mn-lt"/>
              </a:rPr>
              <a:t>CAAI-</a:t>
            </a:r>
            <a:r>
              <a:rPr lang="zh-CN" altLang="en-US" sz="3600" b="1" dirty="0">
                <a:solidFill>
                  <a:schemeClr val="bg1"/>
                </a:solidFill>
                <a:latin typeface="+mn-lt"/>
              </a:rPr>
              <a:t>蚂蚁科研基金（</a:t>
            </a:r>
            <a:r>
              <a:rPr lang="en-US" altLang="zh-CN" sz="3600" b="1" dirty="0">
                <a:solidFill>
                  <a:schemeClr val="bg1"/>
                </a:solidFill>
                <a:latin typeface="+mn-lt"/>
              </a:rPr>
              <a:t>AGI</a:t>
            </a:r>
            <a:r>
              <a:rPr lang="zh-CN" altLang="en-US" sz="3600" b="1" dirty="0">
                <a:solidFill>
                  <a:schemeClr val="bg1"/>
                </a:solidFill>
                <a:latin typeface="+mn-lt"/>
              </a:rPr>
              <a:t>专项）</a:t>
            </a:r>
            <a:br>
              <a:rPr lang="en-US" altLang="zh-CN" sz="3600" b="1" dirty="0">
                <a:solidFill>
                  <a:schemeClr val="bg1"/>
                </a:solidFill>
                <a:latin typeface="+mn-lt"/>
              </a:rPr>
            </a:br>
            <a:r>
              <a:rPr lang="zh-CN" altLang="en-US" sz="3600" b="1" dirty="0">
                <a:solidFill>
                  <a:schemeClr val="bg1"/>
                </a:solidFill>
                <a:latin typeface="+mn-lt"/>
              </a:rPr>
              <a:t>课题：面向新一代硬件架构的大语言模型大规模分布式训练提效方法研究</a:t>
            </a:r>
            <a:br>
              <a:rPr lang="en-US" altLang="zh-CN" sz="3600" b="1" dirty="0">
                <a:solidFill>
                  <a:schemeClr val="bg1"/>
                </a:solidFill>
                <a:latin typeface="+mn-lt"/>
              </a:rPr>
            </a:br>
            <a:endParaRPr lang="zh-CN" altLang="en-US" sz="3600" b="1" dirty="0">
              <a:solidFill>
                <a:schemeClr val="bg1"/>
              </a:solidFill>
              <a:latin typeface="+mn-lt"/>
            </a:endParaRPr>
          </a:p>
        </p:txBody>
      </p:sp>
      <p:sp>
        <p:nvSpPr>
          <p:cNvPr id="3" name="副标题 2"/>
          <p:cNvSpPr>
            <a:spLocks noGrp="1"/>
          </p:cNvSpPr>
          <p:nvPr>
            <p:ph type="subTitle" idx="1"/>
          </p:nvPr>
        </p:nvSpPr>
        <p:spPr>
          <a:xfrm>
            <a:off x="6556375" y="4244975"/>
            <a:ext cx="4058285" cy="1012825"/>
          </a:xfrm>
        </p:spPr>
        <p:txBody>
          <a:bodyPr/>
          <a:lstStyle/>
          <a:p>
            <a:pPr algn="l"/>
            <a:r>
              <a:rPr lang="zh-CN" altLang="en-US" b="1" dirty="0">
                <a:solidFill>
                  <a:schemeClr val="bg1"/>
                </a:solidFill>
              </a:rPr>
              <a:t>汇报人：浙江大学  程冠杰</a:t>
            </a:r>
            <a:endParaRPr lang="zh-CN" altLang="en-US" b="1" dirty="0">
              <a:solidFill>
                <a:schemeClr val="bg1"/>
              </a:solidFill>
            </a:endParaRPr>
          </a:p>
        </p:txBody>
      </p:sp>
      <p:pic>
        <p:nvPicPr>
          <p:cNvPr id="8" name="图片 7"/>
          <p:cNvPicPr>
            <a:picLocks noChangeAspect="1"/>
          </p:cNvPicPr>
          <p:nvPr/>
        </p:nvPicPr>
        <p:blipFill>
          <a:blip r:embed="rId1"/>
          <a:stretch>
            <a:fillRect/>
          </a:stretch>
        </p:blipFill>
        <p:spPr>
          <a:xfrm>
            <a:off x="0" y="-10391"/>
            <a:ext cx="3244546" cy="5751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478575" y="575109"/>
            <a:ext cx="11234850" cy="5977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8"/>
          <p:cNvSpPr txBox="1"/>
          <p:nvPr/>
        </p:nvSpPr>
        <p:spPr>
          <a:xfrm>
            <a:off x="6631806" y="5352050"/>
            <a:ext cx="5192667" cy="1198880"/>
          </a:xfrm>
          <a:prstGeom prst="rect">
            <a:avLst/>
          </a:prstGeom>
          <a:noFill/>
        </p:spPr>
        <p:txBody>
          <a:bodyPr wrap="square" rtlCol="0">
            <a:spAutoFit/>
          </a:bodyPr>
          <a:lstStyle>
            <a:defPPr>
              <a:defRPr lang="zh-CN"/>
            </a:defPPr>
            <a:lvl1pPr algn="ctr">
              <a:defRPr sz="13800" b="1" i="1">
                <a:ln>
                  <a:solidFill>
                    <a:schemeClr val="bg1">
                      <a:alpha val="60000"/>
                    </a:schemeClr>
                  </a:solidFill>
                </a:ln>
                <a:noFill/>
                <a:latin typeface="字魂100号-方方先锋体" panose="00000500000000000000" pitchFamily="2" charset="-122"/>
                <a:ea typeface="字魂100号-方方先锋体" panose="00000500000000000000" pitchFamily="2" charset="-122"/>
              </a:defRPr>
            </a:lvl1pPr>
          </a:lstStyle>
          <a:p>
            <a:pPr algn="dist"/>
            <a:r>
              <a:rPr lang="en-US" sz="7200" b="0" i="0" dirty="0">
                <a:solidFill>
                  <a:schemeClr val="accent1">
                    <a:lumMod val="20000"/>
                    <a:lumOff val="80000"/>
                  </a:schemeClr>
                </a:solidFill>
                <a:latin typeface="Calibri" panose="020F0502020204030204" charset="0"/>
                <a:ea typeface="宋体" panose="02010600030101010101" pitchFamily="2" charset="-122"/>
                <a:cs typeface="阿里巴巴普惠体 B" panose="00020600040101010101" pitchFamily="18" charset="-122"/>
              </a:rPr>
              <a:t>CONTENTS</a:t>
            </a:r>
            <a:endParaRPr lang="en-US" sz="7200" b="0" i="0" dirty="0">
              <a:solidFill>
                <a:schemeClr val="accent1">
                  <a:lumMod val="20000"/>
                  <a:lumOff val="80000"/>
                </a:schemeClr>
              </a:solidFill>
              <a:latin typeface="Calibri" panose="020F0502020204030204" charset="0"/>
              <a:ea typeface="宋体" panose="02010600030101010101" pitchFamily="2" charset="-122"/>
              <a:cs typeface="阿里巴巴普惠体 B" panose="00020600040101010101" pitchFamily="18" charset="-122"/>
            </a:endParaRPr>
          </a:p>
        </p:txBody>
      </p:sp>
      <p:sp>
        <p:nvSpPr>
          <p:cNvPr id="44" name="矩形 43"/>
          <p:cNvSpPr/>
          <p:nvPr/>
        </p:nvSpPr>
        <p:spPr>
          <a:xfrm>
            <a:off x="9010650" y="5128895"/>
            <a:ext cx="65659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9999980" y="5128895"/>
            <a:ext cx="85344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Текст 11"/>
          <p:cNvSpPr txBox="1"/>
          <p:nvPr/>
        </p:nvSpPr>
        <p:spPr>
          <a:xfrm>
            <a:off x="8856345" y="5023857"/>
            <a:ext cx="2095501" cy="86677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dist">
              <a:defRPr/>
            </a:pPr>
            <a:r>
              <a:rPr lang="zh-CN" altLang="en-US" sz="6600" b="1" dirty="0">
                <a:solidFill>
                  <a:srgbClr val="0B62CA"/>
                </a:solidFill>
                <a:latin typeface="Calibri Light" panose="020F0302020204030204" charset="0"/>
                <a:ea typeface="宋体" panose="02010600030101010101" pitchFamily="2" charset="-122"/>
                <a:cs typeface="阿里巴巴普惠体 B" panose="00020600040101010101" pitchFamily="18" charset="-122"/>
                <a:sym typeface="+mn-ea"/>
              </a:rPr>
              <a:t>目录</a:t>
            </a:r>
            <a:endParaRPr lang="zh-CN" altLang="en-US" sz="6600" b="1" dirty="0">
              <a:solidFill>
                <a:srgbClr val="0B62CA"/>
              </a:solidFill>
              <a:latin typeface="Calibri Light" panose="020F0302020204030204" charset="0"/>
              <a:ea typeface="宋体" panose="02010600030101010101" pitchFamily="2" charset="-122"/>
              <a:cs typeface="阿里巴巴普惠体 B" panose="00020600040101010101" pitchFamily="18" charset="-122"/>
              <a:sym typeface="+mn-ea"/>
            </a:endParaRPr>
          </a:p>
        </p:txBody>
      </p:sp>
      <p:sp>
        <p:nvSpPr>
          <p:cNvPr id="50" name="任意多边形: 形状 49"/>
          <p:cNvSpPr/>
          <p:nvPr/>
        </p:nvSpPr>
        <p:spPr>
          <a:xfrm>
            <a:off x="9602674" y="1265095"/>
            <a:ext cx="1878931" cy="2905925"/>
          </a:xfrm>
          <a:custGeom>
            <a:avLst/>
            <a:gdLst>
              <a:gd name="connsiteX0" fmla="*/ 0 w 1878931"/>
              <a:gd name="connsiteY0" fmla="*/ 0 h 3183912"/>
              <a:gd name="connsiteX1" fmla="*/ 1481665 w 1878931"/>
              <a:gd name="connsiteY1" fmla="*/ 0 h 3183912"/>
              <a:gd name="connsiteX2" fmla="*/ 1878931 w 1878931"/>
              <a:gd name="connsiteY2" fmla="*/ 339605 h 3183912"/>
              <a:gd name="connsiteX3" fmla="*/ 1878931 w 1878931"/>
              <a:gd name="connsiteY3" fmla="*/ 3183912 h 3183912"/>
              <a:gd name="connsiteX4" fmla="*/ 0 w 1878931"/>
              <a:gd name="connsiteY4" fmla="*/ 3183912 h 3183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31" h="3183912">
                <a:moveTo>
                  <a:pt x="0" y="0"/>
                </a:moveTo>
                <a:lnTo>
                  <a:pt x="1481665" y="0"/>
                </a:lnTo>
                <a:lnTo>
                  <a:pt x="1878931" y="339605"/>
                </a:lnTo>
                <a:lnTo>
                  <a:pt x="1878931" y="3183912"/>
                </a:lnTo>
                <a:lnTo>
                  <a:pt x="0" y="3183912"/>
                </a:lnTo>
                <a:close/>
              </a:path>
            </a:pathLst>
          </a:custGeom>
          <a:solidFill>
            <a:schemeClr val="bg1"/>
          </a:solidFill>
          <a:ln>
            <a:noFill/>
          </a:ln>
          <a:effectLst>
            <a:outerShdw blurRad="266700" algn="ctr"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Calibri" panose="020F0502020204030204" charset="0"/>
              <a:ea typeface="宋体" panose="02010600030101010101" pitchFamily="2" charset="-122"/>
            </a:endParaRPr>
          </a:p>
        </p:txBody>
      </p:sp>
      <p:grpSp>
        <p:nvGrpSpPr>
          <p:cNvPr id="6" name="组合 5"/>
          <p:cNvGrpSpPr/>
          <p:nvPr/>
        </p:nvGrpSpPr>
        <p:grpSpPr>
          <a:xfrm>
            <a:off x="699852" y="1241310"/>
            <a:ext cx="10792297" cy="2968617"/>
            <a:chOff x="800916" y="1241310"/>
            <a:chExt cx="10792297" cy="2968617"/>
          </a:xfrm>
        </p:grpSpPr>
        <p:grpSp>
          <p:nvGrpSpPr>
            <p:cNvPr id="4" name="组合 3"/>
            <p:cNvGrpSpPr/>
            <p:nvPr/>
          </p:nvGrpSpPr>
          <p:grpSpPr>
            <a:xfrm>
              <a:off x="3023647" y="1241310"/>
              <a:ext cx="1901372" cy="2935270"/>
              <a:chOff x="5162458" y="1684850"/>
              <a:chExt cx="1901372" cy="2918426"/>
            </a:xfrm>
          </p:grpSpPr>
          <p:grpSp>
            <p:nvGrpSpPr>
              <p:cNvPr id="54" name="组合 53"/>
              <p:cNvGrpSpPr/>
              <p:nvPr/>
            </p:nvGrpSpPr>
            <p:grpSpPr>
              <a:xfrm>
                <a:off x="5162458" y="1684850"/>
                <a:ext cx="1901372" cy="2918426"/>
                <a:chOff x="1698172" y="3054107"/>
                <a:chExt cx="1901372" cy="3216064"/>
              </a:xfrm>
            </p:grpSpPr>
            <p:sp>
              <p:nvSpPr>
                <p:cNvPr id="65" name="任意多边形: 形状 64"/>
                <p:cNvSpPr/>
                <p:nvPr/>
              </p:nvSpPr>
              <p:spPr>
                <a:xfrm>
                  <a:off x="1712686" y="3057228"/>
                  <a:ext cx="1878931" cy="3183912"/>
                </a:xfrm>
                <a:custGeom>
                  <a:avLst/>
                  <a:gdLst>
                    <a:gd name="connsiteX0" fmla="*/ 0 w 1878931"/>
                    <a:gd name="connsiteY0" fmla="*/ 0 h 3183912"/>
                    <a:gd name="connsiteX1" fmla="*/ 1481665 w 1878931"/>
                    <a:gd name="connsiteY1" fmla="*/ 0 h 3183912"/>
                    <a:gd name="connsiteX2" fmla="*/ 1878931 w 1878931"/>
                    <a:gd name="connsiteY2" fmla="*/ 339605 h 3183912"/>
                    <a:gd name="connsiteX3" fmla="*/ 1878931 w 1878931"/>
                    <a:gd name="connsiteY3" fmla="*/ 3183912 h 3183912"/>
                    <a:gd name="connsiteX4" fmla="*/ 0 w 1878931"/>
                    <a:gd name="connsiteY4" fmla="*/ 3183912 h 3183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31" h="3183912">
                      <a:moveTo>
                        <a:pt x="0" y="0"/>
                      </a:moveTo>
                      <a:lnTo>
                        <a:pt x="1481665" y="0"/>
                      </a:lnTo>
                      <a:lnTo>
                        <a:pt x="1878931" y="339605"/>
                      </a:lnTo>
                      <a:lnTo>
                        <a:pt x="1878931" y="3183912"/>
                      </a:lnTo>
                      <a:lnTo>
                        <a:pt x="0" y="3183912"/>
                      </a:lnTo>
                      <a:close/>
                    </a:path>
                  </a:pathLst>
                </a:custGeom>
                <a:solidFill>
                  <a:schemeClr val="bg1"/>
                </a:solidFill>
                <a:ln>
                  <a:noFill/>
                </a:ln>
                <a:effectLst>
                  <a:outerShdw blurRad="266700" algn="ctr"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Calibri" panose="020F0502020204030204" charset="0"/>
                    <a:ea typeface="宋体" panose="02010600030101010101" pitchFamily="2" charset="-122"/>
                  </a:endParaRPr>
                </a:p>
              </p:txBody>
            </p:sp>
            <p:sp>
              <p:nvSpPr>
                <p:cNvPr id="66" name="直角三角形 65"/>
                <p:cNvSpPr/>
                <p:nvPr/>
              </p:nvSpPr>
              <p:spPr>
                <a:xfrm flipV="1">
                  <a:off x="1711563" y="3054107"/>
                  <a:ext cx="624215" cy="520179"/>
                </a:xfrm>
                <a:prstGeom prst="rtTriangle">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ea typeface="宋体" panose="02010600030101010101" pitchFamily="2" charset="-122"/>
                  </a:endParaRPr>
                </a:p>
              </p:txBody>
            </p:sp>
            <p:sp>
              <p:nvSpPr>
                <p:cNvPr id="67" name="矩形 66"/>
                <p:cNvSpPr/>
                <p:nvPr/>
              </p:nvSpPr>
              <p:spPr>
                <a:xfrm>
                  <a:off x="1711564" y="6095301"/>
                  <a:ext cx="1887980" cy="174870"/>
                </a:xfrm>
                <a:prstGeom prst="rect">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ea typeface="宋体" panose="02010600030101010101" pitchFamily="2" charset="-122"/>
                  </a:endParaRPr>
                </a:p>
              </p:txBody>
            </p:sp>
            <p:sp>
              <p:nvSpPr>
                <p:cNvPr id="68" name="文本框 67"/>
                <p:cNvSpPr txBox="1"/>
                <p:nvPr/>
              </p:nvSpPr>
              <p:spPr>
                <a:xfrm flipH="1">
                  <a:off x="1698172" y="3064776"/>
                  <a:ext cx="476941" cy="336045"/>
                </a:xfrm>
                <a:prstGeom prst="rect">
                  <a:avLst/>
                </a:prstGeom>
                <a:noFill/>
              </p:spPr>
              <p:txBody>
                <a:bodyPr wrap="square" rtlCol="0">
                  <a:spAutoFit/>
                </a:bodyPr>
                <a:lstStyle/>
                <a:p>
                  <a:r>
                    <a:rPr lang="en-US" altLang="zh-CN" sz="1400" dirty="0">
                      <a:solidFill>
                        <a:schemeClr val="bg1"/>
                      </a:solidFill>
                      <a:latin typeface="Calibri" panose="020F0502020204030204" charset="0"/>
                      <a:ea typeface="宋体" panose="02010600030101010101" pitchFamily="2" charset="-122"/>
                    </a:rPr>
                    <a:t>02</a:t>
                  </a:r>
                  <a:endParaRPr lang="en-US" altLang="zh-CN" sz="1400" dirty="0">
                    <a:solidFill>
                      <a:schemeClr val="bg1"/>
                    </a:solidFill>
                    <a:latin typeface="Calibri" panose="020F0502020204030204" charset="0"/>
                    <a:ea typeface="宋体" panose="02010600030101010101" pitchFamily="2" charset="-122"/>
                  </a:endParaRPr>
                </a:p>
              </p:txBody>
            </p:sp>
          </p:grpSp>
          <p:sp>
            <p:nvSpPr>
              <p:cNvPr id="57" name="文本框 56"/>
              <p:cNvSpPr txBox="1"/>
              <p:nvPr/>
            </p:nvSpPr>
            <p:spPr>
              <a:xfrm flipH="1">
                <a:off x="5250679" y="3129078"/>
                <a:ext cx="1682521" cy="396492"/>
              </a:xfrm>
              <a:prstGeom prst="rect">
                <a:avLst/>
              </a:prstGeom>
              <a:noFill/>
            </p:spPr>
            <p:txBody>
              <a:bodyPr wrap="square" rtlCol="0">
                <a:spAutoFit/>
              </a:bodyPr>
              <a:lstStyle/>
              <a:p>
                <a:pPr algn="ctr"/>
                <a:r>
                  <a:rPr kumimoji="1" lang="zh-CN" altLang="en-US" sz="2000" b="1" dirty="0">
                    <a:solidFill>
                      <a:srgbClr val="0B62CA"/>
                    </a:solidFill>
                    <a:ea typeface="宋体" panose="02010600030101010101" pitchFamily="2" charset="-122"/>
                  </a:rPr>
                  <a:t>研究内容</a:t>
                </a:r>
                <a:endParaRPr kumimoji="1" lang="zh-CN" altLang="en-US" sz="2000" b="1" dirty="0">
                  <a:solidFill>
                    <a:srgbClr val="0B62CA"/>
                  </a:solidFill>
                  <a:ea typeface="宋体" panose="02010600030101010101" pitchFamily="2" charset="-122"/>
                </a:endParaRPr>
              </a:p>
            </p:txBody>
          </p:sp>
          <p:pic>
            <p:nvPicPr>
              <p:cNvPr id="92" name="图片 52" descr="banbenlishi"/>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62749" y="2356058"/>
                <a:ext cx="601990" cy="601990"/>
              </a:xfrm>
              <a:prstGeom prst="rect">
                <a:avLst/>
              </a:prstGeom>
            </p:spPr>
          </p:pic>
        </p:grpSp>
        <p:grpSp>
          <p:nvGrpSpPr>
            <p:cNvPr id="7" name="组合 6"/>
            <p:cNvGrpSpPr/>
            <p:nvPr/>
          </p:nvGrpSpPr>
          <p:grpSpPr>
            <a:xfrm>
              <a:off x="5246378" y="1260484"/>
              <a:ext cx="1901372" cy="2935270"/>
              <a:chOff x="9524001" y="1684850"/>
              <a:chExt cx="1901372" cy="2918426"/>
            </a:xfrm>
          </p:grpSpPr>
          <p:grpSp>
            <p:nvGrpSpPr>
              <p:cNvPr id="15" name="组合 14"/>
              <p:cNvGrpSpPr/>
              <p:nvPr/>
            </p:nvGrpSpPr>
            <p:grpSpPr>
              <a:xfrm>
                <a:off x="9524001" y="1684850"/>
                <a:ext cx="1901372" cy="2918426"/>
                <a:chOff x="1698172" y="3054107"/>
                <a:chExt cx="1901372" cy="3216064"/>
              </a:xfrm>
            </p:grpSpPr>
            <p:sp>
              <p:nvSpPr>
                <p:cNvPr id="21" name="任意多边形: 形状 20"/>
                <p:cNvSpPr/>
                <p:nvPr/>
              </p:nvSpPr>
              <p:spPr>
                <a:xfrm>
                  <a:off x="1712686" y="3057228"/>
                  <a:ext cx="1878931" cy="3183912"/>
                </a:xfrm>
                <a:custGeom>
                  <a:avLst/>
                  <a:gdLst>
                    <a:gd name="connsiteX0" fmla="*/ 0 w 1878931"/>
                    <a:gd name="connsiteY0" fmla="*/ 0 h 3183912"/>
                    <a:gd name="connsiteX1" fmla="*/ 1481665 w 1878931"/>
                    <a:gd name="connsiteY1" fmla="*/ 0 h 3183912"/>
                    <a:gd name="connsiteX2" fmla="*/ 1878931 w 1878931"/>
                    <a:gd name="connsiteY2" fmla="*/ 339605 h 3183912"/>
                    <a:gd name="connsiteX3" fmla="*/ 1878931 w 1878931"/>
                    <a:gd name="connsiteY3" fmla="*/ 3183912 h 3183912"/>
                    <a:gd name="connsiteX4" fmla="*/ 0 w 1878931"/>
                    <a:gd name="connsiteY4" fmla="*/ 3183912 h 3183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31" h="3183912">
                      <a:moveTo>
                        <a:pt x="0" y="0"/>
                      </a:moveTo>
                      <a:lnTo>
                        <a:pt x="1481665" y="0"/>
                      </a:lnTo>
                      <a:lnTo>
                        <a:pt x="1878931" y="339605"/>
                      </a:lnTo>
                      <a:lnTo>
                        <a:pt x="1878931" y="3183912"/>
                      </a:lnTo>
                      <a:lnTo>
                        <a:pt x="0" y="3183912"/>
                      </a:lnTo>
                      <a:close/>
                    </a:path>
                  </a:pathLst>
                </a:custGeom>
                <a:solidFill>
                  <a:schemeClr val="bg1"/>
                </a:solidFill>
                <a:ln>
                  <a:noFill/>
                </a:ln>
                <a:effectLst>
                  <a:outerShdw blurRad="266700" algn="ctr"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Calibri" panose="020F0502020204030204" charset="0"/>
                    <a:ea typeface="宋体" panose="02010600030101010101" pitchFamily="2" charset="-122"/>
                  </a:endParaRPr>
                </a:p>
              </p:txBody>
            </p:sp>
            <p:sp>
              <p:nvSpPr>
                <p:cNvPr id="22" name="直角三角形 21"/>
                <p:cNvSpPr/>
                <p:nvPr/>
              </p:nvSpPr>
              <p:spPr>
                <a:xfrm flipV="1">
                  <a:off x="1711563" y="3054107"/>
                  <a:ext cx="624215" cy="520179"/>
                </a:xfrm>
                <a:prstGeom prst="rtTriangle">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ea typeface="宋体" panose="02010600030101010101" pitchFamily="2" charset="-122"/>
                  </a:endParaRPr>
                </a:p>
              </p:txBody>
            </p:sp>
            <p:sp>
              <p:nvSpPr>
                <p:cNvPr id="23" name="矩形 22"/>
                <p:cNvSpPr/>
                <p:nvPr/>
              </p:nvSpPr>
              <p:spPr>
                <a:xfrm>
                  <a:off x="1711564" y="6095301"/>
                  <a:ext cx="1887980" cy="174870"/>
                </a:xfrm>
                <a:prstGeom prst="rect">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ea typeface="宋体" panose="02010600030101010101" pitchFamily="2" charset="-122"/>
                  </a:endParaRPr>
                </a:p>
              </p:txBody>
            </p:sp>
            <p:sp>
              <p:nvSpPr>
                <p:cNvPr id="24" name="文本框 23"/>
                <p:cNvSpPr txBox="1"/>
                <p:nvPr/>
              </p:nvSpPr>
              <p:spPr>
                <a:xfrm flipH="1">
                  <a:off x="1698172" y="3064776"/>
                  <a:ext cx="476941" cy="374635"/>
                </a:xfrm>
                <a:prstGeom prst="rect">
                  <a:avLst/>
                </a:prstGeom>
                <a:noFill/>
              </p:spPr>
              <p:txBody>
                <a:bodyPr wrap="squar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flipH="1">
                <a:off x="9612222" y="3129078"/>
                <a:ext cx="1682521" cy="396492"/>
              </a:xfrm>
              <a:prstGeom prst="rect">
                <a:avLst/>
              </a:prstGeom>
              <a:noFill/>
            </p:spPr>
            <p:txBody>
              <a:bodyPr wrap="square" rtlCol="0">
                <a:spAutoFit/>
              </a:bodyPr>
              <a:lstStyle/>
              <a:p>
                <a:pPr algn="ctr"/>
                <a:r>
                  <a:rPr kumimoji="1" lang="zh-CN" altLang="en-US" sz="2000" b="1" dirty="0">
                    <a:solidFill>
                      <a:srgbClr val="0B62CA"/>
                    </a:solidFill>
                    <a:ea typeface="宋体" panose="02010600030101010101" pitchFamily="2" charset="-122"/>
                  </a:rPr>
                  <a:t>研究目标</a:t>
                </a:r>
                <a:endParaRPr kumimoji="1" lang="zh-CN" altLang="en-US" sz="2000" b="1" dirty="0">
                  <a:solidFill>
                    <a:srgbClr val="0B62CA"/>
                  </a:solidFill>
                  <a:ea typeface="宋体" panose="02010600030101010101" pitchFamily="2" charset="-122"/>
                </a:endParaRPr>
              </a:p>
            </p:txBody>
          </p:sp>
          <p:pic>
            <p:nvPicPr>
              <p:cNvPr id="94" name="图片 57" descr="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00574" y="2337938"/>
                <a:ext cx="613634" cy="613634"/>
              </a:xfrm>
              <a:prstGeom prst="rect">
                <a:avLst/>
              </a:prstGeom>
            </p:spPr>
          </p:pic>
        </p:grpSp>
        <p:grpSp>
          <p:nvGrpSpPr>
            <p:cNvPr id="2" name="组合 1"/>
            <p:cNvGrpSpPr/>
            <p:nvPr/>
          </p:nvGrpSpPr>
          <p:grpSpPr>
            <a:xfrm>
              <a:off x="800916" y="1251719"/>
              <a:ext cx="1901372" cy="2935270"/>
              <a:chOff x="800916" y="1684850"/>
              <a:chExt cx="1901372" cy="2918426"/>
            </a:xfrm>
          </p:grpSpPr>
          <p:grpSp>
            <p:nvGrpSpPr>
              <p:cNvPr id="99" name="组合 98"/>
              <p:cNvGrpSpPr/>
              <p:nvPr/>
            </p:nvGrpSpPr>
            <p:grpSpPr>
              <a:xfrm>
                <a:off x="800916" y="1684850"/>
                <a:ext cx="1901372" cy="2918426"/>
                <a:chOff x="800916" y="1536505"/>
                <a:chExt cx="1901372" cy="3216064"/>
              </a:xfrm>
            </p:grpSpPr>
            <p:sp>
              <p:nvSpPr>
                <p:cNvPr id="85" name="任意多边形: 形状 84"/>
                <p:cNvSpPr/>
                <p:nvPr/>
              </p:nvSpPr>
              <p:spPr>
                <a:xfrm>
                  <a:off x="815430" y="1539626"/>
                  <a:ext cx="1878931" cy="3183912"/>
                </a:xfrm>
                <a:custGeom>
                  <a:avLst/>
                  <a:gdLst>
                    <a:gd name="connsiteX0" fmla="*/ 0 w 1878931"/>
                    <a:gd name="connsiteY0" fmla="*/ 0 h 3183912"/>
                    <a:gd name="connsiteX1" fmla="*/ 1481665 w 1878931"/>
                    <a:gd name="connsiteY1" fmla="*/ 0 h 3183912"/>
                    <a:gd name="connsiteX2" fmla="*/ 1878931 w 1878931"/>
                    <a:gd name="connsiteY2" fmla="*/ 339605 h 3183912"/>
                    <a:gd name="connsiteX3" fmla="*/ 1878931 w 1878931"/>
                    <a:gd name="connsiteY3" fmla="*/ 3183912 h 3183912"/>
                    <a:gd name="connsiteX4" fmla="*/ 0 w 1878931"/>
                    <a:gd name="connsiteY4" fmla="*/ 3183912 h 3183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31" h="3183912">
                      <a:moveTo>
                        <a:pt x="0" y="0"/>
                      </a:moveTo>
                      <a:lnTo>
                        <a:pt x="1481665" y="0"/>
                      </a:lnTo>
                      <a:lnTo>
                        <a:pt x="1878931" y="339605"/>
                      </a:lnTo>
                      <a:lnTo>
                        <a:pt x="1878931" y="3183912"/>
                      </a:lnTo>
                      <a:lnTo>
                        <a:pt x="0" y="3183912"/>
                      </a:lnTo>
                      <a:close/>
                    </a:path>
                  </a:pathLst>
                </a:custGeom>
                <a:solidFill>
                  <a:schemeClr val="bg1"/>
                </a:solidFill>
                <a:ln>
                  <a:noFill/>
                </a:ln>
                <a:effectLst>
                  <a:outerShdw blurRad="266700" algn="ctr"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Calibri" panose="020F0502020204030204" charset="0"/>
                    <a:ea typeface="宋体" panose="02010600030101010101" pitchFamily="2" charset="-122"/>
                  </a:endParaRPr>
                </a:p>
              </p:txBody>
            </p:sp>
            <p:sp>
              <p:nvSpPr>
                <p:cNvPr id="86" name="直角三角形 85"/>
                <p:cNvSpPr/>
                <p:nvPr/>
              </p:nvSpPr>
              <p:spPr>
                <a:xfrm flipV="1">
                  <a:off x="814307" y="1536505"/>
                  <a:ext cx="624215" cy="520179"/>
                </a:xfrm>
                <a:prstGeom prst="rtTriangle">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ea typeface="宋体" panose="02010600030101010101" pitchFamily="2" charset="-122"/>
                  </a:endParaRPr>
                </a:p>
              </p:txBody>
            </p:sp>
            <p:sp>
              <p:nvSpPr>
                <p:cNvPr id="87" name="矩形 86"/>
                <p:cNvSpPr/>
                <p:nvPr/>
              </p:nvSpPr>
              <p:spPr>
                <a:xfrm>
                  <a:off x="814308" y="4577699"/>
                  <a:ext cx="1887980" cy="174870"/>
                </a:xfrm>
                <a:prstGeom prst="rect">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ea typeface="宋体" panose="02010600030101010101" pitchFamily="2" charset="-122"/>
                  </a:endParaRPr>
                </a:p>
              </p:txBody>
            </p:sp>
            <p:sp>
              <p:nvSpPr>
                <p:cNvPr id="88" name="文本框 87"/>
                <p:cNvSpPr txBox="1"/>
                <p:nvPr/>
              </p:nvSpPr>
              <p:spPr>
                <a:xfrm flipH="1">
                  <a:off x="800916" y="1547174"/>
                  <a:ext cx="476941" cy="307777"/>
                </a:xfrm>
                <a:prstGeom prst="rect">
                  <a:avLst/>
                </a:prstGeom>
                <a:noFill/>
              </p:spPr>
              <p:txBody>
                <a:bodyPr wrap="squar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80" name="文本框 79"/>
              <p:cNvSpPr txBox="1"/>
              <p:nvPr/>
            </p:nvSpPr>
            <p:spPr>
              <a:xfrm flipH="1">
                <a:off x="889137" y="3129078"/>
                <a:ext cx="1682521" cy="396492"/>
              </a:xfrm>
              <a:prstGeom prst="rect">
                <a:avLst/>
              </a:prstGeom>
              <a:noFill/>
            </p:spPr>
            <p:txBody>
              <a:bodyPr wrap="square" rtlCol="0">
                <a:spAutoFit/>
              </a:bodyPr>
              <a:lstStyle/>
              <a:p>
                <a:pPr algn="ctr"/>
                <a:r>
                  <a:rPr kumimoji="1" lang="zh-CN" altLang="en-US" sz="2000" b="1" dirty="0">
                    <a:solidFill>
                      <a:srgbClr val="0B62CA"/>
                    </a:solidFill>
                    <a:ea typeface="宋体" panose="02010600030101010101" pitchFamily="2" charset="-122"/>
                  </a:rPr>
                  <a:t>项目背景</a:t>
                </a:r>
                <a:endParaRPr kumimoji="1" lang="zh-CN" altLang="en-US" sz="2000" b="1" dirty="0">
                  <a:solidFill>
                    <a:srgbClr val="0B62CA"/>
                  </a:solidFill>
                  <a:ea typeface="宋体" panose="02010600030101010101" pitchFamily="2" charset="-122"/>
                </a:endParaRPr>
              </a:p>
            </p:txBody>
          </p:sp>
          <p:sp>
            <p:nvSpPr>
              <p:cNvPr id="98" name="Freeform 53"/>
              <p:cNvSpPr>
                <a:spLocks noEditPoints="1"/>
              </p:cNvSpPr>
              <p:nvPr/>
            </p:nvSpPr>
            <p:spPr bwMode="auto">
              <a:xfrm>
                <a:off x="1573784" y="2434123"/>
                <a:ext cx="429148" cy="520179"/>
              </a:xfrm>
              <a:custGeom>
                <a:avLst/>
                <a:gdLst>
                  <a:gd name="T0" fmla="*/ 0 w 132"/>
                  <a:gd name="T1" fmla="*/ 131 h 160"/>
                  <a:gd name="T2" fmla="*/ 0 w 132"/>
                  <a:gd name="T3" fmla="*/ 136 h 160"/>
                  <a:gd name="T4" fmla="*/ 14 w 132"/>
                  <a:gd name="T5" fmla="*/ 150 h 160"/>
                  <a:gd name="T6" fmla="*/ 25 w 132"/>
                  <a:gd name="T7" fmla="*/ 150 h 160"/>
                  <a:gd name="T8" fmla="*/ 20 w 132"/>
                  <a:gd name="T9" fmla="*/ 131 h 160"/>
                  <a:gd name="T10" fmla="*/ 0 w 132"/>
                  <a:gd name="T11" fmla="*/ 131 h 160"/>
                  <a:gd name="T12" fmla="*/ 19 w 132"/>
                  <a:gd name="T13" fmla="*/ 117 h 160"/>
                  <a:gd name="T14" fmla="*/ 19 w 132"/>
                  <a:gd name="T15" fmla="*/ 108 h 160"/>
                  <a:gd name="T16" fmla="*/ 32 w 132"/>
                  <a:gd name="T17" fmla="*/ 82 h 160"/>
                  <a:gd name="T18" fmla="*/ 38 w 132"/>
                  <a:gd name="T19" fmla="*/ 77 h 160"/>
                  <a:gd name="T20" fmla="*/ 38 w 132"/>
                  <a:gd name="T21" fmla="*/ 54 h 160"/>
                  <a:gd name="T22" fmla="*/ 54 w 132"/>
                  <a:gd name="T23" fmla="*/ 37 h 160"/>
                  <a:gd name="T24" fmla="*/ 70 w 132"/>
                  <a:gd name="T25" fmla="*/ 54 h 160"/>
                  <a:gd name="T26" fmla="*/ 70 w 132"/>
                  <a:gd name="T27" fmla="*/ 58 h 160"/>
                  <a:gd name="T28" fmla="*/ 78 w 132"/>
                  <a:gd name="T29" fmla="*/ 56 h 160"/>
                  <a:gd name="T30" fmla="*/ 93 w 132"/>
                  <a:gd name="T31" fmla="*/ 68 h 160"/>
                  <a:gd name="T32" fmla="*/ 94 w 132"/>
                  <a:gd name="T33" fmla="*/ 67 h 160"/>
                  <a:gd name="T34" fmla="*/ 94 w 132"/>
                  <a:gd name="T35" fmla="*/ 28 h 160"/>
                  <a:gd name="T36" fmla="*/ 0 w 132"/>
                  <a:gd name="T37" fmla="*/ 28 h 160"/>
                  <a:gd name="T38" fmla="*/ 0 w 132"/>
                  <a:gd name="T39" fmla="*/ 122 h 160"/>
                  <a:gd name="T40" fmla="*/ 19 w 132"/>
                  <a:gd name="T41" fmla="*/ 122 h 160"/>
                  <a:gd name="T42" fmla="*/ 19 w 132"/>
                  <a:gd name="T43" fmla="*/ 117 h 160"/>
                  <a:gd name="T44" fmla="*/ 94 w 132"/>
                  <a:gd name="T45" fmla="*/ 14 h 160"/>
                  <a:gd name="T46" fmla="*/ 80 w 132"/>
                  <a:gd name="T47" fmla="*/ 0 h 160"/>
                  <a:gd name="T48" fmla="*/ 14 w 132"/>
                  <a:gd name="T49" fmla="*/ 0 h 160"/>
                  <a:gd name="T50" fmla="*/ 0 w 132"/>
                  <a:gd name="T51" fmla="*/ 14 h 160"/>
                  <a:gd name="T52" fmla="*/ 0 w 132"/>
                  <a:gd name="T53" fmla="*/ 18 h 160"/>
                  <a:gd name="T54" fmla="*/ 94 w 132"/>
                  <a:gd name="T55" fmla="*/ 18 h 160"/>
                  <a:gd name="T56" fmla="*/ 94 w 132"/>
                  <a:gd name="T57" fmla="*/ 14 h 160"/>
                  <a:gd name="T58" fmla="*/ 124 w 132"/>
                  <a:gd name="T59" fmla="*/ 84 h 160"/>
                  <a:gd name="T60" fmla="*/ 117 w 132"/>
                  <a:gd name="T61" fmla="*/ 92 h 160"/>
                  <a:gd name="T62" fmla="*/ 117 w 132"/>
                  <a:gd name="T63" fmla="*/ 108 h 160"/>
                  <a:gd name="T64" fmla="*/ 113 w 132"/>
                  <a:gd name="T65" fmla="*/ 113 h 160"/>
                  <a:gd name="T66" fmla="*/ 108 w 132"/>
                  <a:gd name="T67" fmla="*/ 108 h 160"/>
                  <a:gd name="T68" fmla="*/ 108 w 132"/>
                  <a:gd name="T69" fmla="*/ 82 h 160"/>
                  <a:gd name="T70" fmla="*/ 101 w 132"/>
                  <a:gd name="T71" fmla="*/ 75 h 160"/>
                  <a:gd name="T72" fmla="*/ 94 w 132"/>
                  <a:gd name="T73" fmla="*/ 82 h 160"/>
                  <a:gd name="T74" fmla="*/ 94 w 132"/>
                  <a:gd name="T75" fmla="*/ 99 h 160"/>
                  <a:gd name="T76" fmla="*/ 89 w 132"/>
                  <a:gd name="T77" fmla="*/ 103 h 160"/>
                  <a:gd name="T78" fmla="*/ 84 w 132"/>
                  <a:gd name="T79" fmla="*/ 99 h 160"/>
                  <a:gd name="T80" fmla="*/ 84 w 132"/>
                  <a:gd name="T81" fmla="*/ 73 h 160"/>
                  <a:gd name="T82" fmla="*/ 77 w 132"/>
                  <a:gd name="T83" fmla="*/ 66 h 160"/>
                  <a:gd name="T84" fmla="*/ 70 w 132"/>
                  <a:gd name="T85" fmla="*/ 73 h 160"/>
                  <a:gd name="T86" fmla="*/ 70 w 132"/>
                  <a:gd name="T87" fmla="*/ 99 h 160"/>
                  <a:gd name="T88" fmla="*/ 66 w 132"/>
                  <a:gd name="T89" fmla="*/ 103 h 160"/>
                  <a:gd name="T90" fmla="*/ 61 w 132"/>
                  <a:gd name="T91" fmla="*/ 99 h 160"/>
                  <a:gd name="T92" fmla="*/ 61 w 132"/>
                  <a:gd name="T93" fmla="*/ 54 h 160"/>
                  <a:gd name="T94" fmla="*/ 54 w 132"/>
                  <a:gd name="T95" fmla="*/ 47 h 160"/>
                  <a:gd name="T96" fmla="*/ 47 w 132"/>
                  <a:gd name="T97" fmla="*/ 54 h 160"/>
                  <a:gd name="T98" fmla="*/ 47 w 132"/>
                  <a:gd name="T99" fmla="*/ 117 h 160"/>
                  <a:gd name="T100" fmla="*/ 42 w 132"/>
                  <a:gd name="T101" fmla="*/ 122 h 160"/>
                  <a:gd name="T102" fmla="*/ 37 w 132"/>
                  <a:gd name="T103" fmla="*/ 117 h 160"/>
                  <a:gd name="T104" fmla="*/ 37 w 132"/>
                  <a:gd name="T105" fmla="*/ 89 h 160"/>
                  <a:gd name="T106" fmla="*/ 28 w 132"/>
                  <a:gd name="T107" fmla="*/ 108 h 160"/>
                  <a:gd name="T108" fmla="*/ 28 w 132"/>
                  <a:gd name="T109" fmla="*/ 117 h 160"/>
                  <a:gd name="T110" fmla="*/ 37 w 132"/>
                  <a:gd name="T111" fmla="*/ 155 h 160"/>
                  <a:gd name="T112" fmla="*/ 42 w 132"/>
                  <a:gd name="T113" fmla="*/ 160 h 160"/>
                  <a:gd name="T114" fmla="*/ 117 w 132"/>
                  <a:gd name="T115" fmla="*/ 160 h 160"/>
                  <a:gd name="T116" fmla="*/ 123 w 132"/>
                  <a:gd name="T117" fmla="*/ 155 h 160"/>
                  <a:gd name="T118" fmla="*/ 132 w 132"/>
                  <a:gd name="T119" fmla="*/ 117 h 160"/>
                  <a:gd name="T120" fmla="*/ 132 w 132"/>
                  <a:gd name="T121" fmla="*/ 92 h 160"/>
                  <a:gd name="T122" fmla="*/ 124 w 132"/>
                  <a:gd name="T123" fmla="*/ 8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2" h="160">
                    <a:moveTo>
                      <a:pt x="0" y="131"/>
                    </a:moveTo>
                    <a:cubicBezTo>
                      <a:pt x="0" y="136"/>
                      <a:pt x="0" y="136"/>
                      <a:pt x="0" y="136"/>
                    </a:cubicBezTo>
                    <a:cubicBezTo>
                      <a:pt x="0" y="144"/>
                      <a:pt x="6" y="150"/>
                      <a:pt x="14" y="150"/>
                    </a:cubicBezTo>
                    <a:cubicBezTo>
                      <a:pt x="25" y="150"/>
                      <a:pt x="25" y="150"/>
                      <a:pt x="25" y="150"/>
                    </a:cubicBezTo>
                    <a:cubicBezTo>
                      <a:pt x="23" y="144"/>
                      <a:pt x="21" y="138"/>
                      <a:pt x="20" y="131"/>
                    </a:cubicBezTo>
                    <a:lnTo>
                      <a:pt x="0" y="131"/>
                    </a:lnTo>
                    <a:close/>
                    <a:moveTo>
                      <a:pt x="19" y="117"/>
                    </a:moveTo>
                    <a:cubicBezTo>
                      <a:pt x="19" y="108"/>
                      <a:pt x="19" y="108"/>
                      <a:pt x="19" y="108"/>
                    </a:cubicBezTo>
                    <a:cubicBezTo>
                      <a:pt x="19" y="98"/>
                      <a:pt x="24" y="88"/>
                      <a:pt x="32" y="82"/>
                    </a:cubicBezTo>
                    <a:cubicBezTo>
                      <a:pt x="38" y="77"/>
                      <a:pt x="38" y="77"/>
                      <a:pt x="38" y="77"/>
                    </a:cubicBezTo>
                    <a:cubicBezTo>
                      <a:pt x="38" y="54"/>
                      <a:pt x="38" y="54"/>
                      <a:pt x="38" y="54"/>
                    </a:cubicBezTo>
                    <a:cubicBezTo>
                      <a:pt x="38" y="45"/>
                      <a:pt x="45" y="37"/>
                      <a:pt x="54" y="37"/>
                    </a:cubicBezTo>
                    <a:cubicBezTo>
                      <a:pt x="63" y="37"/>
                      <a:pt x="70" y="45"/>
                      <a:pt x="70" y="54"/>
                    </a:cubicBezTo>
                    <a:cubicBezTo>
                      <a:pt x="70" y="58"/>
                      <a:pt x="70" y="58"/>
                      <a:pt x="70" y="58"/>
                    </a:cubicBezTo>
                    <a:cubicBezTo>
                      <a:pt x="73" y="57"/>
                      <a:pt x="75" y="56"/>
                      <a:pt x="78" y="56"/>
                    </a:cubicBezTo>
                    <a:cubicBezTo>
                      <a:pt x="84" y="56"/>
                      <a:pt x="91" y="61"/>
                      <a:pt x="93" y="68"/>
                    </a:cubicBezTo>
                    <a:cubicBezTo>
                      <a:pt x="93" y="67"/>
                      <a:pt x="94" y="67"/>
                      <a:pt x="94" y="67"/>
                    </a:cubicBezTo>
                    <a:cubicBezTo>
                      <a:pt x="94" y="28"/>
                      <a:pt x="94" y="28"/>
                      <a:pt x="94" y="28"/>
                    </a:cubicBezTo>
                    <a:cubicBezTo>
                      <a:pt x="0" y="28"/>
                      <a:pt x="0" y="28"/>
                      <a:pt x="0" y="28"/>
                    </a:cubicBezTo>
                    <a:cubicBezTo>
                      <a:pt x="0" y="122"/>
                      <a:pt x="0" y="122"/>
                      <a:pt x="0" y="122"/>
                    </a:cubicBezTo>
                    <a:cubicBezTo>
                      <a:pt x="19" y="122"/>
                      <a:pt x="19" y="122"/>
                      <a:pt x="19" y="122"/>
                    </a:cubicBezTo>
                    <a:cubicBezTo>
                      <a:pt x="19" y="121"/>
                      <a:pt x="19" y="119"/>
                      <a:pt x="19" y="117"/>
                    </a:cubicBezTo>
                    <a:close/>
                    <a:moveTo>
                      <a:pt x="94" y="14"/>
                    </a:moveTo>
                    <a:cubicBezTo>
                      <a:pt x="94" y="6"/>
                      <a:pt x="88" y="0"/>
                      <a:pt x="80" y="0"/>
                    </a:cubicBezTo>
                    <a:cubicBezTo>
                      <a:pt x="14" y="0"/>
                      <a:pt x="14" y="0"/>
                      <a:pt x="14" y="0"/>
                    </a:cubicBezTo>
                    <a:cubicBezTo>
                      <a:pt x="6" y="0"/>
                      <a:pt x="0" y="6"/>
                      <a:pt x="0" y="14"/>
                    </a:cubicBezTo>
                    <a:cubicBezTo>
                      <a:pt x="0" y="18"/>
                      <a:pt x="0" y="18"/>
                      <a:pt x="0" y="18"/>
                    </a:cubicBezTo>
                    <a:cubicBezTo>
                      <a:pt x="94" y="18"/>
                      <a:pt x="94" y="18"/>
                      <a:pt x="94" y="18"/>
                    </a:cubicBezTo>
                    <a:lnTo>
                      <a:pt x="94" y="14"/>
                    </a:lnTo>
                    <a:close/>
                    <a:moveTo>
                      <a:pt x="124" y="84"/>
                    </a:moveTo>
                    <a:cubicBezTo>
                      <a:pt x="121" y="84"/>
                      <a:pt x="117" y="88"/>
                      <a:pt x="117" y="92"/>
                    </a:cubicBezTo>
                    <a:cubicBezTo>
                      <a:pt x="117" y="108"/>
                      <a:pt x="117" y="108"/>
                      <a:pt x="117" y="108"/>
                    </a:cubicBezTo>
                    <a:cubicBezTo>
                      <a:pt x="117" y="110"/>
                      <a:pt x="115" y="113"/>
                      <a:pt x="113" y="113"/>
                    </a:cubicBezTo>
                    <a:cubicBezTo>
                      <a:pt x="110" y="113"/>
                      <a:pt x="108" y="110"/>
                      <a:pt x="108" y="108"/>
                    </a:cubicBezTo>
                    <a:cubicBezTo>
                      <a:pt x="108" y="82"/>
                      <a:pt x="108" y="82"/>
                      <a:pt x="108" y="82"/>
                    </a:cubicBezTo>
                    <a:cubicBezTo>
                      <a:pt x="108" y="78"/>
                      <a:pt x="105" y="75"/>
                      <a:pt x="101" y="75"/>
                    </a:cubicBezTo>
                    <a:cubicBezTo>
                      <a:pt x="97" y="75"/>
                      <a:pt x="94" y="78"/>
                      <a:pt x="94" y="82"/>
                    </a:cubicBezTo>
                    <a:cubicBezTo>
                      <a:pt x="94" y="99"/>
                      <a:pt x="94" y="99"/>
                      <a:pt x="94" y="99"/>
                    </a:cubicBezTo>
                    <a:cubicBezTo>
                      <a:pt x="94" y="101"/>
                      <a:pt x="92" y="103"/>
                      <a:pt x="89" y="103"/>
                    </a:cubicBezTo>
                    <a:cubicBezTo>
                      <a:pt x="87" y="103"/>
                      <a:pt x="84" y="101"/>
                      <a:pt x="84" y="99"/>
                    </a:cubicBezTo>
                    <a:cubicBezTo>
                      <a:pt x="84" y="73"/>
                      <a:pt x="84" y="73"/>
                      <a:pt x="84" y="73"/>
                    </a:cubicBezTo>
                    <a:cubicBezTo>
                      <a:pt x="84" y="69"/>
                      <a:pt x="81" y="66"/>
                      <a:pt x="77" y="66"/>
                    </a:cubicBezTo>
                    <a:cubicBezTo>
                      <a:pt x="73" y="66"/>
                      <a:pt x="70" y="69"/>
                      <a:pt x="70" y="73"/>
                    </a:cubicBezTo>
                    <a:cubicBezTo>
                      <a:pt x="70" y="99"/>
                      <a:pt x="70" y="99"/>
                      <a:pt x="70" y="99"/>
                    </a:cubicBezTo>
                    <a:cubicBezTo>
                      <a:pt x="70" y="101"/>
                      <a:pt x="68" y="103"/>
                      <a:pt x="66" y="103"/>
                    </a:cubicBezTo>
                    <a:cubicBezTo>
                      <a:pt x="63" y="103"/>
                      <a:pt x="61" y="101"/>
                      <a:pt x="61" y="99"/>
                    </a:cubicBezTo>
                    <a:cubicBezTo>
                      <a:pt x="61" y="54"/>
                      <a:pt x="61" y="54"/>
                      <a:pt x="61" y="54"/>
                    </a:cubicBezTo>
                    <a:cubicBezTo>
                      <a:pt x="61" y="50"/>
                      <a:pt x="58" y="47"/>
                      <a:pt x="54" y="47"/>
                    </a:cubicBezTo>
                    <a:cubicBezTo>
                      <a:pt x="50" y="47"/>
                      <a:pt x="47" y="50"/>
                      <a:pt x="47" y="54"/>
                    </a:cubicBezTo>
                    <a:cubicBezTo>
                      <a:pt x="47" y="117"/>
                      <a:pt x="47" y="117"/>
                      <a:pt x="47" y="117"/>
                    </a:cubicBezTo>
                    <a:cubicBezTo>
                      <a:pt x="47" y="120"/>
                      <a:pt x="45" y="122"/>
                      <a:pt x="42" y="122"/>
                    </a:cubicBezTo>
                    <a:cubicBezTo>
                      <a:pt x="39" y="122"/>
                      <a:pt x="37" y="120"/>
                      <a:pt x="37" y="117"/>
                    </a:cubicBezTo>
                    <a:cubicBezTo>
                      <a:pt x="37" y="89"/>
                      <a:pt x="37" y="89"/>
                      <a:pt x="37" y="89"/>
                    </a:cubicBezTo>
                    <a:cubicBezTo>
                      <a:pt x="31" y="94"/>
                      <a:pt x="28" y="101"/>
                      <a:pt x="28" y="108"/>
                    </a:cubicBezTo>
                    <a:cubicBezTo>
                      <a:pt x="28" y="117"/>
                      <a:pt x="28" y="117"/>
                      <a:pt x="28" y="117"/>
                    </a:cubicBezTo>
                    <a:cubicBezTo>
                      <a:pt x="28" y="130"/>
                      <a:pt x="31" y="143"/>
                      <a:pt x="37" y="155"/>
                    </a:cubicBezTo>
                    <a:cubicBezTo>
                      <a:pt x="38" y="158"/>
                      <a:pt x="39" y="160"/>
                      <a:pt x="42" y="160"/>
                    </a:cubicBezTo>
                    <a:cubicBezTo>
                      <a:pt x="117" y="160"/>
                      <a:pt x="117" y="160"/>
                      <a:pt x="117" y="160"/>
                    </a:cubicBezTo>
                    <a:cubicBezTo>
                      <a:pt x="120" y="160"/>
                      <a:pt x="121" y="158"/>
                      <a:pt x="123" y="155"/>
                    </a:cubicBezTo>
                    <a:cubicBezTo>
                      <a:pt x="128" y="143"/>
                      <a:pt x="132" y="130"/>
                      <a:pt x="132" y="117"/>
                    </a:cubicBezTo>
                    <a:cubicBezTo>
                      <a:pt x="132" y="92"/>
                      <a:pt x="132" y="92"/>
                      <a:pt x="132" y="92"/>
                    </a:cubicBezTo>
                    <a:cubicBezTo>
                      <a:pt x="132" y="88"/>
                      <a:pt x="128" y="84"/>
                      <a:pt x="124" y="84"/>
                    </a:cubicBezTo>
                    <a:close/>
                  </a:path>
                </a:pathLst>
              </a:custGeom>
              <a:solidFill>
                <a:srgbClr val="0B62CA"/>
              </a:solidFill>
              <a:ln>
                <a:noFill/>
              </a:ln>
            </p:spPr>
            <p:txBody>
              <a:bodyPr vert="horz" wrap="square" lIns="91440" tIns="45720" rIns="91440" bIns="45720" numCol="1" anchor="t" anchorCtr="0" compatLnSpc="1"/>
              <a:lstStyle/>
              <a:p>
                <a:endParaRPr lang="en-US"/>
              </a:p>
            </p:txBody>
          </p:sp>
        </p:grpSp>
        <p:grpSp>
          <p:nvGrpSpPr>
            <p:cNvPr id="5" name="组合 4"/>
            <p:cNvGrpSpPr/>
            <p:nvPr/>
          </p:nvGrpSpPr>
          <p:grpSpPr>
            <a:xfrm>
              <a:off x="7469109" y="1274657"/>
              <a:ext cx="3583801" cy="2935270"/>
              <a:chOff x="810004" y="3710557"/>
              <a:chExt cx="3583801" cy="2642117"/>
            </a:xfrm>
          </p:grpSpPr>
          <p:grpSp>
            <p:nvGrpSpPr>
              <p:cNvPr id="55" name="组合 54"/>
              <p:cNvGrpSpPr/>
              <p:nvPr/>
            </p:nvGrpSpPr>
            <p:grpSpPr>
              <a:xfrm>
                <a:off x="810004" y="3710557"/>
                <a:ext cx="1901372" cy="2642117"/>
                <a:chOff x="800916" y="1536505"/>
                <a:chExt cx="1901372" cy="3216064"/>
              </a:xfrm>
            </p:grpSpPr>
            <p:sp>
              <p:nvSpPr>
                <p:cNvPr id="59" name="任意多边形: 形状 58"/>
                <p:cNvSpPr/>
                <p:nvPr/>
              </p:nvSpPr>
              <p:spPr>
                <a:xfrm>
                  <a:off x="815430" y="1539626"/>
                  <a:ext cx="1878931" cy="3183912"/>
                </a:xfrm>
                <a:custGeom>
                  <a:avLst/>
                  <a:gdLst>
                    <a:gd name="connsiteX0" fmla="*/ 0 w 1878931"/>
                    <a:gd name="connsiteY0" fmla="*/ 0 h 3183912"/>
                    <a:gd name="connsiteX1" fmla="*/ 1481665 w 1878931"/>
                    <a:gd name="connsiteY1" fmla="*/ 0 h 3183912"/>
                    <a:gd name="connsiteX2" fmla="*/ 1878931 w 1878931"/>
                    <a:gd name="connsiteY2" fmla="*/ 339605 h 3183912"/>
                    <a:gd name="connsiteX3" fmla="*/ 1878931 w 1878931"/>
                    <a:gd name="connsiteY3" fmla="*/ 3183912 h 3183912"/>
                    <a:gd name="connsiteX4" fmla="*/ 0 w 1878931"/>
                    <a:gd name="connsiteY4" fmla="*/ 3183912 h 3183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31" h="3183912">
                      <a:moveTo>
                        <a:pt x="0" y="0"/>
                      </a:moveTo>
                      <a:lnTo>
                        <a:pt x="1481665" y="0"/>
                      </a:lnTo>
                      <a:lnTo>
                        <a:pt x="1878931" y="339605"/>
                      </a:lnTo>
                      <a:lnTo>
                        <a:pt x="1878931" y="3183912"/>
                      </a:lnTo>
                      <a:lnTo>
                        <a:pt x="0" y="3183912"/>
                      </a:lnTo>
                      <a:close/>
                    </a:path>
                  </a:pathLst>
                </a:custGeom>
                <a:solidFill>
                  <a:schemeClr val="bg1"/>
                </a:solidFill>
                <a:ln>
                  <a:noFill/>
                </a:ln>
                <a:effectLst>
                  <a:outerShdw blurRad="266700" algn="ctr"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Calibri" panose="020F0502020204030204" charset="0"/>
                    <a:ea typeface="宋体" panose="02010600030101010101" pitchFamily="2" charset="-122"/>
                  </a:endParaRPr>
                </a:p>
              </p:txBody>
            </p:sp>
            <p:sp>
              <p:nvSpPr>
                <p:cNvPr id="61" name="直角三角形 60"/>
                <p:cNvSpPr/>
                <p:nvPr/>
              </p:nvSpPr>
              <p:spPr>
                <a:xfrm flipV="1">
                  <a:off x="814307" y="1536505"/>
                  <a:ext cx="624215" cy="520179"/>
                </a:xfrm>
                <a:prstGeom prst="rtTriangle">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ea typeface="宋体" panose="02010600030101010101" pitchFamily="2" charset="-122"/>
                  </a:endParaRPr>
                </a:p>
              </p:txBody>
            </p:sp>
            <p:sp>
              <p:nvSpPr>
                <p:cNvPr id="62" name="矩形 61"/>
                <p:cNvSpPr/>
                <p:nvPr/>
              </p:nvSpPr>
              <p:spPr>
                <a:xfrm>
                  <a:off x="814308" y="4577699"/>
                  <a:ext cx="1887980" cy="174870"/>
                </a:xfrm>
                <a:prstGeom prst="rect">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ea typeface="宋体" panose="02010600030101010101" pitchFamily="2" charset="-122"/>
                  </a:endParaRPr>
                </a:p>
              </p:txBody>
            </p:sp>
            <p:sp>
              <p:nvSpPr>
                <p:cNvPr id="63" name="文本框 62"/>
                <p:cNvSpPr txBox="1"/>
                <p:nvPr/>
              </p:nvSpPr>
              <p:spPr>
                <a:xfrm flipH="1">
                  <a:off x="800916" y="1547174"/>
                  <a:ext cx="476941" cy="374635"/>
                </a:xfrm>
                <a:prstGeom prst="rect">
                  <a:avLst/>
                </a:prstGeom>
                <a:noFill/>
              </p:spPr>
              <p:txBody>
                <a:bodyPr wrap="squar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56" name="文本框 55"/>
              <p:cNvSpPr txBox="1"/>
              <p:nvPr/>
            </p:nvSpPr>
            <p:spPr>
              <a:xfrm flipH="1">
                <a:off x="898225" y="5018049"/>
                <a:ext cx="1682521" cy="358953"/>
              </a:xfrm>
              <a:prstGeom prst="rect">
                <a:avLst/>
              </a:prstGeom>
              <a:noFill/>
            </p:spPr>
            <p:txBody>
              <a:bodyPr wrap="square" rtlCol="0">
                <a:spAutoFit/>
              </a:bodyPr>
              <a:lstStyle/>
              <a:p>
                <a:pPr algn="ctr"/>
                <a:r>
                  <a:rPr kumimoji="1" lang="zh-CN" altLang="en-US" sz="2000" b="1" dirty="0">
                    <a:solidFill>
                      <a:srgbClr val="0B62CA"/>
                    </a:solidFill>
                    <a:ea typeface="宋体" panose="02010600030101010101" pitchFamily="2" charset="-122"/>
                  </a:rPr>
                  <a:t>研究计划</a:t>
                </a:r>
                <a:endParaRPr kumimoji="1" lang="zh-CN" altLang="en-US" sz="2000" b="1" dirty="0">
                  <a:solidFill>
                    <a:srgbClr val="0B62CA"/>
                  </a:solidFill>
                  <a:ea typeface="宋体" panose="02010600030101010101" pitchFamily="2" charset="-122"/>
                </a:endParaRPr>
              </a:p>
            </p:txBody>
          </p:sp>
          <p:pic>
            <p:nvPicPr>
              <p:cNvPr id="12" name="图形 11" descr="拼图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71164" y="4218139"/>
                <a:ext cx="722641" cy="722641"/>
              </a:xfrm>
              <a:prstGeom prst="rect">
                <a:avLst/>
              </a:prstGeom>
            </p:spPr>
          </p:pic>
        </p:grpSp>
        <p:grpSp>
          <p:nvGrpSpPr>
            <p:cNvPr id="8" name="组合 7"/>
            <p:cNvGrpSpPr/>
            <p:nvPr/>
          </p:nvGrpSpPr>
          <p:grpSpPr>
            <a:xfrm>
              <a:off x="8076305" y="1274657"/>
              <a:ext cx="3516908" cy="2935270"/>
              <a:chOff x="1369444" y="3710557"/>
              <a:chExt cx="3516908" cy="2642117"/>
            </a:xfrm>
          </p:grpSpPr>
          <p:grpSp>
            <p:nvGrpSpPr>
              <p:cNvPr id="64" name="组合 63"/>
              <p:cNvGrpSpPr/>
              <p:nvPr/>
            </p:nvGrpSpPr>
            <p:grpSpPr>
              <a:xfrm>
                <a:off x="2984980" y="3710557"/>
                <a:ext cx="1901372" cy="2642117"/>
                <a:chOff x="800916" y="1684850"/>
                <a:chExt cx="1901372" cy="2918426"/>
              </a:xfrm>
            </p:grpSpPr>
            <p:grpSp>
              <p:nvGrpSpPr>
                <p:cNvPr id="72" name="组合 71"/>
                <p:cNvGrpSpPr/>
                <p:nvPr/>
              </p:nvGrpSpPr>
              <p:grpSpPr>
                <a:xfrm>
                  <a:off x="800916" y="1684850"/>
                  <a:ext cx="1901372" cy="2918426"/>
                  <a:chOff x="800916" y="1536505"/>
                  <a:chExt cx="1901372" cy="3216064"/>
                </a:xfrm>
              </p:grpSpPr>
              <p:sp>
                <p:nvSpPr>
                  <p:cNvPr id="82" name="直角三角形 81"/>
                  <p:cNvSpPr/>
                  <p:nvPr/>
                </p:nvSpPr>
                <p:spPr>
                  <a:xfrm flipV="1">
                    <a:off x="814307" y="1536505"/>
                    <a:ext cx="624215" cy="520179"/>
                  </a:xfrm>
                  <a:prstGeom prst="rtTriangle">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ea typeface="宋体" panose="02010600030101010101" pitchFamily="2" charset="-122"/>
                    </a:endParaRPr>
                  </a:p>
                </p:txBody>
              </p:sp>
              <p:sp>
                <p:nvSpPr>
                  <p:cNvPr id="83" name="矩形 82"/>
                  <p:cNvSpPr/>
                  <p:nvPr/>
                </p:nvSpPr>
                <p:spPr>
                  <a:xfrm>
                    <a:off x="814308" y="4577699"/>
                    <a:ext cx="1887980" cy="174870"/>
                  </a:xfrm>
                  <a:prstGeom prst="rect">
                    <a:avLst/>
                  </a:prstGeom>
                  <a:solidFill>
                    <a:srgbClr val="0B6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ea typeface="宋体" panose="02010600030101010101" pitchFamily="2" charset="-122"/>
                    </a:endParaRPr>
                  </a:p>
                </p:txBody>
              </p:sp>
              <p:sp>
                <p:nvSpPr>
                  <p:cNvPr id="84" name="文本框 83"/>
                  <p:cNvSpPr txBox="1"/>
                  <p:nvPr/>
                </p:nvSpPr>
                <p:spPr>
                  <a:xfrm flipH="1">
                    <a:off x="800916" y="1547174"/>
                    <a:ext cx="476941" cy="374635"/>
                  </a:xfrm>
                  <a:prstGeom prst="rect">
                    <a:avLst/>
                  </a:prstGeom>
                  <a:noFill/>
                </p:spPr>
                <p:txBody>
                  <a:bodyPr wrap="squar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73" name="文本框 72"/>
                <p:cNvSpPr txBox="1"/>
                <p:nvPr/>
              </p:nvSpPr>
              <p:spPr>
                <a:xfrm flipH="1">
                  <a:off x="889137" y="3129078"/>
                  <a:ext cx="1682521" cy="396492"/>
                </a:xfrm>
                <a:prstGeom prst="rect">
                  <a:avLst/>
                </a:prstGeom>
                <a:noFill/>
              </p:spPr>
              <p:txBody>
                <a:bodyPr wrap="square" rtlCol="0">
                  <a:spAutoFit/>
                </a:bodyPr>
                <a:lstStyle/>
                <a:p>
                  <a:pPr algn="ctr"/>
                  <a:r>
                    <a:rPr kumimoji="1" lang="zh-CN" altLang="en-US" sz="2000" b="1" dirty="0">
                      <a:solidFill>
                        <a:srgbClr val="0B62CA"/>
                      </a:solidFill>
                      <a:ea typeface="宋体" panose="02010600030101010101" pitchFamily="2" charset="-122"/>
                    </a:rPr>
                    <a:t>参与人员</a:t>
                  </a:r>
                  <a:endParaRPr kumimoji="1" lang="zh-CN" altLang="en-US" sz="2000" b="1" dirty="0">
                    <a:solidFill>
                      <a:srgbClr val="0B62CA"/>
                    </a:solidFill>
                    <a:ea typeface="宋体" panose="02010600030101010101" pitchFamily="2" charset="-122"/>
                  </a:endParaRPr>
                </a:p>
              </p:txBody>
            </p:sp>
          </p:grpSp>
          <p:pic>
            <p:nvPicPr>
              <p:cNvPr id="14" name="图形 13" descr="日程表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69444" y="4264453"/>
                <a:ext cx="676208" cy="676208"/>
              </a:xfrm>
              <a:prstGeom prst="rect">
                <a:avLst/>
              </a:prstGeom>
            </p:spPr>
          </p:pic>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00706" y="2550858"/>
            <a:ext cx="6279286" cy="1568450"/>
            <a:chOff x="2277534" y="2395918"/>
            <a:chExt cx="5799666" cy="1568450"/>
          </a:xfrm>
        </p:grpSpPr>
        <p:sp>
          <p:nvSpPr>
            <p:cNvPr id="10" name="文本框 9"/>
            <p:cNvSpPr txBox="1"/>
            <p:nvPr/>
          </p:nvSpPr>
          <p:spPr>
            <a:xfrm>
              <a:off x="2277534" y="2395918"/>
              <a:ext cx="2504016" cy="1568450"/>
            </a:xfrm>
            <a:prstGeom prst="rect">
              <a:avLst/>
            </a:prstGeom>
            <a:noFill/>
          </p:spPr>
          <p:txBody>
            <a:bodyPr wrap="square" rtlCol="0">
              <a:spAutoFit/>
            </a:bodyPr>
            <a:lstStyle>
              <a:lvl1pPr algn="ctr">
                <a:defRPr sz="13800" b="1">
                  <a:ln>
                    <a:solidFill>
                      <a:schemeClr val="bg1">
                        <a:alpha val="70000"/>
                      </a:schemeClr>
                    </a:solidFill>
                  </a:ln>
                  <a:noFill/>
                  <a:latin typeface="Tahoma" panose="020B0604030504040204" pitchFamily="34" charset="0"/>
                  <a:ea typeface="Tahoma" panose="020B0604030504040204" pitchFamily="34" charset="0"/>
                  <a:cs typeface="Tahoma" panose="020B0604030504040204" pitchFamily="34" charset="0"/>
                </a:defRPr>
              </a:lvl1pPr>
            </a:lstStyle>
            <a:p>
              <a:r>
                <a:rPr lang="en-US" altLang="zh-CN" sz="9600" dirty="0">
                  <a:ln>
                    <a:solidFill>
                      <a:schemeClr val="bg1">
                        <a:alpha val="80000"/>
                      </a:schemeClr>
                    </a:solidFill>
                  </a:ln>
                  <a:latin typeface="Calibri" panose="020F0502020204030204" charset="0"/>
                  <a:ea typeface="宋体" panose="02010600030101010101" pitchFamily="2" charset="-122"/>
                </a:rPr>
                <a:t>01</a:t>
              </a:r>
              <a:endParaRPr lang="en-US" altLang="zh-CN" sz="9600" dirty="0">
                <a:ln>
                  <a:solidFill>
                    <a:schemeClr val="bg1">
                      <a:alpha val="80000"/>
                    </a:schemeClr>
                  </a:solidFill>
                </a:ln>
                <a:latin typeface="Calibri" panose="020F0502020204030204" charset="0"/>
                <a:ea typeface="宋体" panose="02010600030101010101" pitchFamily="2" charset="-122"/>
              </a:endParaRPr>
            </a:p>
          </p:txBody>
        </p:sp>
        <p:sp>
          <p:nvSpPr>
            <p:cNvPr id="11" name="文本框 10"/>
            <p:cNvSpPr txBox="1"/>
            <p:nvPr/>
          </p:nvSpPr>
          <p:spPr>
            <a:xfrm>
              <a:off x="4943475" y="2813013"/>
              <a:ext cx="3133725" cy="922020"/>
            </a:xfrm>
            <a:prstGeom prst="rect">
              <a:avLst/>
            </a:prstGeom>
            <a:noFill/>
          </p:spPr>
          <p:txBody>
            <a:bodyPr wrap="square" rtlCol="0">
              <a:spAutoFit/>
            </a:bodyPr>
            <a:lstStyle>
              <a:defPPr>
                <a:defRPr lang="en-US"/>
              </a:defPPr>
              <a:lvl1pPr>
                <a:defRPr b="1">
                  <a:latin typeface="微软雅黑" panose="020B0503020204020204" pitchFamily="34" charset="-122"/>
                  <a:ea typeface="微软雅黑" panose="020B0503020204020204" pitchFamily="34" charset="-122"/>
                </a:defRPr>
              </a:lvl1pPr>
            </a:lstStyle>
            <a:p>
              <a:pPr algn="dist"/>
              <a:r>
                <a:rPr lang="zh-CN" altLang="en-US" sz="5400" dirty="0">
                  <a:solidFill>
                    <a:schemeClr val="bg1"/>
                  </a:solidFill>
                  <a:latin typeface="Calibri" panose="020F0502020204030204" charset="0"/>
                  <a:ea typeface="宋体" panose="02010600030101010101" pitchFamily="2" charset="-122"/>
                  <a:cs typeface="阿里巴巴普惠体 B" panose="00020600040101010101" pitchFamily="18" charset="-122"/>
                </a:rPr>
                <a:t>项目背景</a:t>
              </a:r>
              <a:endParaRPr lang="zh-CN" altLang="en-US" sz="5400" dirty="0">
                <a:solidFill>
                  <a:schemeClr val="bg1"/>
                </a:solidFill>
                <a:latin typeface="Calibri" panose="020F0502020204030204" charset="0"/>
                <a:ea typeface="宋体" panose="02010600030101010101" pitchFamily="2" charset="-122"/>
                <a:cs typeface="阿里巴巴普惠体 B" panose="00020600040101010101" pitchFamily="18" charset="-122"/>
              </a:endParaRPr>
            </a:p>
          </p:txBody>
        </p:sp>
        <p:cxnSp>
          <p:nvCxnSpPr>
            <p:cNvPr id="16" name="直接连接符 15"/>
            <p:cNvCxnSpPr/>
            <p:nvPr/>
          </p:nvCxnSpPr>
          <p:spPr>
            <a:xfrm>
              <a:off x="4711700" y="2698750"/>
              <a:ext cx="0" cy="107632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4"/>
          <p:cNvPicPr>
            <a:picLocks noChangeAspect="1"/>
          </p:cNvPicPr>
          <p:nvPr/>
        </p:nvPicPr>
        <p:blipFill>
          <a:blip r:embed="rId1"/>
          <a:stretch>
            <a:fillRect/>
          </a:stretch>
        </p:blipFill>
        <p:spPr>
          <a:xfrm>
            <a:off x="9411854" y="6355972"/>
            <a:ext cx="2780146" cy="492792"/>
          </a:xfrm>
          <a:prstGeom prst="rect">
            <a:avLst/>
          </a:prstGeom>
        </p:spPr>
      </p:pic>
      <p:sp>
        <p:nvSpPr>
          <p:cNvPr id="17" name="标题 16"/>
          <p:cNvSpPr>
            <a:spLocks noGrp="1"/>
          </p:cNvSpPr>
          <p:nvPr>
            <p:ph type="title"/>
            <p:custDataLst>
              <p:tags r:id="rId2"/>
            </p:custDataLst>
          </p:nvPr>
        </p:nvSpPr>
        <p:spPr/>
        <p:txBody>
          <a:bodyPr/>
          <a:lstStyle/>
          <a:p>
            <a:r>
              <a:rPr lang="zh-CN" altLang="en-US">
                <a:latin typeface="Calibri Light" panose="020F0302020204030204" charset="0"/>
                <a:ea typeface="宋体" panose="02010600030101010101" pitchFamily="2" charset="-122"/>
              </a:rPr>
              <a:t>行业背景与挑战</a:t>
            </a:r>
            <a:endParaRPr lang="zh-CN" altLang="en-US">
              <a:latin typeface="Calibri Light" panose="020F0302020204030204" charset="0"/>
              <a:ea typeface="宋体" panose="02010600030101010101" pitchFamily="2" charset="-122"/>
            </a:endParaRPr>
          </a:p>
        </p:txBody>
      </p:sp>
      <p:sp>
        <p:nvSpPr>
          <p:cNvPr id="2" name="圆角矩形 1"/>
          <p:cNvSpPr/>
          <p:nvPr>
            <p:custDataLst>
              <p:tags r:id="rId3"/>
            </p:custDataLst>
          </p:nvPr>
        </p:nvSpPr>
        <p:spPr>
          <a:xfrm>
            <a:off x="707072" y="1470850"/>
            <a:ext cx="3376295" cy="4828540"/>
          </a:xfrm>
          <a:prstGeom prst="roundRect">
            <a:avLst>
              <a:gd name="adj" fmla="val 3766"/>
            </a:avLst>
          </a:prstGeom>
          <a:gradFill>
            <a:gsLst>
              <a:gs pos="0">
                <a:srgbClr val="FFFFFF">
                  <a:alpha val="10000"/>
                </a:srgbClr>
              </a:gs>
              <a:gs pos="100000">
                <a:schemeClr val="accent1">
                  <a:alpha val="15000"/>
                </a:schemeClr>
              </a:gs>
            </a:gsLst>
            <a:lin ang="5400000" scaled="0"/>
          </a:gradFill>
          <a:ln w="12700">
            <a:solidFill>
              <a:schemeClr val="accent1">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3" name="任意多边形: 形状 1"/>
          <p:cNvSpPr/>
          <p:nvPr>
            <p:custDataLst>
              <p:tags r:id="rId4"/>
            </p:custDataLst>
          </p:nvPr>
        </p:nvSpPr>
        <p:spPr>
          <a:xfrm>
            <a:off x="1541462" y="141814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4" name="任意多边形: 形状 3"/>
          <p:cNvSpPr/>
          <p:nvPr>
            <p:custDataLst>
              <p:tags r:id="rId5"/>
            </p:custDataLst>
          </p:nvPr>
        </p:nvSpPr>
        <p:spPr>
          <a:xfrm>
            <a:off x="3008947" y="141814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5" name="任意多边形: 形状 4" descr="D:\51PPT模板网\51pptmoban.com\图片.jpg"/>
          <p:cNvSpPr/>
          <p:nvPr>
            <p:custDataLst>
              <p:tags r:id="rId6"/>
            </p:custDataLst>
          </p:nvPr>
        </p:nvSpPr>
        <p:spPr>
          <a:xfrm>
            <a:off x="1626552" y="1421320"/>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1">
                  <a:lumMod val="60000"/>
                  <a:lumOff val="40000"/>
                  <a:alpha val="100000"/>
                </a:schemeClr>
              </a:gs>
              <a:gs pos="100000">
                <a:schemeClr val="accent1">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solidFill>
              <a:cs typeface="+mn-ea"/>
              <a:sym typeface="+mn-lt"/>
            </a:endParaRPr>
          </a:p>
        </p:txBody>
      </p:sp>
      <p:sp>
        <p:nvSpPr>
          <p:cNvPr id="6" name="形状9"/>
          <p:cNvSpPr/>
          <p:nvPr>
            <p:custDataLst>
              <p:tags r:id="rId7"/>
            </p:custDataLst>
          </p:nvPr>
        </p:nvSpPr>
        <p:spPr>
          <a:xfrm>
            <a:off x="1766252" y="6299391"/>
            <a:ext cx="1259205" cy="50800"/>
          </a:xfrm>
          <a:prstGeom prst="roundRect">
            <a:avLst>
              <a:gd name="adj" fmla="val 50000"/>
            </a:avLst>
          </a:prstGeom>
          <a:solidFill>
            <a:schemeClr val="accent1">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7" name="矩形 9"/>
          <p:cNvSpPr/>
          <p:nvPr>
            <p:custDataLst>
              <p:tags r:id="rId8"/>
            </p:custDataLst>
          </p:nvPr>
        </p:nvSpPr>
        <p:spPr>
          <a:xfrm>
            <a:off x="924877" y="2639250"/>
            <a:ext cx="2941955" cy="3355975"/>
          </a:xfrm>
          <a:prstGeom prst="rect">
            <a:avLst/>
          </a:prstGeom>
          <a:noFill/>
        </p:spPr>
        <p:txBody>
          <a:bodyPr wrap="square" lIns="0" tIns="90170" rIns="0" bIns="0" rtlCol="0" anchor="t" anchorCtr="0">
            <a:noAutofit/>
          </a:bodyPr>
          <a:lstStyle/>
          <a:p>
            <a:pPr>
              <a:lnSpc>
                <a:spcPct val="150000"/>
              </a:lnSpc>
              <a:spcBef>
                <a:spcPct val="0"/>
              </a:spcBef>
              <a:spcAft>
                <a:spcPct val="0"/>
              </a:spcAft>
            </a:pPr>
            <a:r>
              <a:rPr lang="zh-CN" altLang="en-US" sz="1500" dirty="0">
                <a:ln>
                  <a:noFill/>
                  <a:prstDash val="sysDot"/>
                </a:ln>
                <a:solidFill>
                  <a:schemeClr val="tx1">
                    <a:lumMod val="85000"/>
                    <a:lumOff val="15000"/>
                  </a:schemeClr>
                </a:solidFill>
                <a:latin typeface="+mn-ea"/>
                <a:cs typeface="+mn-ea"/>
              </a:rPr>
              <a:t>以</a:t>
            </a:r>
            <a:r>
              <a:rPr lang="en-US" altLang="zh-CN" sz="1500" dirty="0">
                <a:ln>
                  <a:noFill/>
                  <a:prstDash val="sysDot"/>
                </a:ln>
                <a:solidFill>
                  <a:schemeClr val="tx1">
                    <a:lumMod val="85000"/>
                    <a:lumOff val="15000"/>
                  </a:schemeClr>
                </a:solidFill>
                <a:latin typeface="+mn-ea"/>
                <a:cs typeface="+mn-ea"/>
              </a:rPr>
              <a:t>ChatGPT</a:t>
            </a:r>
            <a:r>
              <a:rPr lang="zh-CN" altLang="en-US" sz="1500" dirty="0">
                <a:ln>
                  <a:noFill/>
                  <a:prstDash val="sysDot"/>
                </a:ln>
                <a:solidFill>
                  <a:schemeClr val="tx1">
                    <a:lumMod val="85000"/>
                    <a:lumOff val="15000"/>
                  </a:schemeClr>
                </a:solidFill>
                <a:latin typeface="+mn-ea"/>
                <a:cs typeface="+mn-ea"/>
              </a:rPr>
              <a:t>、</a:t>
            </a:r>
            <a:r>
              <a:rPr lang="en-US" altLang="zh-CN" sz="1500" dirty="0">
                <a:ln>
                  <a:noFill/>
                  <a:prstDash val="sysDot"/>
                </a:ln>
                <a:solidFill>
                  <a:schemeClr val="tx1">
                    <a:lumMod val="85000"/>
                    <a:lumOff val="15000"/>
                  </a:schemeClr>
                </a:solidFill>
                <a:latin typeface="+mn-ea"/>
                <a:cs typeface="+mn-ea"/>
              </a:rPr>
              <a:t>DeepSeek</a:t>
            </a:r>
            <a:r>
              <a:rPr lang="zh-CN" altLang="en-US" sz="1500" dirty="0">
                <a:ln>
                  <a:noFill/>
                  <a:prstDash val="sysDot"/>
                </a:ln>
                <a:solidFill>
                  <a:schemeClr val="tx1">
                    <a:lumMod val="85000"/>
                    <a:lumOff val="15000"/>
                  </a:schemeClr>
                </a:solidFill>
                <a:latin typeface="+mn-ea"/>
                <a:cs typeface="+mn-ea"/>
              </a:rPr>
              <a:t>为代表的</a:t>
            </a:r>
            <a:r>
              <a:rPr lang="en-US" altLang="zh-CN" sz="1500" dirty="0">
                <a:ln>
                  <a:noFill/>
                  <a:prstDash val="sysDot"/>
                </a:ln>
                <a:solidFill>
                  <a:schemeClr val="tx1">
                    <a:lumMod val="85000"/>
                    <a:lumOff val="15000"/>
                  </a:schemeClr>
                </a:solidFill>
                <a:latin typeface="+mn-ea"/>
                <a:cs typeface="+mn-ea"/>
              </a:rPr>
              <a:t>LLM</a:t>
            </a:r>
            <a:r>
              <a:rPr lang="zh-CN" altLang="en-US" sz="1500" dirty="0">
                <a:ln>
                  <a:noFill/>
                  <a:prstDash val="sysDot"/>
                </a:ln>
                <a:solidFill>
                  <a:schemeClr val="tx1">
                    <a:lumMod val="85000"/>
                    <a:lumOff val="15000"/>
                  </a:schemeClr>
                </a:solidFill>
                <a:latin typeface="+mn-ea"/>
                <a:cs typeface="+mn-ea"/>
              </a:rPr>
              <a:t>预训练与对齐需要海量算力与长周期协同。</a:t>
            </a:r>
            <a:r>
              <a:rPr lang="zh-CN" altLang="en-US" sz="1500" b="1" dirty="0">
                <a:ln>
                  <a:noFill/>
                  <a:prstDash val="sysDot"/>
                </a:ln>
                <a:solidFill>
                  <a:srgbClr val="C00000"/>
                </a:solidFill>
                <a:latin typeface="+mn-ea"/>
                <a:cs typeface="+mn-ea"/>
              </a:rPr>
              <a:t>训练效率</a:t>
            </a:r>
            <a:r>
              <a:rPr lang="zh-CN" altLang="en-US" sz="1500" dirty="0">
                <a:ln>
                  <a:noFill/>
                  <a:prstDash val="sysDot"/>
                </a:ln>
                <a:solidFill>
                  <a:schemeClr val="tx1">
                    <a:lumMod val="85000"/>
                    <a:lumOff val="15000"/>
                  </a:schemeClr>
                </a:solidFill>
                <a:latin typeface="+mn-ea"/>
                <a:cs typeface="+mn-ea"/>
              </a:rPr>
              <a:t>成为决定模型可持续迭代与应用落地的关键瓶颈。</a:t>
            </a:r>
            <a:endParaRPr lang="zh-CN" altLang="en-US" sz="15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zh-CN" altLang="en-US" sz="1500" dirty="0">
              <a:ln>
                <a:noFill/>
                <a:prstDash val="sysDot"/>
              </a:ln>
              <a:solidFill>
                <a:schemeClr val="tx1">
                  <a:lumMod val="85000"/>
                  <a:lumOff val="15000"/>
                </a:schemeClr>
              </a:solidFill>
              <a:latin typeface="+mn-ea"/>
              <a:cs typeface="+mn-ea"/>
            </a:endParaRPr>
          </a:p>
        </p:txBody>
      </p:sp>
      <p:sp>
        <p:nvSpPr>
          <p:cNvPr id="8" name="标题"/>
          <p:cNvSpPr txBox="1"/>
          <p:nvPr>
            <p:custDataLst>
              <p:tags r:id="rId9"/>
            </p:custDataLst>
          </p:nvPr>
        </p:nvSpPr>
        <p:spPr>
          <a:xfrm>
            <a:off x="924877" y="1825180"/>
            <a:ext cx="2941955" cy="609600"/>
          </a:xfrm>
          <a:prstGeom prst="rect">
            <a:avLst/>
          </a:prstGeom>
          <a:noFill/>
        </p:spPr>
        <p:txBody>
          <a:bodyPr wrap="square" lIns="0" tIns="0" rIns="0" bIns="0" rtlCol="0" anchor="ctr">
            <a:noAutofit/>
          </a:bodyPr>
          <a:lstStyle/>
          <a:p>
            <a:pPr algn="ctr"/>
            <a:r>
              <a:rPr lang="zh-CN" altLang="en-US" b="1" spc="300">
                <a:solidFill>
                  <a:schemeClr val="accent1"/>
                </a:solidFill>
                <a:latin typeface="+mn-ea"/>
              </a:rPr>
              <a:t>算力瓶颈</a:t>
            </a:r>
            <a:endParaRPr lang="zh-CN" altLang="en-US" b="1" spc="300">
              <a:solidFill>
                <a:schemeClr val="accent1"/>
              </a:solidFill>
              <a:latin typeface="+mn-ea"/>
            </a:endParaRPr>
          </a:p>
        </p:txBody>
      </p:sp>
      <p:cxnSp>
        <p:nvCxnSpPr>
          <p:cNvPr id="9" name="直接连接符 59"/>
          <p:cNvCxnSpPr/>
          <p:nvPr>
            <p:custDataLst>
              <p:tags r:id="rId10"/>
            </p:custDataLst>
          </p:nvPr>
        </p:nvCxnSpPr>
        <p:spPr>
          <a:xfrm>
            <a:off x="924877" y="2537015"/>
            <a:ext cx="2887345" cy="0"/>
          </a:xfrm>
          <a:prstGeom prst="line">
            <a:avLst/>
          </a:prstGeom>
          <a:ln w="19050">
            <a:gradFill>
              <a:gsLst>
                <a:gs pos="100000">
                  <a:schemeClr val="accent1">
                    <a:alpha val="0"/>
                  </a:schemeClr>
                </a:gs>
                <a:gs pos="0">
                  <a:schemeClr val="accent1">
                    <a:alpha val="44000"/>
                  </a:schemeClr>
                </a:gs>
              </a:gsLst>
              <a:path path="circle">
                <a:fillToRect l="50000" t="50000" r="50000" b="50000"/>
              </a:path>
              <a:tileRect/>
            </a:gradFill>
          </a:ln>
          <a:effectLst>
            <a:outerShdw blurRad="50800" dist="25400" dir="5400000" algn="t" rotWithShape="0">
              <a:schemeClr val="accent1">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31" name="圆角矩形 1"/>
          <p:cNvSpPr/>
          <p:nvPr>
            <p:custDataLst>
              <p:tags r:id="rId11"/>
            </p:custDataLst>
          </p:nvPr>
        </p:nvSpPr>
        <p:spPr>
          <a:xfrm>
            <a:off x="8113713" y="1470215"/>
            <a:ext cx="3376295" cy="4828540"/>
          </a:xfrm>
          <a:prstGeom prst="roundRect">
            <a:avLst>
              <a:gd name="adj" fmla="val 3766"/>
            </a:avLst>
          </a:prstGeom>
          <a:gradFill>
            <a:gsLst>
              <a:gs pos="0">
                <a:srgbClr val="FFFFFF">
                  <a:alpha val="10000"/>
                </a:srgbClr>
              </a:gs>
              <a:gs pos="100000">
                <a:schemeClr val="accent3">
                  <a:alpha val="15000"/>
                </a:schemeClr>
              </a:gs>
            </a:gsLst>
            <a:lin ang="5400000" scaled="0"/>
          </a:gradFill>
          <a:ln w="12700">
            <a:solidFill>
              <a:schemeClr val="accent3">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33" name="任意多边形: 形状 1"/>
          <p:cNvSpPr/>
          <p:nvPr>
            <p:custDataLst>
              <p:tags r:id="rId12"/>
            </p:custDataLst>
          </p:nvPr>
        </p:nvSpPr>
        <p:spPr>
          <a:xfrm>
            <a:off x="8948103" y="141751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3">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34" name="任意多边形: 形状 3"/>
          <p:cNvSpPr/>
          <p:nvPr>
            <p:custDataLst>
              <p:tags r:id="rId13"/>
            </p:custDataLst>
          </p:nvPr>
        </p:nvSpPr>
        <p:spPr>
          <a:xfrm>
            <a:off x="10415588" y="141751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3">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35" name="任意多边形: 形状 4" descr="D:\51PPT模板网\51pptmoban.com\图片.jpg"/>
          <p:cNvSpPr/>
          <p:nvPr>
            <p:custDataLst>
              <p:tags r:id="rId14"/>
            </p:custDataLst>
          </p:nvPr>
        </p:nvSpPr>
        <p:spPr>
          <a:xfrm>
            <a:off x="9033193" y="1420685"/>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3">
                  <a:lumMod val="60000"/>
                  <a:lumOff val="40000"/>
                  <a:alpha val="100000"/>
                </a:schemeClr>
              </a:gs>
              <a:gs pos="100000">
                <a:schemeClr val="accent3">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solidFill>
              <a:cs typeface="+mn-ea"/>
              <a:sym typeface="+mn-lt"/>
            </a:endParaRPr>
          </a:p>
        </p:txBody>
      </p:sp>
      <p:sp>
        <p:nvSpPr>
          <p:cNvPr id="36" name="形状9"/>
          <p:cNvSpPr/>
          <p:nvPr>
            <p:custDataLst>
              <p:tags r:id="rId15"/>
            </p:custDataLst>
          </p:nvPr>
        </p:nvSpPr>
        <p:spPr>
          <a:xfrm>
            <a:off x="9172893" y="6298756"/>
            <a:ext cx="1259205" cy="50800"/>
          </a:xfrm>
          <a:prstGeom prst="roundRect">
            <a:avLst>
              <a:gd name="adj" fmla="val 50000"/>
            </a:avLst>
          </a:prstGeom>
          <a:solidFill>
            <a:schemeClr val="accent3">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37" name="矩形 36"/>
          <p:cNvSpPr/>
          <p:nvPr>
            <p:custDataLst>
              <p:tags r:id="rId16"/>
            </p:custDataLst>
          </p:nvPr>
        </p:nvSpPr>
        <p:spPr>
          <a:xfrm>
            <a:off x="8331518" y="2638615"/>
            <a:ext cx="2941955" cy="3355975"/>
          </a:xfrm>
          <a:prstGeom prst="rect">
            <a:avLst/>
          </a:prstGeom>
          <a:noFill/>
        </p:spPr>
        <p:txBody>
          <a:bodyPr wrap="square" lIns="0" tIns="90170" rIns="0" bIns="0" rtlCol="0" anchor="t" anchorCtr="0">
            <a:noAutofit/>
          </a:bodyPr>
          <a:lstStyle/>
          <a:p>
            <a:pPr>
              <a:lnSpc>
                <a:spcPct val="150000"/>
              </a:lnSpc>
              <a:spcBef>
                <a:spcPct val="0"/>
              </a:spcBef>
              <a:spcAft>
                <a:spcPct val="0"/>
              </a:spcAft>
            </a:pPr>
            <a:r>
              <a:rPr lang="zh-CN" altLang="en-US" sz="1500">
                <a:ln>
                  <a:noFill/>
                  <a:prstDash val="sysDot"/>
                </a:ln>
                <a:solidFill>
                  <a:schemeClr val="tx1">
                    <a:lumMod val="85000"/>
                    <a:lumOff val="15000"/>
                  </a:schemeClr>
                </a:solidFill>
                <a:latin typeface="+mn-ea"/>
                <a:cs typeface="+mn-ea"/>
              </a:rPr>
              <a:t>新一代硬件涌现</a:t>
            </a:r>
            <a:r>
              <a:rPr lang="en-US" altLang="zh-CN" sz="1500">
                <a:ln>
                  <a:noFill/>
                  <a:prstDash val="sysDot"/>
                </a:ln>
                <a:solidFill>
                  <a:schemeClr val="tx1">
                    <a:lumMod val="85000"/>
                    <a:lumOff val="15000"/>
                  </a:schemeClr>
                </a:solidFill>
                <a:latin typeface="+mn-ea"/>
                <a:cs typeface="+mn-ea"/>
              </a:rPr>
              <a:t>,</a:t>
            </a:r>
            <a:r>
              <a:rPr lang="zh-CN" altLang="en-US" sz="1500">
                <a:ln>
                  <a:noFill/>
                  <a:prstDash val="sysDot"/>
                </a:ln>
                <a:solidFill>
                  <a:schemeClr val="tx1">
                    <a:lumMod val="85000"/>
                    <a:lumOff val="15000"/>
                  </a:schemeClr>
                </a:solidFill>
                <a:latin typeface="+mn-ea"/>
                <a:cs typeface="+mn-ea"/>
              </a:rPr>
              <a:t>“超节点</a:t>
            </a:r>
            <a:r>
              <a:rPr lang="en-US" altLang="zh-CN" sz="1500">
                <a:ln>
                  <a:noFill/>
                  <a:prstDash val="sysDot"/>
                </a:ln>
                <a:solidFill>
                  <a:schemeClr val="tx1">
                    <a:lumMod val="85000"/>
                    <a:lumOff val="15000"/>
                  </a:schemeClr>
                </a:solidFill>
                <a:latin typeface="+mn-ea"/>
                <a:cs typeface="+mn-ea"/>
              </a:rPr>
              <a:t>/</a:t>
            </a:r>
            <a:r>
              <a:rPr lang="zh-CN" altLang="en-US" sz="1500">
                <a:ln>
                  <a:noFill/>
                  <a:prstDash val="sysDot"/>
                </a:ln>
                <a:solidFill>
                  <a:schemeClr val="tx1">
                    <a:lumMod val="85000"/>
                    <a:lumOff val="15000"/>
                  </a:schemeClr>
                </a:solidFill>
                <a:latin typeface="+mn-ea"/>
                <a:cs typeface="+mn-ea"/>
              </a:rPr>
              <a:t>超互联”架构将数百加速卡编织为高带宽域</a:t>
            </a:r>
            <a:r>
              <a:rPr lang="en-US" altLang="zh-CN" sz="1500">
                <a:ln>
                  <a:noFill/>
                  <a:prstDash val="sysDot"/>
                </a:ln>
                <a:solidFill>
                  <a:schemeClr val="tx1">
                    <a:lumMod val="85000"/>
                    <a:lumOff val="15000"/>
                  </a:schemeClr>
                </a:solidFill>
                <a:latin typeface="+mn-ea"/>
                <a:cs typeface="+mn-ea"/>
              </a:rPr>
              <a:t>,</a:t>
            </a:r>
            <a:r>
              <a:rPr lang="zh-CN" altLang="en-US" sz="1500">
                <a:ln>
                  <a:noFill/>
                  <a:prstDash val="sysDot"/>
                </a:ln>
                <a:solidFill>
                  <a:schemeClr val="tx1">
                    <a:lumMod val="85000"/>
                    <a:lumOff val="15000"/>
                  </a:schemeClr>
                </a:solidFill>
                <a:latin typeface="+mn-ea"/>
                <a:cs typeface="+mn-ea"/>
              </a:rPr>
              <a:t>传统并行策略难以适配。</a:t>
            </a:r>
            <a:endParaRPr lang="zh-CN" altLang="en-US" sz="1500">
              <a:ln>
                <a:noFill/>
                <a:prstDash val="sysDot"/>
              </a:ln>
              <a:solidFill>
                <a:schemeClr val="tx1">
                  <a:lumMod val="85000"/>
                  <a:lumOff val="15000"/>
                </a:schemeClr>
              </a:solidFill>
              <a:latin typeface="+mn-ea"/>
              <a:cs typeface="+mn-ea"/>
            </a:endParaRPr>
          </a:p>
        </p:txBody>
      </p:sp>
      <p:sp>
        <p:nvSpPr>
          <p:cNvPr id="38" name="标题"/>
          <p:cNvSpPr txBox="1"/>
          <p:nvPr>
            <p:custDataLst>
              <p:tags r:id="rId17"/>
            </p:custDataLst>
          </p:nvPr>
        </p:nvSpPr>
        <p:spPr>
          <a:xfrm>
            <a:off x="8331518" y="1824545"/>
            <a:ext cx="2941955" cy="609600"/>
          </a:xfrm>
          <a:prstGeom prst="rect">
            <a:avLst/>
          </a:prstGeom>
          <a:noFill/>
        </p:spPr>
        <p:txBody>
          <a:bodyPr wrap="square" lIns="0" tIns="0" rIns="0" bIns="0" rtlCol="0" anchor="ctr">
            <a:noAutofit/>
          </a:bodyPr>
          <a:lstStyle/>
          <a:p>
            <a:pPr algn="ctr"/>
            <a:r>
              <a:rPr lang="zh-CN" altLang="en-US" b="1" spc="300">
                <a:solidFill>
                  <a:schemeClr val="accent3"/>
                </a:solidFill>
                <a:latin typeface="+mn-ea"/>
              </a:rPr>
              <a:t>硬件演进</a:t>
            </a:r>
            <a:endParaRPr lang="zh-CN" altLang="en-US" b="1" spc="300">
              <a:solidFill>
                <a:schemeClr val="accent3"/>
              </a:solidFill>
              <a:latin typeface="+mn-ea"/>
            </a:endParaRPr>
          </a:p>
        </p:txBody>
      </p:sp>
      <p:cxnSp>
        <p:nvCxnSpPr>
          <p:cNvPr id="39" name="直接连接符 38"/>
          <p:cNvCxnSpPr/>
          <p:nvPr>
            <p:custDataLst>
              <p:tags r:id="rId18"/>
            </p:custDataLst>
          </p:nvPr>
        </p:nvCxnSpPr>
        <p:spPr>
          <a:xfrm>
            <a:off x="8331518" y="2536380"/>
            <a:ext cx="2887345" cy="0"/>
          </a:xfrm>
          <a:prstGeom prst="line">
            <a:avLst/>
          </a:prstGeom>
          <a:ln w="19050">
            <a:gradFill>
              <a:gsLst>
                <a:gs pos="100000">
                  <a:schemeClr val="accent3">
                    <a:alpha val="0"/>
                  </a:schemeClr>
                </a:gs>
                <a:gs pos="0">
                  <a:schemeClr val="accent3">
                    <a:alpha val="44000"/>
                  </a:schemeClr>
                </a:gs>
              </a:gsLst>
              <a:path path="circle">
                <a:fillToRect l="50000" t="50000" r="50000" b="50000"/>
              </a:path>
              <a:tileRect/>
            </a:gradFill>
          </a:ln>
          <a:effectLst>
            <a:outerShdw blurRad="50800" dist="25400" dir="5400000" algn="t" rotWithShape="0">
              <a:schemeClr val="accent3">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41" name="圆角矩形 1"/>
          <p:cNvSpPr/>
          <p:nvPr>
            <p:custDataLst>
              <p:tags r:id="rId19"/>
            </p:custDataLst>
          </p:nvPr>
        </p:nvSpPr>
        <p:spPr>
          <a:xfrm>
            <a:off x="4410392" y="1467675"/>
            <a:ext cx="3376295" cy="4828540"/>
          </a:xfrm>
          <a:prstGeom prst="roundRect">
            <a:avLst>
              <a:gd name="adj" fmla="val 3766"/>
            </a:avLst>
          </a:prstGeom>
          <a:gradFill>
            <a:gsLst>
              <a:gs pos="0">
                <a:srgbClr val="FFFFFF">
                  <a:alpha val="10000"/>
                </a:srgbClr>
              </a:gs>
              <a:gs pos="100000">
                <a:schemeClr val="accent2">
                  <a:alpha val="15000"/>
                </a:schemeClr>
              </a:gs>
            </a:gsLst>
            <a:lin ang="5400000" scaled="0"/>
          </a:gradFill>
          <a:ln w="12700">
            <a:solidFill>
              <a:schemeClr val="accent2">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43" name="任意多边形: 形状 1"/>
          <p:cNvSpPr/>
          <p:nvPr>
            <p:custDataLst>
              <p:tags r:id="rId20"/>
            </p:custDataLst>
          </p:nvPr>
        </p:nvSpPr>
        <p:spPr>
          <a:xfrm>
            <a:off x="5244782" y="141497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45" name="任意多边形: 形状 3"/>
          <p:cNvSpPr/>
          <p:nvPr>
            <p:custDataLst>
              <p:tags r:id="rId21"/>
            </p:custDataLst>
          </p:nvPr>
        </p:nvSpPr>
        <p:spPr>
          <a:xfrm>
            <a:off x="6712268" y="141497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lstStyle/>
          <a:p>
            <a:pPr algn="ctr">
              <a:spcBef>
                <a:spcPct val="0"/>
              </a:spcBef>
              <a:spcAft>
                <a:spcPct val="0"/>
              </a:spcAft>
            </a:pPr>
            <a:endParaRPr lang="zh-CN" altLang="en-US" kern="0">
              <a:solidFill>
                <a:prstClr val="white"/>
              </a:solidFill>
              <a:cs typeface="+mn-ea"/>
              <a:sym typeface="+mn-lt"/>
            </a:endParaRPr>
          </a:p>
        </p:txBody>
      </p:sp>
      <p:sp>
        <p:nvSpPr>
          <p:cNvPr id="46" name="任意多边形: 形状 4" descr="D:\51PPT模板网\51pptmoban.com\图片.jpg"/>
          <p:cNvSpPr/>
          <p:nvPr>
            <p:custDataLst>
              <p:tags r:id="rId22"/>
            </p:custDataLst>
          </p:nvPr>
        </p:nvSpPr>
        <p:spPr>
          <a:xfrm>
            <a:off x="5329872" y="1418145"/>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2">
                  <a:lumMod val="60000"/>
                  <a:lumOff val="40000"/>
                  <a:alpha val="100000"/>
                </a:schemeClr>
              </a:gs>
              <a:gs pos="100000">
                <a:schemeClr val="accent2">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solidFill>
              <a:cs typeface="+mn-ea"/>
              <a:sym typeface="+mn-lt"/>
            </a:endParaRPr>
          </a:p>
        </p:txBody>
      </p:sp>
      <p:sp>
        <p:nvSpPr>
          <p:cNvPr id="47" name="形状9"/>
          <p:cNvSpPr/>
          <p:nvPr>
            <p:custDataLst>
              <p:tags r:id="rId23"/>
            </p:custDataLst>
          </p:nvPr>
        </p:nvSpPr>
        <p:spPr>
          <a:xfrm>
            <a:off x="5468937" y="6296216"/>
            <a:ext cx="1259205" cy="50800"/>
          </a:xfrm>
          <a:prstGeom prst="roundRect">
            <a:avLst>
              <a:gd name="adj" fmla="val 50000"/>
            </a:avLst>
          </a:prstGeom>
          <a:solidFill>
            <a:schemeClr val="accent2">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48" name="矩形 47"/>
          <p:cNvSpPr/>
          <p:nvPr>
            <p:custDataLst>
              <p:tags r:id="rId24"/>
            </p:custDataLst>
          </p:nvPr>
        </p:nvSpPr>
        <p:spPr>
          <a:xfrm>
            <a:off x="4627562" y="2636075"/>
            <a:ext cx="2941955" cy="3355975"/>
          </a:xfrm>
          <a:prstGeom prst="rect">
            <a:avLst/>
          </a:prstGeom>
          <a:noFill/>
        </p:spPr>
        <p:txBody>
          <a:bodyPr wrap="square" lIns="0" tIns="90170" rIns="0" bIns="0" rtlCol="0" anchor="t" anchorCtr="0">
            <a:noAutofit/>
          </a:bodyPr>
          <a:lstStyle/>
          <a:p>
            <a:pPr>
              <a:lnSpc>
                <a:spcPct val="150000"/>
              </a:lnSpc>
              <a:spcBef>
                <a:spcPct val="0"/>
              </a:spcBef>
              <a:spcAft>
                <a:spcPct val="0"/>
              </a:spcAft>
            </a:pPr>
            <a:r>
              <a:rPr lang="zh-CN" altLang="en-US" sz="1500">
                <a:ln>
                  <a:noFill/>
                  <a:prstDash val="sysDot"/>
                </a:ln>
                <a:solidFill>
                  <a:schemeClr val="tx1">
                    <a:lumMod val="85000"/>
                    <a:lumOff val="15000"/>
                  </a:schemeClr>
                </a:solidFill>
                <a:latin typeface="+mn-ea"/>
                <a:cs typeface="+mn-ea"/>
              </a:rPr>
              <a:t>传统训练与并行策略难以有效利用资源，使大语言模型的大规模分布式训练在效率上面临严峻挑战。</a:t>
            </a:r>
            <a:endParaRPr lang="zh-CN" altLang="en-US" sz="1500">
              <a:ln>
                <a:noFill/>
                <a:prstDash val="sysDot"/>
              </a:ln>
              <a:solidFill>
                <a:schemeClr val="tx1">
                  <a:lumMod val="85000"/>
                  <a:lumOff val="15000"/>
                </a:schemeClr>
              </a:solidFill>
              <a:latin typeface="+mn-ea"/>
              <a:cs typeface="+mn-ea"/>
            </a:endParaRPr>
          </a:p>
        </p:txBody>
      </p:sp>
      <p:sp>
        <p:nvSpPr>
          <p:cNvPr id="49" name="标题"/>
          <p:cNvSpPr txBox="1"/>
          <p:nvPr>
            <p:custDataLst>
              <p:tags r:id="rId25"/>
            </p:custDataLst>
          </p:nvPr>
        </p:nvSpPr>
        <p:spPr>
          <a:xfrm>
            <a:off x="4627562" y="1822005"/>
            <a:ext cx="2941955" cy="609600"/>
          </a:xfrm>
          <a:prstGeom prst="rect">
            <a:avLst/>
          </a:prstGeom>
          <a:noFill/>
        </p:spPr>
        <p:txBody>
          <a:bodyPr wrap="square" lIns="0" tIns="0" rIns="0" bIns="0" rtlCol="0" anchor="ctr">
            <a:noAutofit/>
          </a:bodyPr>
          <a:lstStyle/>
          <a:p>
            <a:pPr algn="ctr"/>
            <a:r>
              <a:rPr lang="zh-CN" altLang="en-US" b="1" spc="300">
                <a:solidFill>
                  <a:schemeClr val="accent2"/>
                </a:solidFill>
                <a:latin typeface="+mn-ea"/>
              </a:rPr>
              <a:t>效率痛点</a:t>
            </a:r>
            <a:endParaRPr lang="zh-CN" altLang="en-US" b="1" spc="300">
              <a:solidFill>
                <a:schemeClr val="accent2"/>
              </a:solidFill>
              <a:latin typeface="+mn-ea"/>
            </a:endParaRPr>
          </a:p>
        </p:txBody>
      </p:sp>
      <p:cxnSp>
        <p:nvCxnSpPr>
          <p:cNvPr id="50" name="直接连接符 49"/>
          <p:cNvCxnSpPr/>
          <p:nvPr>
            <p:custDataLst>
              <p:tags r:id="rId26"/>
            </p:custDataLst>
          </p:nvPr>
        </p:nvCxnSpPr>
        <p:spPr>
          <a:xfrm>
            <a:off x="4654867" y="2533840"/>
            <a:ext cx="2887345" cy="0"/>
          </a:xfrm>
          <a:prstGeom prst="line">
            <a:avLst/>
          </a:prstGeom>
          <a:ln w="19050">
            <a:gradFill>
              <a:gsLst>
                <a:gs pos="100000">
                  <a:schemeClr val="accent2">
                    <a:alpha val="0"/>
                  </a:schemeClr>
                </a:gs>
                <a:gs pos="0">
                  <a:schemeClr val="accent2">
                    <a:alpha val="44000"/>
                  </a:schemeClr>
                </a:gs>
              </a:gsLst>
              <a:path path="circle">
                <a:fillToRect l="50000" t="50000" r="50000" b="50000"/>
              </a:path>
              <a:tileRect/>
            </a:gradFill>
          </a:ln>
          <a:effectLst>
            <a:outerShdw blurRad="50800" dist="25400" dir="5400000" algn="t" rotWithShape="0">
              <a:schemeClr val="accent2">
                <a:lumMod val="75000"/>
                <a:alpha val="16000"/>
              </a:schemeClr>
            </a:outerShdw>
          </a:effectLst>
        </p:spPr>
        <p:style>
          <a:lnRef idx="2">
            <a:schemeClr val="accent1"/>
          </a:lnRef>
          <a:fillRef idx="0">
            <a:srgbClr val="FFFFFF"/>
          </a:fillRef>
          <a:effectRef idx="0">
            <a:srgbClr val="FFFFFF"/>
          </a:effectRef>
          <a:fontRef idx="minor">
            <a:schemeClr val="tx1"/>
          </a:fontRef>
        </p:style>
      </p:cxnSp>
      <p:pic>
        <p:nvPicPr>
          <p:cNvPr id="310" name="图片 309"/>
          <p:cNvPicPr/>
          <p:nvPr/>
        </p:nvPicPr>
        <p:blipFill>
          <a:blip r:embed="rId27"/>
          <a:stretch>
            <a:fillRect/>
          </a:stretch>
        </p:blipFill>
        <p:spPr>
          <a:xfrm>
            <a:off x="706755" y="4265803"/>
            <a:ext cx="3375660" cy="2030095"/>
          </a:xfrm>
          <a:prstGeom prst="rect">
            <a:avLst/>
          </a:prstGeom>
        </p:spPr>
      </p:pic>
      <p:pic>
        <p:nvPicPr>
          <p:cNvPr id="311" name="图片 310"/>
          <p:cNvPicPr/>
          <p:nvPr>
            <p:custDataLst>
              <p:tags r:id="rId28"/>
            </p:custDataLst>
          </p:nvPr>
        </p:nvPicPr>
        <p:blipFill>
          <a:blip r:embed="rId29"/>
          <a:stretch>
            <a:fillRect/>
          </a:stretch>
        </p:blipFill>
        <p:spPr>
          <a:xfrm>
            <a:off x="8114030" y="4265803"/>
            <a:ext cx="3375660" cy="2030095"/>
          </a:xfrm>
          <a:prstGeom prst="rect">
            <a:avLst/>
          </a:prstGeom>
        </p:spPr>
      </p:pic>
      <p:pic>
        <p:nvPicPr>
          <p:cNvPr id="10" name="图片 9"/>
          <p:cNvPicPr>
            <a:picLocks noChangeAspect="1"/>
          </p:cNvPicPr>
          <p:nvPr/>
        </p:nvPicPr>
        <p:blipFill>
          <a:blip r:embed="rId30"/>
          <a:stretch>
            <a:fillRect/>
          </a:stretch>
        </p:blipFill>
        <p:spPr>
          <a:xfrm>
            <a:off x="4404995" y="4264533"/>
            <a:ext cx="3381375" cy="2031365"/>
          </a:xfrm>
          <a:prstGeom prst="rect">
            <a:avLst/>
          </a:prstGeom>
        </p:spPr>
      </p:pic>
      <p:sp>
        <p:nvSpPr>
          <p:cNvPr id="12" name="文本框 11"/>
          <p:cNvSpPr txBox="1"/>
          <p:nvPr/>
        </p:nvSpPr>
        <p:spPr>
          <a:xfrm>
            <a:off x="695008" y="5550189"/>
            <a:ext cx="10789920" cy="646331"/>
          </a:xfrm>
          <a:prstGeom prst="rect">
            <a:avLst/>
          </a:prstGeom>
          <a:solidFill>
            <a:schemeClr val="accent5">
              <a:lumMod val="20000"/>
              <a:lumOff val="80000"/>
            </a:schemeClr>
          </a:solidFill>
        </p:spPr>
        <p:txBody>
          <a:bodyPr wrap="square" rtlCol="0">
            <a:spAutoFit/>
          </a:bodyPr>
          <a:lstStyle/>
          <a:p>
            <a:pPr algn="ctr"/>
            <a:r>
              <a:rPr lang="zh-CN" altLang="en-US" b="1" dirty="0"/>
              <a:t>如何在新一代硬件（</a:t>
            </a:r>
            <a:r>
              <a:rPr lang="en-US" altLang="zh-CN" b="1" dirty="0"/>
              <a:t>NVL72/</a:t>
            </a:r>
            <a:r>
              <a:rPr lang="zh-CN" altLang="en-US" b="1" dirty="0"/>
              <a:t>国内超节点）与主流训练引擎（</a:t>
            </a:r>
            <a:r>
              <a:rPr lang="en-US" altLang="zh-CN" b="1" dirty="0"/>
              <a:t>Megatron-Core/</a:t>
            </a:r>
            <a:r>
              <a:rPr lang="en-US" altLang="zh-CN" b="1" dirty="0" err="1"/>
              <a:t>DeepSpeed</a:t>
            </a:r>
            <a:r>
              <a:rPr lang="en-US" altLang="zh-CN" b="1" dirty="0"/>
              <a:t>/</a:t>
            </a:r>
            <a:r>
              <a:rPr lang="en-US" altLang="zh-CN" b="1" dirty="0" err="1"/>
              <a:t>PyTorch</a:t>
            </a:r>
            <a:r>
              <a:rPr lang="en-US" altLang="zh-CN" b="1" dirty="0"/>
              <a:t> FSDP</a:t>
            </a:r>
            <a:r>
              <a:rPr lang="zh-CN" altLang="en-US" b="1" dirty="0"/>
              <a:t>）上形成可复用、可预测、可落地的分布式训练提效方法体系，是当前推动</a:t>
            </a:r>
            <a:r>
              <a:rPr lang="en-US" altLang="zh-CN" b="1" dirty="0"/>
              <a:t>LLM</a:t>
            </a:r>
            <a:r>
              <a:rPr lang="zh-CN" altLang="en-US" b="1" dirty="0"/>
              <a:t>工程化演进的当务之急</a:t>
            </a:r>
            <a:r>
              <a:rPr kumimoji="1" lang="zh-CN" altLang="en-US" b="1" dirty="0"/>
              <a:t>。</a:t>
            </a:r>
            <a:endParaRPr kumimoji="1" lang="zh-CN" altLang="en-US" b="1" dirty="0"/>
          </a:p>
        </p:txBody>
      </p:sp>
    </p:spTree>
    <p:custDataLst>
      <p:tags r:id="rId3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4"/>
          <p:cNvPicPr>
            <a:picLocks noChangeAspect="1"/>
          </p:cNvPicPr>
          <p:nvPr/>
        </p:nvPicPr>
        <p:blipFill>
          <a:blip r:embed="rId1"/>
          <a:stretch>
            <a:fillRect/>
          </a:stretch>
        </p:blipFill>
        <p:spPr>
          <a:xfrm>
            <a:off x="9411854" y="6355972"/>
            <a:ext cx="2780146" cy="492792"/>
          </a:xfrm>
          <a:prstGeom prst="rect">
            <a:avLst/>
          </a:prstGeom>
        </p:spPr>
      </p:pic>
      <p:sp>
        <p:nvSpPr>
          <p:cNvPr id="17" name="标题 16"/>
          <p:cNvSpPr>
            <a:spLocks noGrp="1"/>
          </p:cNvSpPr>
          <p:nvPr>
            <p:ph type="title"/>
            <p:custDataLst>
              <p:tags r:id="rId2"/>
            </p:custDataLst>
          </p:nvPr>
        </p:nvSpPr>
        <p:spPr/>
        <p:txBody>
          <a:bodyPr/>
          <a:lstStyle/>
          <a:p>
            <a:r>
              <a:rPr lang="zh-CN" altLang="en-US"/>
              <a:t>主要问题</a:t>
            </a:r>
            <a:endParaRPr lang="zh-CN" altLang="en-US"/>
          </a:p>
        </p:txBody>
      </p:sp>
      <p:pic>
        <p:nvPicPr>
          <p:cNvPr id="13" name="图片 12" descr="E:/设计图片素材/7968523_.jpg7968523_"/>
          <p:cNvPicPr>
            <a:picLocks noChangeAspect="1"/>
          </p:cNvPicPr>
          <p:nvPr>
            <p:custDataLst>
              <p:tags r:id="rId3"/>
            </p:custDataLst>
          </p:nvPr>
        </p:nvPicPr>
        <p:blipFill>
          <a:blip r:embed="rId4"/>
          <a:srcRect l="10018" r="10018"/>
          <a:stretch>
            <a:fillRect/>
          </a:stretch>
        </p:blipFill>
        <p:spPr>
          <a:xfrm>
            <a:off x="7921625" y="1430655"/>
            <a:ext cx="3586480" cy="2465705"/>
          </a:xfrm>
          <a:custGeom>
            <a:avLst/>
            <a:gdLst/>
            <a:ahLst/>
            <a:cxnLst>
              <a:cxn ang="3">
                <a:pos x="hc" y="t"/>
              </a:cxn>
              <a:cxn ang="cd2">
                <a:pos x="l" y="vc"/>
              </a:cxn>
              <a:cxn ang="cd4">
                <a:pos x="hc" y="b"/>
              </a:cxn>
              <a:cxn ang="0">
                <a:pos x="r" y="vc"/>
              </a:cxn>
            </a:cxnLst>
            <a:rect l="l" t="t" r="r" b="b"/>
            <a:pathLst>
              <a:path w="5648" h="3883">
                <a:moveTo>
                  <a:pt x="100" y="0"/>
                </a:moveTo>
                <a:lnTo>
                  <a:pt x="3091" y="0"/>
                </a:lnTo>
                <a:lnTo>
                  <a:pt x="3204" y="158"/>
                </a:lnTo>
                <a:lnTo>
                  <a:pt x="4336" y="158"/>
                </a:lnTo>
                <a:lnTo>
                  <a:pt x="4450" y="1"/>
                </a:lnTo>
                <a:lnTo>
                  <a:pt x="5548" y="1"/>
                </a:lnTo>
                <a:lnTo>
                  <a:pt x="5582" y="49"/>
                </a:lnTo>
                <a:lnTo>
                  <a:pt x="5648" y="140"/>
                </a:lnTo>
                <a:lnTo>
                  <a:pt x="5648" y="2955"/>
                </a:lnTo>
                <a:lnTo>
                  <a:pt x="4978" y="3883"/>
                </a:lnTo>
                <a:lnTo>
                  <a:pt x="3912" y="3883"/>
                </a:lnTo>
                <a:lnTo>
                  <a:pt x="3865" y="3818"/>
                </a:lnTo>
                <a:lnTo>
                  <a:pt x="2097" y="3818"/>
                </a:lnTo>
                <a:lnTo>
                  <a:pt x="2037" y="3735"/>
                </a:lnTo>
                <a:lnTo>
                  <a:pt x="2030" y="3725"/>
                </a:lnTo>
                <a:lnTo>
                  <a:pt x="898" y="3725"/>
                </a:lnTo>
                <a:lnTo>
                  <a:pt x="892" y="3735"/>
                </a:lnTo>
                <a:lnTo>
                  <a:pt x="784" y="3883"/>
                </a:lnTo>
                <a:lnTo>
                  <a:pt x="100" y="3883"/>
                </a:lnTo>
                <a:lnTo>
                  <a:pt x="34" y="3792"/>
                </a:lnTo>
                <a:lnTo>
                  <a:pt x="0" y="3743"/>
                </a:lnTo>
                <a:lnTo>
                  <a:pt x="0" y="3343"/>
                </a:lnTo>
                <a:lnTo>
                  <a:pt x="107" y="3194"/>
                </a:lnTo>
                <a:lnTo>
                  <a:pt x="114" y="3185"/>
                </a:lnTo>
                <a:lnTo>
                  <a:pt x="114" y="1616"/>
                </a:lnTo>
                <a:lnTo>
                  <a:pt x="0" y="1458"/>
                </a:lnTo>
                <a:lnTo>
                  <a:pt x="0" y="391"/>
                </a:lnTo>
                <a:lnTo>
                  <a:pt x="90" y="391"/>
                </a:lnTo>
                <a:lnTo>
                  <a:pt x="279" y="130"/>
                </a:lnTo>
                <a:lnTo>
                  <a:pt x="6" y="130"/>
                </a:lnTo>
                <a:lnTo>
                  <a:pt x="34" y="91"/>
                </a:lnTo>
                <a:lnTo>
                  <a:pt x="100" y="0"/>
                </a:lnTo>
                <a:close/>
              </a:path>
            </a:pathLst>
          </a:custGeom>
          <a:solidFill>
            <a:schemeClr val="accent3"/>
          </a:solidFill>
          <a:ln>
            <a:gradFill>
              <a:gsLst>
                <a:gs pos="0">
                  <a:schemeClr val="accent3">
                    <a:alpha val="0"/>
                  </a:schemeClr>
                </a:gs>
                <a:gs pos="100000">
                  <a:schemeClr val="accent3">
                    <a:alpha val="100000"/>
                  </a:schemeClr>
                </a:gs>
              </a:gsLst>
              <a:lin ang="10800000" scaled="1"/>
            </a:gradFill>
          </a:ln>
        </p:spPr>
      </p:pic>
      <p:pic>
        <p:nvPicPr>
          <p:cNvPr id="11" name="图片 10" descr="E:/设计图片素材/8168369_.jpg8168369_"/>
          <p:cNvPicPr>
            <a:picLocks noChangeAspect="1"/>
          </p:cNvPicPr>
          <p:nvPr>
            <p:custDataLst>
              <p:tags r:id="rId5"/>
            </p:custDataLst>
          </p:nvPr>
        </p:nvPicPr>
        <p:blipFill>
          <a:blip r:embed="rId6"/>
          <a:srcRect t="912" b="912"/>
          <a:stretch>
            <a:fillRect/>
          </a:stretch>
        </p:blipFill>
        <p:spPr>
          <a:xfrm>
            <a:off x="4316730" y="3897630"/>
            <a:ext cx="3586480" cy="2465705"/>
          </a:xfrm>
          <a:custGeom>
            <a:avLst/>
            <a:gdLst/>
            <a:ahLst/>
            <a:cxnLst>
              <a:cxn ang="3">
                <a:pos x="hc" y="t"/>
              </a:cxn>
              <a:cxn ang="cd2">
                <a:pos x="l" y="vc"/>
              </a:cxn>
              <a:cxn ang="cd4">
                <a:pos x="hc" y="b"/>
              </a:cxn>
              <a:cxn ang="0">
                <a:pos x="r" y="vc"/>
              </a:cxn>
            </a:cxnLst>
            <a:rect l="l" t="t" r="r" b="b"/>
            <a:pathLst>
              <a:path w="5648" h="3883">
                <a:moveTo>
                  <a:pt x="4864" y="0"/>
                </a:moveTo>
                <a:lnTo>
                  <a:pt x="5548" y="0"/>
                </a:lnTo>
                <a:lnTo>
                  <a:pt x="5614" y="91"/>
                </a:lnTo>
                <a:lnTo>
                  <a:pt x="5648" y="140"/>
                </a:lnTo>
                <a:lnTo>
                  <a:pt x="5648" y="540"/>
                </a:lnTo>
                <a:lnTo>
                  <a:pt x="5541" y="689"/>
                </a:lnTo>
                <a:lnTo>
                  <a:pt x="5534" y="698"/>
                </a:lnTo>
                <a:lnTo>
                  <a:pt x="5534" y="2267"/>
                </a:lnTo>
                <a:lnTo>
                  <a:pt x="5648" y="2425"/>
                </a:lnTo>
                <a:lnTo>
                  <a:pt x="5648" y="3492"/>
                </a:lnTo>
                <a:lnTo>
                  <a:pt x="5558" y="3492"/>
                </a:lnTo>
                <a:lnTo>
                  <a:pt x="5369" y="3753"/>
                </a:lnTo>
                <a:lnTo>
                  <a:pt x="5642" y="3753"/>
                </a:lnTo>
                <a:lnTo>
                  <a:pt x="5614" y="3792"/>
                </a:lnTo>
                <a:lnTo>
                  <a:pt x="5548" y="3883"/>
                </a:lnTo>
                <a:lnTo>
                  <a:pt x="2557" y="3883"/>
                </a:lnTo>
                <a:lnTo>
                  <a:pt x="2444" y="3725"/>
                </a:lnTo>
                <a:lnTo>
                  <a:pt x="1312" y="3725"/>
                </a:lnTo>
                <a:lnTo>
                  <a:pt x="1198" y="3882"/>
                </a:lnTo>
                <a:lnTo>
                  <a:pt x="100" y="3882"/>
                </a:lnTo>
                <a:lnTo>
                  <a:pt x="66" y="3834"/>
                </a:lnTo>
                <a:lnTo>
                  <a:pt x="0" y="3743"/>
                </a:lnTo>
                <a:lnTo>
                  <a:pt x="0" y="928"/>
                </a:lnTo>
                <a:lnTo>
                  <a:pt x="670" y="0"/>
                </a:lnTo>
                <a:lnTo>
                  <a:pt x="1736" y="0"/>
                </a:lnTo>
                <a:lnTo>
                  <a:pt x="1783" y="65"/>
                </a:lnTo>
                <a:lnTo>
                  <a:pt x="3551" y="65"/>
                </a:lnTo>
                <a:lnTo>
                  <a:pt x="3611" y="148"/>
                </a:lnTo>
                <a:lnTo>
                  <a:pt x="3618" y="158"/>
                </a:lnTo>
                <a:lnTo>
                  <a:pt x="4750" y="158"/>
                </a:lnTo>
                <a:lnTo>
                  <a:pt x="4756" y="148"/>
                </a:lnTo>
                <a:lnTo>
                  <a:pt x="4864" y="0"/>
                </a:lnTo>
                <a:close/>
              </a:path>
            </a:pathLst>
          </a:custGeom>
          <a:solidFill>
            <a:schemeClr val="accent2"/>
          </a:solidFill>
          <a:ln>
            <a:gradFill>
              <a:gsLst>
                <a:gs pos="0">
                  <a:schemeClr val="accent2">
                    <a:alpha val="0"/>
                  </a:schemeClr>
                </a:gs>
                <a:gs pos="100000">
                  <a:schemeClr val="accent2">
                    <a:alpha val="100000"/>
                  </a:schemeClr>
                </a:gs>
              </a:gsLst>
              <a:lin ang="0" scaled="1"/>
            </a:gradFill>
          </a:ln>
        </p:spPr>
      </p:pic>
      <p:pic>
        <p:nvPicPr>
          <p:cNvPr id="10" name="图片 9" descr="E:/设计图片素材/7965609_带键盘的机器人手.jpg7965609_带键盘的机器人手"/>
          <p:cNvPicPr>
            <a:picLocks noChangeAspect="1"/>
          </p:cNvPicPr>
          <p:nvPr>
            <p:custDataLst>
              <p:tags r:id="rId7"/>
            </p:custDataLst>
          </p:nvPr>
        </p:nvPicPr>
        <p:blipFill>
          <a:blip r:embed="rId8"/>
          <a:srcRect l="1532" r="1532"/>
          <a:stretch>
            <a:fillRect/>
          </a:stretch>
        </p:blipFill>
        <p:spPr>
          <a:xfrm>
            <a:off x="721995" y="1430020"/>
            <a:ext cx="3586480" cy="2465705"/>
          </a:xfrm>
          <a:custGeom>
            <a:avLst/>
            <a:gdLst/>
            <a:ahLst/>
            <a:cxnLst>
              <a:cxn ang="3">
                <a:pos x="hc" y="t"/>
              </a:cxn>
              <a:cxn ang="cd2">
                <a:pos x="l" y="vc"/>
              </a:cxn>
              <a:cxn ang="cd4">
                <a:pos x="hc" y="b"/>
              </a:cxn>
              <a:cxn ang="0">
                <a:pos x="r" y="vc"/>
              </a:cxn>
            </a:cxnLst>
            <a:rect l="l" t="t" r="r" b="b"/>
            <a:pathLst>
              <a:path w="5648" h="3883">
                <a:moveTo>
                  <a:pt x="100" y="0"/>
                </a:moveTo>
                <a:lnTo>
                  <a:pt x="3091" y="0"/>
                </a:lnTo>
                <a:lnTo>
                  <a:pt x="3204" y="158"/>
                </a:lnTo>
                <a:lnTo>
                  <a:pt x="4336" y="158"/>
                </a:lnTo>
                <a:lnTo>
                  <a:pt x="4450" y="1"/>
                </a:lnTo>
                <a:lnTo>
                  <a:pt x="5548" y="1"/>
                </a:lnTo>
                <a:lnTo>
                  <a:pt x="5582" y="49"/>
                </a:lnTo>
                <a:lnTo>
                  <a:pt x="5648" y="140"/>
                </a:lnTo>
                <a:lnTo>
                  <a:pt x="5648" y="2955"/>
                </a:lnTo>
                <a:lnTo>
                  <a:pt x="4978" y="3883"/>
                </a:lnTo>
                <a:lnTo>
                  <a:pt x="3912" y="3883"/>
                </a:lnTo>
                <a:lnTo>
                  <a:pt x="3865" y="3818"/>
                </a:lnTo>
                <a:lnTo>
                  <a:pt x="2097" y="3818"/>
                </a:lnTo>
                <a:lnTo>
                  <a:pt x="2037" y="3735"/>
                </a:lnTo>
                <a:lnTo>
                  <a:pt x="2030" y="3725"/>
                </a:lnTo>
                <a:lnTo>
                  <a:pt x="898" y="3725"/>
                </a:lnTo>
                <a:lnTo>
                  <a:pt x="892" y="3735"/>
                </a:lnTo>
                <a:lnTo>
                  <a:pt x="784" y="3883"/>
                </a:lnTo>
                <a:lnTo>
                  <a:pt x="100" y="3883"/>
                </a:lnTo>
                <a:lnTo>
                  <a:pt x="34" y="3792"/>
                </a:lnTo>
                <a:lnTo>
                  <a:pt x="0" y="3743"/>
                </a:lnTo>
                <a:lnTo>
                  <a:pt x="0" y="3343"/>
                </a:lnTo>
                <a:lnTo>
                  <a:pt x="107" y="3194"/>
                </a:lnTo>
                <a:lnTo>
                  <a:pt x="114" y="3185"/>
                </a:lnTo>
                <a:lnTo>
                  <a:pt x="114" y="1616"/>
                </a:lnTo>
                <a:lnTo>
                  <a:pt x="0" y="1458"/>
                </a:lnTo>
                <a:lnTo>
                  <a:pt x="0" y="391"/>
                </a:lnTo>
                <a:lnTo>
                  <a:pt x="90" y="391"/>
                </a:lnTo>
                <a:lnTo>
                  <a:pt x="279" y="130"/>
                </a:lnTo>
                <a:lnTo>
                  <a:pt x="6" y="130"/>
                </a:lnTo>
                <a:lnTo>
                  <a:pt x="34" y="91"/>
                </a:lnTo>
                <a:lnTo>
                  <a:pt x="100" y="0"/>
                </a:lnTo>
                <a:close/>
              </a:path>
            </a:pathLst>
          </a:custGeom>
          <a:solidFill>
            <a:schemeClr val="accent1"/>
          </a:solidFill>
          <a:ln>
            <a:gradFill>
              <a:gsLst>
                <a:gs pos="0">
                  <a:schemeClr val="accent1">
                    <a:alpha val="0"/>
                  </a:schemeClr>
                </a:gs>
                <a:gs pos="100000">
                  <a:schemeClr val="accent1">
                    <a:alpha val="100000"/>
                  </a:schemeClr>
                </a:gs>
              </a:gsLst>
              <a:lin ang="10800000" scaled="1"/>
            </a:gradFill>
          </a:ln>
        </p:spPr>
      </p:pic>
      <p:sp>
        <p:nvSpPr>
          <p:cNvPr id="12" name="正文"/>
          <p:cNvSpPr txBox="1"/>
          <p:nvPr>
            <p:custDataLst>
              <p:tags r:id="rId9"/>
            </p:custDataLst>
          </p:nvPr>
        </p:nvSpPr>
        <p:spPr>
          <a:xfrm>
            <a:off x="722093" y="4685311"/>
            <a:ext cx="2983004" cy="1678271"/>
          </a:xfrm>
          <a:prstGeom prst="rect">
            <a:avLst/>
          </a:prstGeom>
          <a:noFill/>
        </p:spPr>
        <p:txBody>
          <a:bodyPr wrap="square" lIns="0" tIns="0" rIns="0" bIns="0" rtlCol="0" anchor="t" anchorCtr="0">
            <a:noAutofit/>
          </a:bodyPr>
          <a:lstStyle>
            <a:defPPr>
              <a:defRPr lang="zh-CN"/>
            </a:defPPr>
            <a:lvl1pPr indent="0" algn="just" fontAlgn="auto">
              <a:lnSpc>
                <a:spcPct val="150000"/>
              </a:lnSpc>
              <a:defRPr sz="1600" spc="130">
                <a:ln>
                  <a:noFill/>
                  <a:prstDash val="sysDot"/>
                </a:ln>
                <a:solidFill>
                  <a:schemeClr val="tx1">
                    <a:lumMod val="65000"/>
                    <a:lumOff val="35000"/>
                  </a:schemeClr>
                </a:solidFill>
                <a:latin typeface="+mn-ea"/>
              </a:defRPr>
            </a:lvl1pPr>
          </a:lstStyle>
          <a:p>
            <a:r>
              <a:rPr lang="zh-CN" altLang="en-US" sz="1400" spc="0">
                <a:solidFill>
                  <a:schemeClr val="tx1">
                    <a:lumMod val="85000"/>
                    <a:lumOff val="15000"/>
                  </a:schemeClr>
                </a:solidFill>
                <a:cs typeface="+mn-ea"/>
                <a:sym typeface="+mn-ea"/>
              </a:rPr>
              <a:t>百万级上下文结合低比特训练引发显存激增与数值失稳，现有技术难以在保障精度的前提下克服</a:t>
            </a:r>
            <a:r>
              <a:rPr lang="en-US" altLang="zh-CN" sz="1400" spc="0">
                <a:solidFill>
                  <a:schemeClr val="tx1">
                    <a:lumMod val="85000"/>
                    <a:lumOff val="15000"/>
                  </a:schemeClr>
                </a:solidFill>
                <a:cs typeface="+mn-ea"/>
                <a:sym typeface="+mn-ea"/>
              </a:rPr>
              <a:t>“</a:t>
            </a:r>
            <a:r>
              <a:rPr lang="zh-CN" altLang="en-US" sz="1400" spc="0">
                <a:solidFill>
                  <a:schemeClr val="tx1">
                    <a:lumMod val="85000"/>
                    <a:lumOff val="15000"/>
                  </a:schemeClr>
                </a:solidFill>
                <a:cs typeface="+mn-ea"/>
                <a:sym typeface="+mn-ea"/>
              </a:rPr>
              <a:t>长序列即降速</a:t>
            </a:r>
            <a:r>
              <a:rPr lang="en-US" altLang="zh-CN" sz="1400" spc="0">
                <a:solidFill>
                  <a:schemeClr val="tx1">
                    <a:lumMod val="85000"/>
                    <a:lumOff val="15000"/>
                  </a:schemeClr>
                </a:solidFill>
                <a:cs typeface="+mn-ea"/>
                <a:sym typeface="+mn-ea"/>
              </a:rPr>
              <a:t>”</a:t>
            </a:r>
            <a:r>
              <a:rPr lang="zh-CN" altLang="en-US" sz="1400" spc="0">
                <a:solidFill>
                  <a:schemeClr val="tx1">
                    <a:lumMod val="85000"/>
                    <a:lumOff val="15000"/>
                  </a:schemeClr>
                </a:solidFill>
                <a:cs typeface="+mn-ea"/>
                <a:sym typeface="+mn-ea"/>
              </a:rPr>
              <a:t>的问题，无法兼顾高吞吐与稳定性。</a:t>
            </a:r>
            <a:endParaRPr lang="zh-CN" altLang="en-US" sz="1400" spc="0">
              <a:solidFill>
                <a:schemeClr val="tx1">
                  <a:lumMod val="85000"/>
                  <a:lumOff val="15000"/>
                </a:schemeClr>
              </a:solidFill>
              <a:cs typeface="+mn-ea"/>
              <a:sym typeface="+mn-ea"/>
            </a:endParaRPr>
          </a:p>
        </p:txBody>
      </p:sp>
      <p:sp>
        <p:nvSpPr>
          <p:cNvPr id="15" name="正文"/>
          <p:cNvSpPr txBox="1"/>
          <p:nvPr>
            <p:custDataLst>
              <p:tags r:id="rId10"/>
            </p:custDataLst>
          </p:nvPr>
        </p:nvSpPr>
        <p:spPr>
          <a:xfrm>
            <a:off x="4616700" y="1975765"/>
            <a:ext cx="2983004" cy="1620061"/>
          </a:xfrm>
          <a:prstGeom prst="rect">
            <a:avLst/>
          </a:prstGeom>
          <a:noFill/>
        </p:spPr>
        <p:txBody>
          <a:bodyPr wrap="square" lIns="0" tIns="0" rIns="0" bIns="0" rtlCol="0" anchor="t" anchorCtr="0">
            <a:noAutofit/>
          </a:bodyPr>
          <a:lstStyle>
            <a:defPPr>
              <a:defRPr lang="zh-CN"/>
            </a:defPPr>
            <a:lvl1pPr indent="0" algn="just" fontAlgn="auto">
              <a:lnSpc>
                <a:spcPct val="150000"/>
              </a:lnSpc>
              <a:defRPr sz="1600" spc="130">
                <a:ln>
                  <a:noFill/>
                  <a:prstDash val="sysDot"/>
                </a:ln>
                <a:solidFill>
                  <a:schemeClr val="tx1">
                    <a:lumMod val="65000"/>
                    <a:lumOff val="35000"/>
                  </a:schemeClr>
                </a:solidFill>
                <a:latin typeface="+mn-ea"/>
              </a:defRPr>
            </a:lvl1pPr>
          </a:lstStyle>
          <a:p>
            <a:r>
              <a:rPr lang="zh-CN" altLang="en-US" sz="1400" spc="0">
                <a:solidFill>
                  <a:schemeClr val="tx1">
                    <a:lumMod val="85000"/>
                    <a:lumOff val="15000"/>
                  </a:schemeClr>
                </a:solidFill>
                <a:cs typeface="+mn-ea"/>
                <a:sym typeface="+mn-ea"/>
              </a:rPr>
              <a:t>新一代超互联硬件架构下，传统三维并行策略在</a:t>
            </a:r>
            <a:r>
              <a:rPr lang="en-US" altLang="zh-CN" sz="1400" spc="0">
                <a:solidFill>
                  <a:schemeClr val="tx1">
                    <a:lumMod val="85000"/>
                    <a:lumOff val="15000"/>
                  </a:schemeClr>
                </a:solidFill>
                <a:cs typeface="+mn-ea"/>
                <a:sym typeface="+mn-ea"/>
              </a:rPr>
              <a:t>NVL</a:t>
            </a:r>
            <a:r>
              <a:rPr lang="zh-CN" altLang="en-US" sz="1400" spc="0">
                <a:solidFill>
                  <a:schemeClr val="tx1">
                    <a:lumMod val="85000"/>
                    <a:lumOff val="15000"/>
                  </a:schemeClr>
                </a:solidFill>
                <a:cs typeface="+mn-ea"/>
                <a:sym typeface="+mn-ea"/>
              </a:rPr>
              <a:t>或超节点级拓扑中难以化解通信热点、跨域拥塞及管线气泡，导致大规模扩展时吞吐量与收敛性不稳定，缺乏适配复杂网络形态的可规划工程方案。</a:t>
            </a:r>
            <a:endParaRPr lang="zh-CN" altLang="en-US" sz="1400" spc="0">
              <a:solidFill>
                <a:schemeClr val="tx1">
                  <a:lumMod val="85000"/>
                  <a:lumOff val="15000"/>
                </a:schemeClr>
              </a:solidFill>
              <a:cs typeface="+mn-ea"/>
              <a:sym typeface="+mn-ea"/>
            </a:endParaRPr>
          </a:p>
        </p:txBody>
      </p:sp>
      <p:sp>
        <p:nvSpPr>
          <p:cNvPr id="18" name="正文"/>
          <p:cNvSpPr txBox="1"/>
          <p:nvPr>
            <p:custDataLst>
              <p:tags r:id="rId11"/>
            </p:custDataLst>
          </p:nvPr>
        </p:nvSpPr>
        <p:spPr>
          <a:xfrm>
            <a:off x="8514783" y="4684869"/>
            <a:ext cx="2983004" cy="1670835"/>
          </a:xfrm>
          <a:prstGeom prst="rect">
            <a:avLst/>
          </a:prstGeom>
          <a:noFill/>
        </p:spPr>
        <p:txBody>
          <a:bodyPr wrap="square" lIns="0" tIns="0" rIns="0" bIns="0" rtlCol="0" anchor="t" anchorCtr="0">
            <a:noAutofit/>
          </a:bodyPr>
          <a:lstStyle>
            <a:defPPr>
              <a:defRPr lang="zh-CN"/>
            </a:defPPr>
            <a:lvl1pPr indent="0" algn="just" fontAlgn="auto">
              <a:lnSpc>
                <a:spcPct val="150000"/>
              </a:lnSpc>
              <a:defRPr sz="1600" spc="130">
                <a:ln>
                  <a:noFill/>
                  <a:prstDash val="sysDot"/>
                </a:ln>
                <a:solidFill>
                  <a:schemeClr val="tx1">
                    <a:lumMod val="65000"/>
                    <a:lumOff val="35000"/>
                  </a:schemeClr>
                </a:solidFill>
                <a:latin typeface="+mn-ea"/>
              </a:defRPr>
            </a:lvl1pPr>
          </a:lstStyle>
          <a:p>
            <a:r>
              <a:rPr lang="zh-CN" altLang="en-US" sz="1400" spc="0">
                <a:solidFill>
                  <a:schemeClr val="tx1">
                    <a:lumMod val="85000"/>
                    <a:lumOff val="15000"/>
                  </a:schemeClr>
                </a:solidFill>
                <a:cs typeface="+mn-ea"/>
                <a:sym typeface="+mn-ea"/>
              </a:rPr>
              <a:t>大规模训练的策略决策成本高且复现性差，因缺乏以</a:t>
            </a:r>
            <a:r>
              <a:rPr lang="en-US" altLang="zh-CN" sz="1400" spc="0">
                <a:solidFill>
                  <a:schemeClr val="tx1">
                    <a:lumMod val="85000"/>
                    <a:lumOff val="15000"/>
                  </a:schemeClr>
                </a:solidFill>
                <a:cs typeface="+mn-ea"/>
                <a:sym typeface="+mn-ea"/>
              </a:rPr>
              <a:t>MFU</a:t>
            </a:r>
            <a:r>
              <a:rPr lang="zh-CN" altLang="en-US" sz="1400" spc="0">
                <a:solidFill>
                  <a:schemeClr val="tx1">
                    <a:lumMod val="85000"/>
                    <a:lumOff val="15000"/>
                  </a:schemeClr>
                </a:solidFill>
                <a:cs typeface="+mn-ea"/>
                <a:sym typeface="+mn-ea"/>
              </a:rPr>
              <a:t>为核心的标准化性能模型与全流程体系，难以在复杂软硬件环境下精准预估性能并优化效率。</a:t>
            </a:r>
            <a:endParaRPr lang="zh-CN" altLang="en-US" sz="1400" spc="0">
              <a:solidFill>
                <a:schemeClr val="tx1">
                  <a:lumMod val="85000"/>
                  <a:lumOff val="15000"/>
                </a:schemeClr>
              </a:solidFill>
              <a:cs typeface="+mn-ea"/>
              <a:sym typeface="+mn-ea"/>
            </a:endParaRPr>
          </a:p>
        </p:txBody>
      </p:sp>
      <p:sp>
        <p:nvSpPr>
          <p:cNvPr id="2" name="标题"/>
          <p:cNvSpPr txBox="1"/>
          <p:nvPr>
            <p:custDataLst>
              <p:tags r:id="rId12"/>
            </p:custDataLst>
          </p:nvPr>
        </p:nvSpPr>
        <p:spPr>
          <a:xfrm>
            <a:off x="5377815" y="1430020"/>
            <a:ext cx="2312035" cy="499110"/>
          </a:xfrm>
          <a:prstGeom prst="rect">
            <a:avLst/>
          </a:prstGeom>
          <a:noFill/>
        </p:spPr>
        <p:txBody>
          <a:bodyPr wrap="square" lIns="0" tIns="0" rIns="0" bIns="0" rtlCol="0" anchor="ctr" anchorCtr="0">
            <a:noAutofit/>
          </a:bodyPr>
          <a:lstStyle/>
          <a:p>
            <a:r>
              <a:rPr lang="zh-CN" altLang="en-US" sz="2000" b="1" dirty="0">
                <a:solidFill>
                  <a:schemeClr val="accent1"/>
                </a:solidFill>
                <a:latin typeface="+mn-ea"/>
                <a:cs typeface="+mn-ea"/>
                <a:sym typeface="+mn-ea"/>
              </a:rPr>
              <a:t>超节点并行通信瓶颈</a:t>
            </a:r>
            <a:endParaRPr lang="zh-CN" altLang="en-US" sz="2000" b="1" dirty="0">
              <a:solidFill>
                <a:schemeClr val="accent1"/>
              </a:solidFill>
              <a:latin typeface="+mn-ea"/>
              <a:cs typeface="+mn-ea"/>
              <a:sym typeface="+mn-ea"/>
            </a:endParaRPr>
          </a:p>
        </p:txBody>
      </p:sp>
      <p:sp>
        <p:nvSpPr>
          <p:cNvPr id="4" name="标题"/>
          <p:cNvSpPr txBox="1"/>
          <p:nvPr>
            <p:custDataLst>
              <p:tags r:id="rId13"/>
            </p:custDataLst>
          </p:nvPr>
        </p:nvSpPr>
        <p:spPr>
          <a:xfrm>
            <a:off x="9221470" y="4121785"/>
            <a:ext cx="2273300" cy="506730"/>
          </a:xfrm>
          <a:prstGeom prst="rect">
            <a:avLst/>
          </a:prstGeom>
          <a:noFill/>
        </p:spPr>
        <p:txBody>
          <a:bodyPr wrap="square" lIns="0" tIns="0" rIns="0" bIns="0" rtlCol="0" anchor="ctr" anchorCtr="0">
            <a:noAutofit/>
          </a:bodyPr>
          <a:lstStyle/>
          <a:p>
            <a:pPr>
              <a:lnSpc>
                <a:spcPct val="120000"/>
              </a:lnSpc>
            </a:pPr>
            <a:r>
              <a:rPr lang="zh-CN" altLang="en-US" sz="2000" b="1" dirty="0">
                <a:solidFill>
                  <a:schemeClr val="accent3"/>
                </a:solidFill>
                <a:latin typeface="+mn-ea"/>
                <a:cs typeface="+mn-ea"/>
                <a:sym typeface="+mn-ea"/>
              </a:rPr>
              <a:t>缺乏性能预估体系</a:t>
            </a:r>
            <a:endParaRPr lang="zh-CN" altLang="en-US" sz="2000" b="1" dirty="0">
              <a:solidFill>
                <a:schemeClr val="accent3"/>
              </a:solidFill>
              <a:latin typeface="+mn-ea"/>
              <a:cs typeface="+mn-ea"/>
              <a:sym typeface="+mn-ea"/>
            </a:endParaRPr>
          </a:p>
        </p:txBody>
      </p:sp>
      <p:sp>
        <p:nvSpPr>
          <p:cNvPr id="5" name="标题"/>
          <p:cNvSpPr txBox="1"/>
          <p:nvPr>
            <p:custDataLst>
              <p:tags r:id="rId14"/>
            </p:custDataLst>
          </p:nvPr>
        </p:nvSpPr>
        <p:spPr>
          <a:xfrm>
            <a:off x="1571625" y="4124960"/>
            <a:ext cx="2372995" cy="499110"/>
          </a:xfrm>
          <a:prstGeom prst="rect">
            <a:avLst/>
          </a:prstGeom>
          <a:noFill/>
        </p:spPr>
        <p:txBody>
          <a:bodyPr wrap="square" lIns="0" tIns="0" rIns="0" bIns="0" rtlCol="0" anchor="ctr" anchorCtr="0">
            <a:noAutofit/>
          </a:bodyPr>
          <a:lstStyle/>
          <a:p>
            <a:pPr>
              <a:lnSpc>
                <a:spcPct val="120000"/>
              </a:lnSpc>
            </a:pPr>
            <a:r>
              <a:rPr lang="zh-CN" altLang="en-US" sz="2000" b="1">
                <a:solidFill>
                  <a:schemeClr val="accent2"/>
                </a:solidFill>
                <a:latin typeface="+mn-ea"/>
                <a:cs typeface="+mn-ea"/>
                <a:sym typeface="+mn-ea"/>
              </a:rPr>
              <a:t>长文低比特训练难题</a:t>
            </a:r>
            <a:endParaRPr lang="zh-CN" altLang="en-US" sz="2000" b="1">
              <a:solidFill>
                <a:schemeClr val="accent2"/>
              </a:solidFill>
              <a:latin typeface="+mn-ea"/>
              <a:cs typeface="+mn-ea"/>
              <a:sym typeface="+mn-ea"/>
            </a:endParaRPr>
          </a:p>
        </p:txBody>
      </p:sp>
      <p:sp>
        <p:nvSpPr>
          <p:cNvPr id="3" name="标题"/>
          <p:cNvSpPr txBox="1"/>
          <p:nvPr>
            <p:custDataLst>
              <p:tags r:id="rId15"/>
            </p:custDataLst>
          </p:nvPr>
        </p:nvSpPr>
        <p:spPr>
          <a:xfrm>
            <a:off x="4616700" y="1429771"/>
            <a:ext cx="760578" cy="499373"/>
          </a:xfrm>
          <a:prstGeom prst="rect">
            <a:avLst/>
          </a:prstGeom>
          <a:noFill/>
        </p:spPr>
        <p:txBody>
          <a:bodyPr wrap="none" lIns="0" tIns="0" rIns="0" bIns="0" rtlCol="0" anchor="ctr" anchorCtr="0">
            <a:normAutofit fontScale="77500" lnSpcReduction="10000"/>
          </a:bodyPr>
          <a:lstStyle/>
          <a:p>
            <a:r>
              <a:rPr lang="en-US" altLang="zh-CN" sz="4400" b="1" dirty="0">
                <a:solidFill>
                  <a:schemeClr val="accent1"/>
                </a:solidFill>
                <a:cs typeface="+mn-ea"/>
                <a:sym typeface="+mn-ea"/>
              </a:rPr>
              <a:t>01</a:t>
            </a:r>
            <a:endParaRPr lang="en-US" altLang="zh-CN" sz="4400" b="1" dirty="0">
              <a:solidFill>
                <a:schemeClr val="accent1"/>
              </a:solidFill>
              <a:cs typeface="+mn-ea"/>
              <a:sym typeface="+mn-ea"/>
            </a:endParaRPr>
          </a:p>
        </p:txBody>
      </p:sp>
      <p:sp>
        <p:nvSpPr>
          <p:cNvPr id="20" name="标题"/>
          <p:cNvSpPr txBox="1"/>
          <p:nvPr>
            <p:custDataLst>
              <p:tags r:id="rId16"/>
            </p:custDataLst>
          </p:nvPr>
        </p:nvSpPr>
        <p:spPr>
          <a:xfrm>
            <a:off x="8514783" y="4121637"/>
            <a:ext cx="760578" cy="506526"/>
          </a:xfrm>
          <a:prstGeom prst="rect">
            <a:avLst/>
          </a:prstGeom>
          <a:noFill/>
        </p:spPr>
        <p:txBody>
          <a:bodyPr wrap="none" lIns="0" tIns="0" rIns="0" bIns="0" rtlCol="0" anchor="ctr" anchorCtr="0">
            <a:normAutofit fontScale="67500" lnSpcReduction="10000"/>
          </a:bodyPr>
          <a:lstStyle/>
          <a:p>
            <a:pPr>
              <a:lnSpc>
                <a:spcPct val="120000"/>
              </a:lnSpc>
            </a:pPr>
            <a:r>
              <a:rPr lang="en-US" altLang="zh-CN" sz="4400" b="1" dirty="0">
                <a:solidFill>
                  <a:schemeClr val="accent3"/>
                </a:solidFill>
                <a:cs typeface="+mn-ea"/>
                <a:sym typeface="+mn-ea"/>
              </a:rPr>
              <a:t>03</a:t>
            </a:r>
            <a:endParaRPr lang="en-US" altLang="zh-CN" sz="4400" b="1" dirty="0">
              <a:solidFill>
                <a:schemeClr val="accent3"/>
              </a:solidFill>
              <a:cs typeface="+mn-ea"/>
              <a:sym typeface="+mn-ea"/>
            </a:endParaRPr>
          </a:p>
        </p:txBody>
      </p:sp>
      <p:sp>
        <p:nvSpPr>
          <p:cNvPr id="21" name="标题"/>
          <p:cNvSpPr txBox="1"/>
          <p:nvPr>
            <p:custDataLst>
              <p:tags r:id="rId17"/>
            </p:custDataLst>
          </p:nvPr>
        </p:nvSpPr>
        <p:spPr>
          <a:xfrm>
            <a:off x="722093" y="4124698"/>
            <a:ext cx="760578" cy="499371"/>
          </a:xfrm>
          <a:prstGeom prst="rect">
            <a:avLst/>
          </a:prstGeom>
          <a:noFill/>
        </p:spPr>
        <p:txBody>
          <a:bodyPr wrap="none" lIns="0" tIns="0" rIns="0" bIns="0" rtlCol="0" anchor="ctr" anchorCtr="0">
            <a:normAutofit fontScale="67500" lnSpcReduction="10000"/>
          </a:bodyPr>
          <a:lstStyle/>
          <a:p>
            <a:pPr>
              <a:lnSpc>
                <a:spcPct val="120000"/>
              </a:lnSpc>
            </a:pPr>
            <a:r>
              <a:rPr lang="en-US" altLang="zh-CN" sz="4400" b="1" dirty="0">
                <a:solidFill>
                  <a:schemeClr val="accent2"/>
                </a:solidFill>
                <a:cs typeface="+mn-ea"/>
                <a:sym typeface="+mn-ea"/>
              </a:rPr>
              <a:t>02</a:t>
            </a:r>
            <a:endParaRPr lang="en-US" altLang="zh-CN" sz="4400" b="1" dirty="0">
              <a:solidFill>
                <a:schemeClr val="accent2"/>
              </a:solidFill>
              <a:cs typeface="+mn-ea"/>
              <a:sym typeface="+mn-ea"/>
            </a:endParaRPr>
          </a:p>
        </p:txBody>
      </p:sp>
      <p:sp>
        <p:nvSpPr>
          <p:cNvPr id="51" name="任意多边形: 形状 254"/>
          <p:cNvSpPr/>
          <p:nvPr>
            <p:custDataLst>
              <p:tags r:id="rId18"/>
            </p:custDataLst>
          </p:nvPr>
        </p:nvSpPr>
        <p:spPr>
          <a:xfrm flipV="1">
            <a:off x="4308475" y="1852295"/>
            <a:ext cx="3290570" cy="167005"/>
          </a:xfrm>
          <a:custGeom>
            <a:avLst/>
            <a:gdLst>
              <a:gd name="connsiteX0" fmla="*/ 0 w 5182"/>
              <a:gd name="connsiteY0" fmla="*/ 263 h 263"/>
              <a:gd name="connsiteX1" fmla="*/ 347 w 5182"/>
              <a:gd name="connsiteY1" fmla="*/ 262 h 263"/>
              <a:gd name="connsiteX2" fmla="*/ 708 w 5182"/>
              <a:gd name="connsiteY2" fmla="*/ 0 h 263"/>
              <a:gd name="connsiteX3" fmla="*/ 5182 w 5182"/>
              <a:gd name="connsiteY3" fmla="*/ 2 h 263"/>
            </a:gdLst>
            <a:ahLst/>
            <a:cxnLst>
              <a:cxn ang="0">
                <a:pos x="connsiteX0" y="connsiteY0"/>
              </a:cxn>
              <a:cxn ang="0">
                <a:pos x="connsiteX1" y="connsiteY1"/>
              </a:cxn>
              <a:cxn ang="0">
                <a:pos x="connsiteX2" y="connsiteY2"/>
              </a:cxn>
              <a:cxn ang="0">
                <a:pos x="connsiteX3" y="connsiteY3"/>
              </a:cxn>
            </a:cxnLst>
            <a:rect l="l" t="t" r="r" b="b"/>
            <a:pathLst>
              <a:path w="5182" h="263">
                <a:moveTo>
                  <a:pt x="0" y="263"/>
                </a:moveTo>
                <a:lnTo>
                  <a:pt x="347" y="262"/>
                </a:lnTo>
                <a:lnTo>
                  <a:pt x="708" y="0"/>
                </a:lnTo>
                <a:lnTo>
                  <a:pt x="5182" y="2"/>
                </a:lnTo>
              </a:path>
            </a:pathLst>
          </a:custGeom>
          <a:noFill/>
          <a:ln w="12700">
            <a:gradFill>
              <a:gsLst>
                <a:gs pos="0">
                  <a:schemeClr val="accent1">
                    <a:alpha val="10000"/>
                  </a:schemeClr>
                </a:gs>
                <a:gs pos="100000">
                  <a:schemeClr val="accent1">
                    <a:alpha val="100000"/>
                  </a:schemeClr>
                </a:gs>
              </a:gsLst>
              <a:lin ang="0" scaled="1"/>
            </a:gradFill>
            <a:tailEnd type="ova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任意多边形: 形状 254"/>
          <p:cNvSpPr/>
          <p:nvPr>
            <p:custDataLst>
              <p:tags r:id="rId19"/>
            </p:custDataLst>
          </p:nvPr>
        </p:nvSpPr>
        <p:spPr>
          <a:xfrm flipH="1" flipV="1">
            <a:off x="722630" y="4553585"/>
            <a:ext cx="3594100" cy="167005"/>
          </a:xfrm>
          <a:custGeom>
            <a:avLst/>
            <a:gdLst>
              <a:gd name="connsiteX0" fmla="*/ 0 w 5182"/>
              <a:gd name="connsiteY0" fmla="*/ 263 h 263"/>
              <a:gd name="connsiteX1" fmla="*/ 347 w 5182"/>
              <a:gd name="connsiteY1" fmla="*/ 262 h 263"/>
              <a:gd name="connsiteX2" fmla="*/ 708 w 5182"/>
              <a:gd name="connsiteY2" fmla="*/ 0 h 263"/>
              <a:gd name="connsiteX3" fmla="*/ 5182 w 5182"/>
              <a:gd name="connsiteY3" fmla="*/ 2 h 263"/>
            </a:gdLst>
            <a:ahLst/>
            <a:cxnLst>
              <a:cxn ang="0">
                <a:pos x="connsiteX0" y="connsiteY0"/>
              </a:cxn>
              <a:cxn ang="0">
                <a:pos x="connsiteX1" y="connsiteY1"/>
              </a:cxn>
              <a:cxn ang="0">
                <a:pos x="connsiteX2" y="connsiteY2"/>
              </a:cxn>
              <a:cxn ang="0">
                <a:pos x="connsiteX3" y="connsiteY3"/>
              </a:cxn>
            </a:cxnLst>
            <a:rect l="l" t="t" r="r" b="b"/>
            <a:pathLst>
              <a:path w="5182" h="263">
                <a:moveTo>
                  <a:pt x="0" y="263"/>
                </a:moveTo>
                <a:lnTo>
                  <a:pt x="347" y="262"/>
                </a:lnTo>
                <a:lnTo>
                  <a:pt x="708" y="0"/>
                </a:lnTo>
                <a:lnTo>
                  <a:pt x="5182" y="2"/>
                </a:lnTo>
              </a:path>
            </a:pathLst>
          </a:custGeom>
          <a:noFill/>
          <a:ln w="12700">
            <a:gradFill>
              <a:gsLst>
                <a:gs pos="0">
                  <a:schemeClr val="accent2">
                    <a:alpha val="10000"/>
                  </a:schemeClr>
                </a:gs>
                <a:gs pos="100000">
                  <a:schemeClr val="accent2">
                    <a:alpha val="100000"/>
                  </a:schemeClr>
                </a:gs>
              </a:gsLst>
              <a:lin ang="0" scaled="1"/>
            </a:gradFill>
            <a:tailEnd type="ova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cxnSp>
        <p:nvCxnSpPr>
          <p:cNvPr id="26" name="肘形连接符 25"/>
          <p:cNvCxnSpPr/>
          <p:nvPr>
            <p:custDataLst>
              <p:tags r:id="rId20"/>
            </p:custDataLst>
          </p:nvPr>
        </p:nvCxnSpPr>
        <p:spPr>
          <a:xfrm rot="10800000" flipV="1">
            <a:off x="8576310" y="3691890"/>
            <a:ext cx="2669540" cy="1009650"/>
          </a:xfrm>
          <a:prstGeom prst="bentConnector3">
            <a:avLst>
              <a:gd name="adj1" fmla="val -6255"/>
            </a:avLst>
          </a:prstGeom>
          <a:noFill/>
          <a:ln w="12700">
            <a:gradFill>
              <a:gsLst>
                <a:gs pos="0">
                  <a:schemeClr val="accent3">
                    <a:alpha val="10000"/>
                  </a:schemeClr>
                </a:gs>
                <a:gs pos="100000">
                  <a:schemeClr val="accent3">
                    <a:alpha val="100000"/>
                  </a:schemeClr>
                </a:gs>
              </a:gsLst>
              <a:lin ang="0" scaled="1"/>
            </a:gradFill>
            <a:tailEnd type="oval"/>
          </a:ln>
          <a:effectLst/>
        </p:spPr>
        <p:style>
          <a:lnRef idx="2">
            <a:schemeClr val="accent1">
              <a:shade val="50000"/>
            </a:schemeClr>
          </a:lnRef>
          <a:fillRef idx="1">
            <a:schemeClr val="accent1"/>
          </a:fillRef>
          <a:effectRef idx="0">
            <a:schemeClr val="accent1"/>
          </a:effectRef>
          <a:fontRef idx="minor">
            <a:schemeClr val="lt1"/>
          </a:fontRef>
        </p:style>
      </p:cxnSp>
    </p:spTree>
    <p:custDataLst>
      <p:tags r:id="rId2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00706" y="2550858"/>
            <a:ext cx="6576050" cy="1568450"/>
            <a:chOff x="2277534" y="2395918"/>
            <a:chExt cx="5799666" cy="1568450"/>
          </a:xfrm>
        </p:grpSpPr>
        <p:sp>
          <p:nvSpPr>
            <p:cNvPr id="10" name="文本框 9"/>
            <p:cNvSpPr txBox="1"/>
            <p:nvPr/>
          </p:nvSpPr>
          <p:spPr>
            <a:xfrm>
              <a:off x="2277534" y="2395918"/>
              <a:ext cx="2504016" cy="1568450"/>
            </a:xfrm>
            <a:prstGeom prst="rect">
              <a:avLst/>
            </a:prstGeom>
            <a:noFill/>
          </p:spPr>
          <p:txBody>
            <a:bodyPr wrap="square" rtlCol="0">
              <a:spAutoFit/>
            </a:bodyPr>
            <a:lstStyle>
              <a:lvl1pPr algn="ctr">
                <a:defRPr sz="13800" b="1">
                  <a:ln>
                    <a:solidFill>
                      <a:schemeClr val="bg1">
                        <a:alpha val="70000"/>
                      </a:schemeClr>
                    </a:solidFill>
                  </a:ln>
                  <a:noFill/>
                  <a:latin typeface="Tahoma" panose="020B0604030504040204" pitchFamily="34" charset="0"/>
                  <a:ea typeface="Tahoma" panose="020B0604030504040204" pitchFamily="34" charset="0"/>
                  <a:cs typeface="Tahoma" panose="020B0604030504040204" pitchFamily="34" charset="0"/>
                </a:defRPr>
              </a:lvl1pPr>
            </a:lstStyle>
            <a:p>
              <a:r>
                <a:rPr lang="en-US" altLang="zh-CN" sz="9600" dirty="0">
                  <a:ln>
                    <a:solidFill>
                      <a:schemeClr val="bg1">
                        <a:alpha val="80000"/>
                      </a:schemeClr>
                    </a:solidFill>
                  </a:ln>
                  <a:latin typeface="Calibri" panose="020F0502020204030204" charset="0"/>
                  <a:ea typeface="宋体" panose="02010600030101010101" pitchFamily="2" charset="-122"/>
                </a:rPr>
                <a:t>02</a:t>
              </a:r>
              <a:endParaRPr lang="en-US" altLang="zh-CN" sz="9600" dirty="0">
                <a:ln>
                  <a:solidFill>
                    <a:schemeClr val="bg1">
                      <a:alpha val="80000"/>
                    </a:schemeClr>
                  </a:solidFill>
                </a:ln>
                <a:latin typeface="Calibri" panose="020F0502020204030204" charset="0"/>
                <a:ea typeface="宋体" panose="02010600030101010101" pitchFamily="2" charset="-122"/>
              </a:endParaRPr>
            </a:p>
          </p:txBody>
        </p:sp>
        <p:sp>
          <p:nvSpPr>
            <p:cNvPr id="11" name="文本框 10"/>
            <p:cNvSpPr txBox="1"/>
            <p:nvPr/>
          </p:nvSpPr>
          <p:spPr>
            <a:xfrm>
              <a:off x="4943475" y="2813013"/>
              <a:ext cx="3133725" cy="922020"/>
            </a:xfrm>
            <a:prstGeom prst="rect">
              <a:avLst/>
            </a:prstGeom>
            <a:noFill/>
          </p:spPr>
          <p:txBody>
            <a:bodyPr wrap="square" rtlCol="0">
              <a:spAutoFit/>
            </a:bodyPr>
            <a:lstStyle>
              <a:defPPr>
                <a:defRPr lang="en-US"/>
              </a:defPPr>
              <a:lvl1pPr>
                <a:defRPr b="1">
                  <a:latin typeface="微软雅黑" panose="020B0503020204020204" pitchFamily="34" charset="-122"/>
                  <a:ea typeface="微软雅黑" panose="020B0503020204020204" pitchFamily="34" charset="-122"/>
                </a:defRPr>
              </a:lvl1pPr>
            </a:lstStyle>
            <a:p>
              <a:pPr algn="dist"/>
              <a:r>
                <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rPr>
                <a:t>研究内容</a:t>
              </a:r>
              <a:endPar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endParaRPr>
            </a:p>
          </p:txBody>
        </p:sp>
        <p:cxnSp>
          <p:nvCxnSpPr>
            <p:cNvPr id="16" name="直接连接符 15"/>
            <p:cNvCxnSpPr/>
            <p:nvPr/>
          </p:nvCxnSpPr>
          <p:spPr>
            <a:xfrm>
              <a:off x="4711700" y="2698750"/>
              <a:ext cx="0" cy="107632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411854" y="6355972"/>
            <a:ext cx="2780146" cy="492792"/>
          </a:xfrm>
          <a:prstGeom prst="rect">
            <a:avLst/>
          </a:prstGeom>
        </p:spPr>
      </p:pic>
      <p:sp>
        <p:nvSpPr>
          <p:cNvPr id="2" name="标题 1"/>
          <p:cNvSpPr>
            <a:spLocks noGrp="1"/>
          </p:cNvSpPr>
          <p:nvPr>
            <p:ph type="title"/>
            <p:custDataLst>
              <p:tags r:id="rId2"/>
            </p:custDataLst>
          </p:nvPr>
        </p:nvSpPr>
        <p:spPr/>
        <p:txBody>
          <a:bodyPr/>
          <a:lstStyle/>
          <a:p>
            <a:pPr lvl="0"/>
            <a:r>
              <a:rPr lang="zh-CN" altLang="en-US"/>
              <a:t>核心技术路线</a:t>
            </a:r>
            <a:endParaRPr lang="zh-CN" altLang="en-US"/>
          </a:p>
        </p:txBody>
      </p:sp>
      <p:sp>
        <p:nvSpPr>
          <p:cNvPr id="48" name="圆角矩形 47"/>
          <p:cNvSpPr/>
          <p:nvPr>
            <p:custDataLst>
              <p:tags r:id="rId3"/>
            </p:custDataLst>
          </p:nvPr>
        </p:nvSpPr>
        <p:spPr>
          <a:xfrm>
            <a:off x="1040250" y="2656634"/>
            <a:ext cx="3353647" cy="943590"/>
          </a:xfrm>
          <a:prstGeom prst="roundRect">
            <a:avLst>
              <a:gd name="adj" fmla="val 13333"/>
            </a:avLst>
          </a:prstGeom>
          <a:solidFill>
            <a:schemeClr val="accent2">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791845" numCol="1" spcCol="0" rtlCol="0" fromWordArt="0" anchor="ctr" anchorCtr="0" forceAA="0" compatLnSpc="1">
            <a:noAutofit/>
          </a:bodyPr>
          <a:lstStyle/>
          <a:p>
            <a:pPr lvl="0" indent="0" algn="l" fontAlgn="auto">
              <a:lnSpc>
                <a:spcPct val="120000"/>
              </a:lnSpc>
              <a:buClrTx/>
              <a:buSzTx/>
              <a:buFontTx/>
            </a:pPr>
            <a:r>
              <a:rPr lang="zh-CN" altLang="en-US" sz="1600" b="1" kern="0" dirty="0">
                <a:ln>
                  <a:noFill/>
                  <a:prstDash val="sysDot"/>
                </a:ln>
                <a:solidFill>
                  <a:schemeClr val="tx1">
                    <a:lumMod val="85000"/>
                    <a:lumOff val="15000"/>
                  </a:schemeClr>
                </a:solidFill>
                <a:latin typeface="+mn-ea"/>
                <a:sym typeface="+mn-ea"/>
              </a:rPr>
              <a:t>内容二</a:t>
            </a:r>
            <a:endParaRPr lang="en-US" altLang="zh-CN" sz="1600" b="1" kern="0" dirty="0">
              <a:ln>
                <a:noFill/>
                <a:prstDash val="sysDot"/>
              </a:ln>
              <a:solidFill>
                <a:schemeClr val="tx1">
                  <a:lumMod val="85000"/>
                  <a:lumOff val="15000"/>
                </a:schemeClr>
              </a:solidFill>
              <a:latin typeface="+mn-ea"/>
              <a:sym typeface="+mn-ea"/>
            </a:endParaRPr>
          </a:p>
          <a:p>
            <a:pPr lvl="0" indent="0" algn="l" fontAlgn="auto">
              <a:lnSpc>
                <a:spcPct val="120000"/>
              </a:lnSpc>
              <a:buClrTx/>
              <a:buSzTx/>
              <a:buFontTx/>
            </a:pPr>
            <a:r>
              <a:rPr lang="zh-CN" altLang="zh-CN" sz="1400" kern="0" dirty="0">
                <a:ln>
                  <a:noFill/>
                  <a:prstDash val="sysDot"/>
                </a:ln>
                <a:solidFill>
                  <a:schemeClr val="tx1">
                    <a:lumMod val="85000"/>
                    <a:lumOff val="15000"/>
                  </a:schemeClr>
                </a:solidFill>
                <a:latin typeface="+mn-ea"/>
                <a:sym typeface="+mn-ea"/>
              </a:rPr>
              <a:t>长上下文</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低比特的稳定高吞吐训练</a:t>
            </a:r>
            <a:endParaRPr lang="zh-CN" altLang="en-US" sz="1400" kern="0" dirty="0">
              <a:ln>
                <a:noFill/>
                <a:prstDash val="sysDot"/>
              </a:ln>
              <a:solidFill>
                <a:schemeClr val="tx1">
                  <a:lumMod val="85000"/>
                  <a:lumOff val="15000"/>
                </a:schemeClr>
              </a:solidFill>
              <a:latin typeface="+mn-ea"/>
              <a:sym typeface="+mn-ea"/>
            </a:endParaRPr>
          </a:p>
        </p:txBody>
      </p:sp>
      <p:sp>
        <p:nvSpPr>
          <p:cNvPr id="52" name="圆角矩形 51"/>
          <p:cNvSpPr/>
          <p:nvPr>
            <p:custDataLst>
              <p:tags r:id="rId4"/>
            </p:custDataLst>
          </p:nvPr>
        </p:nvSpPr>
        <p:spPr>
          <a:xfrm>
            <a:off x="1040250" y="3866105"/>
            <a:ext cx="3353647" cy="943590"/>
          </a:xfrm>
          <a:prstGeom prst="roundRect">
            <a:avLst>
              <a:gd name="adj" fmla="val 13333"/>
            </a:avLst>
          </a:prstGeom>
          <a:solidFill>
            <a:schemeClr val="accent3">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791845" numCol="1" spcCol="0" rtlCol="0" fromWordArt="0" anchor="ctr" anchorCtr="0" forceAA="0" compatLnSpc="1">
            <a:noAutofit/>
          </a:bodyPr>
          <a:lstStyle/>
          <a:p>
            <a:pPr lvl="0" indent="0" algn="l" fontAlgn="auto">
              <a:lnSpc>
                <a:spcPct val="120000"/>
              </a:lnSpc>
              <a:buClrTx/>
              <a:buSzTx/>
              <a:buFontTx/>
            </a:pPr>
            <a:r>
              <a:rPr lang="zh-CN" altLang="en-US" sz="1600" b="1" kern="0" dirty="0">
                <a:ln>
                  <a:noFill/>
                  <a:prstDash val="sysDot"/>
                </a:ln>
                <a:solidFill>
                  <a:schemeClr val="tx1">
                    <a:lumMod val="85000"/>
                    <a:lumOff val="15000"/>
                  </a:schemeClr>
                </a:solidFill>
                <a:latin typeface="+mn-ea"/>
                <a:sym typeface="+mn-ea"/>
              </a:rPr>
              <a:t>内容三</a:t>
            </a:r>
            <a:endParaRPr lang="en-US" altLang="zh-CN" sz="1600" b="1" kern="0" dirty="0">
              <a:ln>
                <a:noFill/>
                <a:prstDash val="sysDot"/>
              </a:ln>
              <a:solidFill>
                <a:schemeClr val="tx1">
                  <a:lumMod val="85000"/>
                  <a:lumOff val="15000"/>
                </a:schemeClr>
              </a:solidFill>
              <a:latin typeface="+mn-ea"/>
              <a:sym typeface="+mn-ea"/>
            </a:endParaRPr>
          </a:p>
          <a:p>
            <a:pPr lvl="0" indent="0" algn="l" fontAlgn="auto">
              <a:lnSpc>
                <a:spcPct val="120000"/>
              </a:lnSpc>
              <a:buClrTx/>
              <a:buSzTx/>
              <a:buFontTx/>
            </a:pPr>
            <a:r>
              <a:rPr lang="zh-CN" altLang="zh-CN" sz="1400" kern="0" dirty="0">
                <a:ln>
                  <a:noFill/>
                  <a:prstDash val="sysDot"/>
                </a:ln>
                <a:solidFill>
                  <a:schemeClr val="tx1">
                    <a:lumMod val="85000"/>
                    <a:lumOff val="15000"/>
                  </a:schemeClr>
                </a:solidFill>
                <a:latin typeface="+mn-ea"/>
                <a:sym typeface="+mn-ea"/>
              </a:rPr>
              <a:t>通信</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存储压缩与容错编排</a:t>
            </a:r>
            <a:endParaRPr lang="zh-CN" altLang="en-US" sz="1400" kern="0" dirty="0">
              <a:ln>
                <a:noFill/>
                <a:prstDash val="sysDot"/>
              </a:ln>
              <a:solidFill>
                <a:schemeClr val="tx1">
                  <a:lumMod val="85000"/>
                  <a:lumOff val="15000"/>
                </a:schemeClr>
              </a:solidFill>
              <a:latin typeface="+mn-ea"/>
              <a:sym typeface="+mn-ea"/>
            </a:endParaRPr>
          </a:p>
        </p:txBody>
      </p:sp>
      <p:sp>
        <p:nvSpPr>
          <p:cNvPr id="53" name="圆角矩形 52"/>
          <p:cNvSpPr/>
          <p:nvPr>
            <p:custDataLst>
              <p:tags r:id="rId5"/>
            </p:custDataLst>
          </p:nvPr>
        </p:nvSpPr>
        <p:spPr>
          <a:xfrm>
            <a:off x="1040250" y="1445260"/>
            <a:ext cx="3353647" cy="945494"/>
          </a:xfrm>
          <a:prstGeom prst="roundRect">
            <a:avLst>
              <a:gd name="adj" fmla="val 13333"/>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791845" rtlCol="0" anchor="ctr">
            <a:noAutofit/>
          </a:bodyPr>
          <a:lstStyle/>
          <a:p>
            <a:pPr lvl="0" indent="0" algn="l" fontAlgn="auto">
              <a:lnSpc>
                <a:spcPct val="120000"/>
              </a:lnSpc>
              <a:buClrTx/>
              <a:buSzTx/>
              <a:buFontTx/>
            </a:pPr>
            <a:r>
              <a:rPr lang="zh-CN" altLang="en-US" sz="1600" b="1" kern="0" dirty="0">
                <a:ln>
                  <a:noFill/>
                  <a:prstDash val="sysDot"/>
                </a:ln>
                <a:solidFill>
                  <a:schemeClr val="tx1">
                    <a:lumMod val="85000"/>
                    <a:lumOff val="15000"/>
                  </a:schemeClr>
                </a:solidFill>
                <a:latin typeface="+mn-ea"/>
                <a:sym typeface="+mn-ea"/>
              </a:rPr>
              <a:t>内容一</a:t>
            </a:r>
            <a:endParaRPr lang="en-US" altLang="zh-CN" sz="1600" b="1" kern="0" dirty="0">
              <a:ln>
                <a:noFill/>
                <a:prstDash val="sysDot"/>
              </a:ln>
              <a:solidFill>
                <a:schemeClr val="tx1">
                  <a:lumMod val="85000"/>
                  <a:lumOff val="15000"/>
                </a:schemeClr>
              </a:solidFill>
              <a:latin typeface="+mn-ea"/>
              <a:sym typeface="+mn-ea"/>
            </a:endParaRPr>
          </a:p>
          <a:p>
            <a:pPr lvl="0" indent="0" algn="l" fontAlgn="auto">
              <a:lnSpc>
                <a:spcPct val="120000"/>
              </a:lnSpc>
              <a:buClrTx/>
              <a:buSzTx/>
              <a:buFontTx/>
            </a:pPr>
            <a:r>
              <a:rPr lang="zh-CN" altLang="zh-CN" sz="1400" kern="0" dirty="0">
                <a:ln>
                  <a:noFill/>
                  <a:prstDash val="sysDot"/>
                </a:ln>
                <a:solidFill>
                  <a:schemeClr val="tx1">
                    <a:lumMod val="85000"/>
                    <a:lumOff val="15000"/>
                  </a:schemeClr>
                </a:solidFill>
                <a:latin typeface="+mn-ea"/>
                <a:sym typeface="+mn-ea"/>
              </a:rPr>
              <a:t>拓扑感知的复合并行布局与通信组织</a:t>
            </a:r>
            <a:endParaRPr lang="zh-CN" altLang="zh-CN" sz="1400" kern="0" dirty="0">
              <a:ln>
                <a:noFill/>
                <a:prstDash val="sysDot"/>
              </a:ln>
              <a:solidFill>
                <a:schemeClr val="tx1">
                  <a:lumMod val="85000"/>
                  <a:lumOff val="15000"/>
                </a:schemeClr>
              </a:solidFill>
              <a:latin typeface="+mn-ea"/>
              <a:sym typeface="+mn-ea"/>
            </a:endParaRPr>
          </a:p>
        </p:txBody>
      </p:sp>
      <p:sp>
        <p:nvSpPr>
          <p:cNvPr id="54" name="圆角矩形 53"/>
          <p:cNvSpPr/>
          <p:nvPr>
            <p:custDataLst>
              <p:tags r:id="rId6"/>
            </p:custDataLst>
          </p:nvPr>
        </p:nvSpPr>
        <p:spPr>
          <a:xfrm>
            <a:off x="1040250" y="5076210"/>
            <a:ext cx="3353647" cy="943590"/>
          </a:xfrm>
          <a:prstGeom prst="roundRect">
            <a:avLst>
              <a:gd name="adj" fmla="val 13333"/>
            </a:avLst>
          </a:prstGeom>
          <a:solidFill>
            <a:schemeClr val="accent4">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791845" numCol="1" spcCol="0" rtlCol="0" fromWordArt="0" anchor="ctr" anchorCtr="0" forceAA="0" compatLnSpc="1">
            <a:noAutofit/>
          </a:bodyPr>
          <a:lstStyle/>
          <a:p>
            <a:pPr lvl="0" indent="0" algn="l" fontAlgn="auto">
              <a:lnSpc>
                <a:spcPct val="120000"/>
              </a:lnSpc>
              <a:buClrTx/>
              <a:buSzTx/>
              <a:buFontTx/>
            </a:pPr>
            <a:r>
              <a:rPr lang="zh-CN" altLang="en-US" sz="1600" b="1" kern="0" dirty="0">
                <a:ln>
                  <a:noFill/>
                  <a:prstDash val="sysDot"/>
                </a:ln>
                <a:solidFill>
                  <a:schemeClr val="tx1">
                    <a:lumMod val="85000"/>
                    <a:lumOff val="15000"/>
                  </a:schemeClr>
                </a:solidFill>
                <a:latin typeface="+mn-ea"/>
                <a:sym typeface="+mn-ea"/>
              </a:rPr>
              <a:t>内容四</a:t>
            </a:r>
            <a:endParaRPr lang="en-US" altLang="zh-CN" sz="1600" b="1" kern="0" dirty="0">
              <a:ln>
                <a:noFill/>
                <a:prstDash val="sysDot"/>
              </a:ln>
              <a:solidFill>
                <a:schemeClr val="tx1">
                  <a:lumMod val="85000"/>
                  <a:lumOff val="15000"/>
                </a:schemeClr>
              </a:solidFill>
              <a:latin typeface="+mn-ea"/>
              <a:sym typeface="+mn-ea"/>
            </a:endParaRPr>
          </a:p>
          <a:p>
            <a:pPr lvl="0" indent="0" algn="l" fontAlgn="auto">
              <a:lnSpc>
                <a:spcPct val="120000"/>
              </a:lnSpc>
              <a:buClrTx/>
              <a:buSzTx/>
              <a:buFontTx/>
            </a:pPr>
            <a:r>
              <a:rPr lang="zh-CN" altLang="zh-CN" sz="1400" kern="0" dirty="0">
                <a:ln>
                  <a:noFill/>
                  <a:prstDash val="sysDot"/>
                </a:ln>
                <a:solidFill>
                  <a:schemeClr val="tx1">
                    <a:lumMod val="85000"/>
                    <a:lumOff val="15000"/>
                  </a:schemeClr>
                </a:solidFill>
                <a:latin typeface="+mn-ea"/>
                <a:sym typeface="+mn-ea"/>
              </a:rPr>
              <a:t>以</a:t>
            </a:r>
            <a:r>
              <a:rPr lang="en-US" altLang="zh-CN" sz="1400" kern="0" dirty="0">
                <a:ln>
                  <a:noFill/>
                  <a:prstDash val="sysDot"/>
                </a:ln>
                <a:solidFill>
                  <a:schemeClr val="tx1">
                    <a:lumMod val="85000"/>
                    <a:lumOff val="15000"/>
                  </a:schemeClr>
                </a:solidFill>
                <a:latin typeface="+mn-ea"/>
                <a:sym typeface="+mn-ea"/>
              </a:rPr>
              <a:t>MFU</a:t>
            </a:r>
            <a:r>
              <a:rPr lang="zh-CN" altLang="en-US" sz="1400" kern="0" dirty="0">
                <a:ln>
                  <a:noFill/>
                  <a:prstDash val="sysDot"/>
                </a:ln>
                <a:solidFill>
                  <a:schemeClr val="tx1">
                    <a:lumMod val="85000"/>
                    <a:lumOff val="15000"/>
                  </a:schemeClr>
                </a:solidFill>
                <a:latin typeface="+mn-ea"/>
                <a:sym typeface="+mn-ea"/>
              </a:rPr>
              <a:t>为牵引的性能建模与闭环优化</a:t>
            </a:r>
            <a:endParaRPr lang="zh-CN" altLang="en-US" sz="1400" kern="0" dirty="0">
              <a:ln>
                <a:noFill/>
                <a:prstDash val="sysDot"/>
              </a:ln>
              <a:solidFill>
                <a:schemeClr val="tx1">
                  <a:lumMod val="85000"/>
                  <a:lumOff val="15000"/>
                </a:schemeClr>
              </a:solidFill>
              <a:latin typeface="+mn-ea"/>
              <a:sym typeface="+mn-ea"/>
            </a:endParaRPr>
          </a:p>
        </p:txBody>
      </p:sp>
      <p:pic>
        <p:nvPicPr>
          <p:cNvPr id="55" name="图片 54" descr="/data/temp/91b55fe8-e126-4ca0-85f0-4ffc86120430/a2c49a5d-cd33-11f0-8252-1a3c800f9e8e.svga2c49a5d-cd33-11f0-8252-1a3c800f9e8e"/>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rcRect t="5555" b="5556"/>
          <a:stretch>
            <a:fillRect/>
          </a:stretch>
        </p:blipFill>
        <p:spPr>
          <a:xfrm>
            <a:off x="1254731" y="2930764"/>
            <a:ext cx="395725" cy="395725"/>
          </a:xfrm>
          <a:prstGeom prst="rect">
            <a:avLst/>
          </a:prstGeom>
        </p:spPr>
      </p:pic>
      <p:pic>
        <p:nvPicPr>
          <p:cNvPr id="56" name="图片 55" descr="/data/temp/91b55fe8-e126-4ca0-85f0-4ffc86120430/a2c49b0a-cd33-11f0-8252-1a3c800f9e8e.svga2c49b0a-cd33-11f0-8252-1a3c800f9e8e"/>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a:stretch>
            <a:fillRect/>
          </a:stretch>
        </p:blipFill>
        <p:spPr>
          <a:xfrm>
            <a:off x="1256000" y="4140234"/>
            <a:ext cx="395725" cy="395725"/>
          </a:xfrm>
          <a:prstGeom prst="rect">
            <a:avLst/>
          </a:prstGeom>
        </p:spPr>
      </p:pic>
      <p:pic>
        <p:nvPicPr>
          <p:cNvPr id="57" name="图片 56" descr="/data/temp/91b55fe8-e126-4ca0-85f0-4ffc86120430/a2c498ac-cd33-11f0-8252-1a3c800f9e8e.svga2c498ac-cd33-11f0-8252-1a3c800f9e8e"/>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rcRect/>
          <a:stretch>
            <a:fillRect/>
          </a:stretch>
        </p:blipFill>
        <p:spPr>
          <a:xfrm>
            <a:off x="1236963" y="1720024"/>
            <a:ext cx="395725" cy="395725"/>
          </a:xfrm>
          <a:prstGeom prst="rect">
            <a:avLst/>
          </a:prstGeom>
        </p:spPr>
      </p:pic>
      <p:pic>
        <p:nvPicPr>
          <p:cNvPr id="58" name="图片 57" descr="/data/temp/91b55fe8-e126-4ca0-85f0-4ffc86120430/a2c49b2b-cd33-11f0-8252-1a3c800f9e8e.svga2c49b2b-cd33-11f0-8252-1a3c800f9e8e"/>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l="7143" r="7143"/>
          <a:stretch>
            <a:fillRect/>
          </a:stretch>
        </p:blipFill>
        <p:spPr>
          <a:xfrm>
            <a:off x="1254731" y="5350339"/>
            <a:ext cx="395725" cy="395725"/>
          </a:xfrm>
          <a:prstGeom prst="rect">
            <a:avLst/>
          </a:prstGeom>
        </p:spPr>
      </p:pic>
      <p:pic>
        <p:nvPicPr>
          <p:cNvPr id="210328588" name="图片 1"/>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029200" y="1445260"/>
            <a:ext cx="6522085" cy="4571365"/>
          </a:xfrm>
          <a:prstGeom prst="rect">
            <a:avLst/>
          </a:prstGeom>
        </p:spPr>
      </p:pic>
      <p:sp>
        <p:nvSpPr>
          <p:cNvPr id="4" name="右箭头 3"/>
          <p:cNvSpPr/>
          <p:nvPr/>
        </p:nvSpPr>
        <p:spPr>
          <a:xfrm rot="5400000">
            <a:off x="2522327" y="2049216"/>
            <a:ext cx="525666" cy="948321"/>
          </a:xfrm>
          <a:prstGeom prst="rightArrow">
            <a:avLst>
              <a:gd name="adj1" fmla="val 50000"/>
              <a:gd name="adj2" fmla="val 71928"/>
            </a:avLst>
          </a:prstGeom>
          <a:gradFill>
            <a:gsLst>
              <a:gs pos="87000">
                <a:srgbClr val="528CF2"/>
              </a:gs>
              <a:gs pos="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微软雅黑" panose="020B0503020204020204" pitchFamily="34" charset="-122"/>
              <a:ea typeface="微软雅黑" panose="020B0503020204020204" pitchFamily="34" charset="-122"/>
            </a:endParaRPr>
          </a:p>
        </p:txBody>
      </p:sp>
      <p:sp>
        <p:nvSpPr>
          <p:cNvPr id="5" name="右箭头 4"/>
          <p:cNvSpPr/>
          <p:nvPr/>
        </p:nvSpPr>
        <p:spPr>
          <a:xfrm rot="5400000">
            <a:off x="2522326" y="3301697"/>
            <a:ext cx="525666" cy="948321"/>
          </a:xfrm>
          <a:prstGeom prst="rightArrow">
            <a:avLst>
              <a:gd name="adj1" fmla="val 50000"/>
              <a:gd name="adj2" fmla="val 71928"/>
            </a:avLst>
          </a:prstGeom>
          <a:gradFill>
            <a:gsLst>
              <a:gs pos="87000">
                <a:srgbClr val="528CF2"/>
              </a:gs>
              <a:gs pos="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微软雅黑" panose="020B0503020204020204" pitchFamily="34" charset="-122"/>
              <a:ea typeface="微软雅黑" panose="020B0503020204020204" pitchFamily="34" charset="-122"/>
            </a:endParaRPr>
          </a:p>
        </p:txBody>
      </p:sp>
      <p:sp>
        <p:nvSpPr>
          <p:cNvPr id="6" name="右箭头 5"/>
          <p:cNvSpPr/>
          <p:nvPr/>
        </p:nvSpPr>
        <p:spPr>
          <a:xfrm rot="5400000">
            <a:off x="2522325" y="4494073"/>
            <a:ext cx="525666" cy="948321"/>
          </a:xfrm>
          <a:prstGeom prst="rightArrow">
            <a:avLst>
              <a:gd name="adj1" fmla="val 50000"/>
              <a:gd name="adj2" fmla="val 71928"/>
            </a:avLst>
          </a:prstGeom>
          <a:gradFill>
            <a:gsLst>
              <a:gs pos="87000">
                <a:srgbClr val="528CF2"/>
              </a:gs>
              <a:gs pos="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微软雅黑" panose="020B0503020204020204" pitchFamily="34" charset="-122"/>
              <a:ea typeface="微软雅黑" panose="020B0503020204020204" pitchFamily="34" charset="-122"/>
            </a:endParaRPr>
          </a:p>
        </p:txBody>
      </p:sp>
    </p:spTree>
    <p:custDataLst>
      <p:tags r:id="rId20"/>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2"/>
          <p:cNvPicPr>
            <a:picLocks noChangeAspect="1"/>
          </p:cNvPicPr>
          <p:nvPr/>
        </p:nvPicPr>
        <p:blipFill>
          <a:blip r:embed="rId1"/>
          <a:stretch>
            <a:fillRect/>
          </a:stretch>
        </p:blipFill>
        <p:spPr>
          <a:xfrm>
            <a:off x="9411854" y="6355972"/>
            <a:ext cx="2780146" cy="492792"/>
          </a:xfrm>
          <a:prstGeom prst="rect">
            <a:avLst/>
          </a:prstGeom>
        </p:spPr>
      </p:pic>
      <p:sp>
        <p:nvSpPr>
          <p:cNvPr id="17" name="标题 16"/>
          <p:cNvSpPr>
            <a:spLocks noGrp="1"/>
          </p:cNvSpPr>
          <p:nvPr>
            <p:ph type="title"/>
            <p:custDataLst>
              <p:tags r:id="rId2"/>
            </p:custDataLst>
          </p:nvPr>
        </p:nvSpPr>
        <p:spPr/>
        <p:txBody>
          <a:bodyPr/>
          <a:lstStyle/>
          <a:p>
            <a:r>
              <a:rPr lang="zh-CN" altLang="en-US" dirty="0"/>
              <a:t>内容</a:t>
            </a:r>
            <a:r>
              <a:rPr lang="en-US" altLang="zh-CN" dirty="0"/>
              <a:t>1</a:t>
            </a:r>
            <a:r>
              <a:rPr lang="zh-CN" altLang="en-US" dirty="0"/>
              <a:t>：拓扑感知的复合并行布局与通信组织</a:t>
            </a:r>
            <a:endParaRPr lang="zh-CN" altLang="en-US" dirty="0"/>
          </a:p>
        </p:txBody>
      </p:sp>
      <p:sp>
        <p:nvSpPr>
          <p:cNvPr id="4" name="平行四边形 3"/>
          <p:cNvSpPr/>
          <p:nvPr>
            <p:custDataLst>
              <p:tags r:id="rId3"/>
            </p:custDataLst>
          </p:nvPr>
        </p:nvSpPr>
        <p:spPr>
          <a:xfrm rot="16200000">
            <a:off x="4059555" y="2691130"/>
            <a:ext cx="529590" cy="613410"/>
          </a:xfrm>
          <a:prstGeom prst="parallelogram">
            <a:avLst>
              <a:gd name="adj" fmla="val 47404"/>
            </a:avLst>
          </a:prstGeom>
          <a:gradFill>
            <a:gsLst>
              <a:gs pos="0">
                <a:schemeClr val="accent1">
                  <a:lumMod val="85000"/>
                  <a:alpha val="100000"/>
                </a:schemeClr>
              </a:gs>
              <a:gs pos="100000">
                <a:schemeClr val="accent1">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28" name="直接连接符 27"/>
          <p:cNvCxnSpPr/>
          <p:nvPr>
            <p:custDataLst>
              <p:tags r:id="rId4"/>
            </p:custDataLst>
          </p:nvPr>
        </p:nvCxnSpPr>
        <p:spPr>
          <a:xfrm>
            <a:off x="7579995" y="2570480"/>
            <a:ext cx="830580" cy="8255"/>
          </a:xfrm>
          <a:prstGeom prst="line">
            <a:avLst/>
          </a:prstGeom>
          <a:ln w="9525">
            <a:solidFill>
              <a:schemeClr val="accent1">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2" name="矩形 1"/>
          <p:cNvSpPr/>
          <p:nvPr>
            <p:custDataLst>
              <p:tags r:id="rId5"/>
            </p:custDataLst>
          </p:nvPr>
        </p:nvSpPr>
        <p:spPr>
          <a:xfrm>
            <a:off x="9048115" y="2039620"/>
            <a:ext cx="2431699" cy="1172210"/>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400" kern="0" dirty="0">
                <a:ln>
                  <a:noFill/>
                  <a:prstDash val="sysDot"/>
                </a:ln>
                <a:solidFill>
                  <a:schemeClr val="tx1">
                    <a:lumMod val="85000"/>
                    <a:lumOff val="15000"/>
                  </a:schemeClr>
                </a:solidFill>
                <a:latin typeface="+mn-ea"/>
                <a:sym typeface="+mn-ea"/>
              </a:rPr>
              <a:t>构建高精度的通信代价图谱。主动采集域内与跨域的实时带宽与延迟数据，将物理网络特征数字化，为策略调度提供精准依据。</a:t>
            </a:r>
            <a:endParaRPr lang="zh-CN" altLang="en-US" sz="1400" kern="0" dirty="0">
              <a:ln>
                <a:noFill/>
                <a:prstDash val="sysDot"/>
              </a:ln>
              <a:solidFill>
                <a:schemeClr val="tx1">
                  <a:lumMod val="85000"/>
                  <a:lumOff val="15000"/>
                </a:schemeClr>
              </a:solidFill>
              <a:latin typeface="+mn-ea"/>
              <a:sym typeface="+mn-ea"/>
            </a:endParaRPr>
          </a:p>
        </p:txBody>
      </p:sp>
      <p:sp>
        <p:nvSpPr>
          <p:cNvPr id="33" name="椭圆 32"/>
          <p:cNvSpPr/>
          <p:nvPr>
            <p:custDataLst>
              <p:tags r:id="rId6"/>
            </p:custDataLst>
          </p:nvPr>
        </p:nvSpPr>
        <p:spPr>
          <a:xfrm>
            <a:off x="8496935" y="2348865"/>
            <a:ext cx="459740" cy="459740"/>
          </a:xfrm>
          <a:prstGeom prst="ellipse">
            <a:avLst/>
          </a:prstGeom>
          <a:gradFill>
            <a:gsLst>
              <a:gs pos="0">
                <a:schemeClr val="accent1">
                  <a:lumMod val="75000"/>
                  <a:lumOff val="25000"/>
                  <a:alpha val="100000"/>
                </a:schemeClr>
              </a:gs>
              <a:gs pos="100000">
                <a:schemeClr val="accent1">
                  <a:lumMod val="85000"/>
                  <a:lumOff val="15000"/>
                  <a:alpha val="100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15" name="图片 12" descr="343439383331313b343532303032383bbfcdbba7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603615" y="2459355"/>
            <a:ext cx="238125" cy="238125"/>
          </a:xfrm>
          <a:prstGeom prst="rect">
            <a:avLst/>
          </a:prstGeom>
        </p:spPr>
      </p:pic>
      <p:sp>
        <p:nvSpPr>
          <p:cNvPr id="10" name="标题"/>
          <p:cNvSpPr/>
          <p:nvPr>
            <p:custDataLst>
              <p:tags r:id="rId10"/>
            </p:custDataLst>
          </p:nvPr>
        </p:nvSpPr>
        <p:spPr>
          <a:xfrm>
            <a:off x="4017010" y="2146935"/>
            <a:ext cx="3359785" cy="864235"/>
          </a:xfrm>
          <a:prstGeom prst="rect">
            <a:avLst/>
          </a:prstGeom>
          <a:gradFill>
            <a:gsLst>
              <a:gs pos="80000">
                <a:schemeClr val="accent1">
                  <a:lumMod val="70000"/>
                  <a:lumOff val="30000"/>
                  <a:alpha val="100000"/>
                </a:schemeClr>
              </a:gs>
              <a:gs pos="20000">
                <a:schemeClr val="accent1">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b="1">
                <a:solidFill>
                  <a:srgbClr val="FFFFFF"/>
                </a:solidFill>
                <a:uFillTx/>
                <a:latin typeface="+mn-ea"/>
                <a:cs typeface="+mn-ea"/>
                <a:sym typeface="+mn-ea"/>
              </a:rPr>
              <a:t>全域拓扑建模</a:t>
            </a:r>
            <a:endParaRPr lang="zh-CN" altLang="en-US" b="1">
              <a:solidFill>
                <a:srgbClr val="FFFFFF"/>
              </a:solidFill>
              <a:uFillTx/>
              <a:latin typeface="+mn-ea"/>
              <a:cs typeface="+mn-ea"/>
              <a:sym typeface="+mn-ea"/>
            </a:endParaRPr>
          </a:p>
        </p:txBody>
      </p:sp>
      <p:sp>
        <p:nvSpPr>
          <p:cNvPr id="5" name="平行四边形 4"/>
          <p:cNvSpPr/>
          <p:nvPr>
            <p:custDataLst>
              <p:tags r:id="rId11"/>
            </p:custDataLst>
          </p:nvPr>
        </p:nvSpPr>
        <p:spPr>
          <a:xfrm rot="16200000" flipH="1">
            <a:off x="7587615" y="3796665"/>
            <a:ext cx="529590" cy="613410"/>
          </a:xfrm>
          <a:prstGeom prst="parallelogram">
            <a:avLst>
              <a:gd name="adj" fmla="val 47404"/>
            </a:avLst>
          </a:prstGeom>
          <a:gradFill>
            <a:gsLst>
              <a:gs pos="0">
                <a:schemeClr val="accent2">
                  <a:lumMod val="75000"/>
                  <a:alpha val="100000"/>
                </a:schemeClr>
              </a:gs>
              <a:gs pos="100000">
                <a:schemeClr val="accent2">
                  <a:lumMod val="9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7" name="直接连接符 6"/>
          <p:cNvCxnSpPr/>
          <p:nvPr>
            <p:custDataLst>
              <p:tags r:id="rId12"/>
            </p:custDataLst>
          </p:nvPr>
        </p:nvCxnSpPr>
        <p:spPr>
          <a:xfrm flipH="1">
            <a:off x="3766185" y="3684270"/>
            <a:ext cx="826135" cy="0"/>
          </a:xfrm>
          <a:prstGeom prst="line">
            <a:avLst/>
          </a:prstGeom>
          <a:ln w="9525">
            <a:solidFill>
              <a:schemeClr val="accent2">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9" name="矩形 8"/>
          <p:cNvSpPr/>
          <p:nvPr>
            <p:custDataLst>
              <p:tags r:id="rId13"/>
            </p:custDataLst>
          </p:nvPr>
        </p:nvSpPr>
        <p:spPr>
          <a:xfrm flipH="1">
            <a:off x="697230" y="3145155"/>
            <a:ext cx="2431415" cy="1172210"/>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400" kern="0" dirty="0">
                <a:ln>
                  <a:noFill/>
                  <a:prstDash val="sysDot"/>
                </a:ln>
                <a:solidFill>
                  <a:schemeClr val="tx1">
                    <a:lumMod val="85000"/>
                    <a:lumOff val="15000"/>
                  </a:schemeClr>
                </a:solidFill>
                <a:latin typeface="+mn-ea"/>
                <a:sym typeface="+mn-ea"/>
              </a:rPr>
              <a:t>实施基于拓扑感知的</a:t>
            </a:r>
            <a:r>
              <a:rPr lang="en-US" altLang="zh-CN" sz="1400" kern="0" dirty="0">
                <a:ln>
                  <a:noFill/>
                  <a:prstDash val="sysDot"/>
                </a:ln>
                <a:solidFill>
                  <a:schemeClr val="tx1">
                    <a:lumMod val="85000"/>
                    <a:lumOff val="15000"/>
                  </a:schemeClr>
                </a:solidFill>
                <a:latin typeface="+mn-ea"/>
                <a:sym typeface="+mn-ea"/>
              </a:rPr>
              <a:t> 4D </a:t>
            </a:r>
            <a:r>
              <a:rPr lang="zh-CN" altLang="en-US" sz="1400" kern="0" dirty="0">
                <a:ln>
                  <a:noFill/>
                  <a:prstDash val="sysDot"/>
                </a:ln>
                <a:solidFill>
                  <a:schemeClr val="tx1">
                    <a:lumMod val="85000"/>
                    <a:lumOff val="15000"/>
                  </a:schemeClr>
                </a:solidFill>
                <a:latin typeface="+mn-ea"/>
                <a:sym typeface="+mn-ea"/>
              </a:rPr>
              <a:t>混合并行搜索。在张量、流水、序列及</a:t>
            </a:r>
            <a:r>
              <a:rPr lang="en-US" altLang="zh-CN" sz="1400" kern="0" dirty="0">
                <a:ln>
                  <a:noFill/>
                  <a:prstDash val="sysDot"/>
                </a:ln>
                <a:solidFill>
                  <a:schemeClr val="tx1">
                    <a:lumMod val="85000"/>
                    <a:lumOff val="15000"/>
                  </a:schemeClr>
                </a:solidFill>
                <a:latin typeface="+mn-ea"/>
                <a:sym typeface="+mn-ea"/>
              </a:rPr>
              <a:t> MoE </a:t>
            </a:r>
            <a:r>
              <a:rPr lang="zh-CN" altLang="en-US" sz="1400" kern="0" dirty="0">
                <a:ln>
                  <a:noFill/>
                  <a:prstDash val="sysDot"/>
                </a:ln>
                <a:solidFill>
                  <a:schemeClr val="tx1">
                    <a:lumMod val="85000"/>
                    <a:lumOff val="15000"/>
                  </a:schemeClr>
                </a:solidFill>
                <a:latin typeface="+mn-ea"/>
                <a:sym typeface="+mn-ea"/>
              </a:rPr>
              <a:t>切分空间内，自动匹配物理网络结构，生成开销最低的最优算力映射方案。</a:t>
            </a:r>
            <a:endParaRPr lang="zh-CN" altLang="en-US" sz="1400" kern="0" dirty="0">
              <a:ln>
                <a:noFill/>
                <a:prstDash val="sysDot"/>
              </a:ln>
              <a:solidFill>
                <a:schemeClr val="tx1">
                  <a:lumMod val="85000"/>
                  <a:lumOff val="15000"/>
                </a:schemeClr>
              </a:solidFill>
              <a:latin typeface="+mn-ea"/>
              <a:sym typeface="+mn-ea"/>
            </a:endParaRPr>
          </a:p>
        </p:txBody>
      </p:sp>
      <p:sp>
        <p:nvSpPr>
          <p:cNvPr id="13" name="标题"/>
          <p:cNvSpPr/>
          <p:nvPr>
            <p:custDataLst>
              <p:tags r:id="rId14"/>
            </p:custDataLst>
          </p:nvPr>
        </p:nvSpPr>
        <p:spPr>
          <a:xfrm flipH="1">
            <a:off x="4799965" y="3252470"/>
            <a:ext cx="3359785" cy="864235"/>
          </a:xfrm>
          <a:prstGeom prst="rect">
            <a:avLst/>
          </a:prstGeom>
          <a:gradFill>
            <a:gsLst>
              <a:gs pos="80000">
                <a:schemeClr val="accent2">
                  <a:lumMod val="70000"/>
                  <a:lumOff val="30000"/>
                  <a:alpha val="100000"/>
                </a:schemeClr>
              </a:gs>
              <a:gs pos="20000">
                <a:schemeClr val="accent2">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b="1">
                <a:solidFill>
                  <a:srgbClr val="FFFFFF"/>
                </a:solidFill>
                <a:uFillTx/>
                <a:latin typeface="+mn-ea"/>
                <a:cs typeface="+mn-ea"/>
                <a:sym typeface="+mn-ea"/>
              </a:rPr>
              <a:t>多维策略寻优</a:t>
            </a:r>
            <a:endParaRPr lang="zh-CN" altLang="en-US" b="1">
              <a:solidFill>
                <a:srgbClr val="FFFFFF"/>
              </a:solidFill>
              <a:uFillTx/>
              <a:latin typeface="+mn-ea"/>
              <a:cs typeface="+mn-ea"/>
              <a:sym typeface="+mn-ea"/>
            </a:endParaRPr>
          </a:p>
        </p:txBody>
      </p:sp>
      <p:sp>
        <p:nvSpPr>
          <p:cNvPr id="8" name="椭圆 7"/>
          <p:cNvSpPr/>
          <p:nvPr>
            <p:custDataLst>
              <p:tags r:id="rId15"/>
            </p:custDataLst>
          </p:nvPr>
        </p:nvSpPr>
        <p:spPr>
          <a:xfrm flipH="1">
            <a:off x="3235325" y="3446780"/>
            <a:ext cx="459740" cy="459740"/>
          </a:xfrm>
          <a:prstGeom prst="ellipse">
            <a:avLst/>
          </a:prstGeom>
          <a:gradFill>
            <a:gsLst>
              <a:gs pos="0">
                <a:schemeClr val="accent2">
                  <a:lumMod val="75000"/>
                  <a:lumOff val="25000"/>
                  <a:alpha val="100000"/>
                </a:schemeClr>
              </a:gs>
              <a:gs pos="100000">
                <a:schemeClr val="accent2">
                  <a:lumMod val="85000"/>
                  <a:lumOff val="15000"/>
                  <a:alpha val="100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19" name="图片 14" descr="343439383331313b343532303033303bd2d1b9bad3a6d3c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3373755" y="3575685"/>
            <a:ext cx="225425" cy="225425"/>
          </a:xfrm>
          <a:prstGeom prst="rect">
            <a:avLst/>
          </a:prstGeom>
        </p:spPr>
      </p:pic>
      <p:sp>
        <p:nvSpPr>
          <p:cNvPr id="3" name="平行四边形 2"/>
          <p:cNvSpPr/>
          <p:nvPr>
            <p:custDataLst>
              <p:tags r:id="rId19"/>
            </p:custDataLst>
          </p:nvPr>
        </p:nvSpPr>
        <p:spPr>
          <a:xfrm rot="16200000">
            <a:off x="4059555" y="4861560"/>
            <a:ext cx="529590" cy="613410"/>
          </a:xfrm>
          <a:prstGeom prst="parallelogram">
            <a:avLst>
              <a:gd name="adj" fmla="val 47404"/>
            </a:avLst>
          </a:prstGeom>
          <a:gradFill>
            <a:gsLst>
              <a:gs pos="0">
                <a:schemeClr val="accent3">
                  <a:lumMod val="85000"/>
                  <a:alpha val="100000"/>
                </a:schemeClr>
              </a:gs>
              <a:gs pos="100000">
                <a:schemeClr val="accent3">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11" name="直接连接符 10"/>
          <p:cNvCxnSpPr/>
          <p:nvPr>
            <p:custDataLst>
              <p:tags r:id="rId20"/>
            </p:custDataLst>
          </p:nvPr>
        </p:nvCxnSpPr>
        <p:spPr>
          <a:xfrm flipV="1">
            <a:off x="7584440" y="4749165"/>
            <a:ext cx="826135" cy="635"/>
          </a:xfrm>
          <a:prstGeom prst="line">
            <a:avLst/>
          </a:prstGeom>
          <a:ln w="9525">
            <a:solidFill>
              <a:schemeClr val="accent3">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14" name="矩形 13"/>
          <p:cNvSpPr/>
          <p:nvPr>
            <p:custDataLst>
              <p:tags r:id="rId21"/>
            </p:custDataLst>
          </p:nvPr>
        </p:nvSpPr>
        <p:spPr>
          <a:xfrm>
            <a:off x="9048115" y="4210050"/>
            <a:ext cx="2431699" cy="1172210"/>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400" kern="0" dirty="0">
                <a:ln>
                  <a:noFill/>
                  <a:prstDash val="sysDot"/>
                </a:ln>
                <a:solidFill>
                  <a:schemeClr val="tx1">
                    <a:lumMod val="85000"/>
                    <a:lumOff val="15000"/>
                  </a:schemeClr>
                </a:solidFill>
                <a:latin typeface="+mn-ea"/>
                <a:sym typeface="+mn-ea"/>
              </a:rPr>
              <a:t>部署多路径拥塞感知路由机制。动态规划</a:t>
            </a:r>
            <a:r>
              <a:rPr lang="en-US" altLang="zh-CN" sz="1400" kern="0" dirty="0">
                <a:ln>
                  <a:noFill/>
                  <a:prstDash val="sysDot"/>
                </a:ln>
                <a:solidFill>
                  <a:schemeClr val="tx1">
                    <a:lumMod val="85000"/>
                    <a:lumOff val="15000"/>
                  </a:schemeClr>
                </a:solidFill>
                <a:latin typeface="+mn-ea"/>
                <a:sym typeface="+mn-ea"/>
              </a:rPr>
              <a:t> AllReduce </a:t>
            </a:r>
            <a:r>
              <a:rPr lang="zh-CN" altLang="en-US" sz="1400" kern="0" dirty="0">
                <a:ln>
                  <a:noFill/>
                  <a:prstDash val="sysDot"/>
                </a:ln>
                <a:solidFill>
                  <a:schemeClr val="tx1">
                    <a:lumMod val="85000"/>
                    <a:lumOff val="15000"/>
                  </a:schemeClr>
                </a:solidFill>
                <a:latin typeface="+mn-ea"/>
                <a:sym typeface="+mn-ea"/>
              </a:rPr>
              <a:t>路径以主动规避网络热点，并通过显式编排计算与通信流水，实现通信开销的最大化隐藏（</a:t>
            </a:r>
            <a:r>
              <a:rPr lang="en-US" altLang="zh-CN" sz="1400" kern="0" dirty="0">
                <a:ln>
                  <a:noFill/>
                  <a:prstDash val="sysDot"/>
                </a:ln>
                <a:solidFill>
                  <a:schemeClr val="tx1">
                    <a:lumMod val="85000"/>
                    <a:lumOff val="15000"/>
                  </a:schemeClr>
                </a:solidFill>
                <a:latin typeface="+mn-ea"/>
                <a:sym typeface="+mn-ea"/>
              </a:rPr>
              <a:t>Overlap</a:t>
            </a:r>
            <a:r>
              <a:rPr lang="zh-CN" altLang="en-US" sz="1400" kern="0" dirty="0">
                <a:ln>
                  <a:noFill/>
                  <a:prstDash val="sysDot"/>
                </a:ln>
                <a:solidFill>
                  <a:schemeClr val="tx1">
                    <a:lumMod val="85000"/>
                    <a:lumOff val="15000"/>
                  </a:schemeClr>
                </a:solidFill>
                <a:latin typeface="+mn-ea"/>
                <a:sym typeface="+mn-ea"/>
              </a:rPr>
              <a:t>）</a:t>
            </a:r>
            <a:endParaRPr lang="zh-CN" altLang="en-US" sz="1400" kern="0" dirty="0">
              <a:ln>
                <a:noFill/>
                <a:prstDash val="sysDot"/>
              </a:ln>
              <a:solidFill>
                <a:schemeClr val="tx1">
                  <a:lumMod val="85000"/>
                  <a:lumOff val="15000"/>
                </a:schemeClr>
              </a:solidFill>
              <a:latin typeface="+mn-ea"/>
              <a:sym typeface="+mn-ea"/>
            </a:endParaRPr>
          </a:p>
        </p:txBody>
      </p:sp>
      <p:sp>
        <p:nvSpPr>
          <p:cNvPr id="12" name="椭圆 11"/>
          <p:cNvSpPr/>
          <p:nvPr>
            <p:custDataLst>
              <p:tags r:id="rId22"/>
            </p:custDataLst>
          </p:nvPr>
        </p:nvSpPr>
        <p:spPr>
          <a:xfrm>
            <a:off x="8496935" y="4519295"/>
            <a:ext cx="459740" cy="459740"/>
          </a:xfrm>
          <a:prstGeom prst="ellipse">
            <a:avLst/>
          </a:prstGeom>
          <a:solidFill>
            <a:schemeClr val="accent3"/>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16" name="图片 12" descr="343439383331313b343532303032383bbfcdbba7b9dcc0ed"/>
          <p:cNvPicPr>
            <a:picLocks noChangeAspect="1"/>
          </p:cNvPicPr>
          <p:nvPr>
            <p:custDataLst>
              <p:tags r:id="rId23"/>
            </p:custDataLst>
          </p:nvPr>
        </p:nvPicPr>
        <p:blipFill>
          <a:blip r:embed="rId8">
            <a:extLst>
              <a:ext uri="{96DAC541-7B7A-43D3-8B79-37D633B846F1}">
                <asvg:svgBlip xmlns:asvg="http://schemas.microsoft.com/office/drawing/2016/SVG/main" r:embed="rId9"/>
              </a:ext>
            </a:extLst>
          </a:blip>
          <a:stretch>
            <a:fillRect/>
          </a:stretch>
        </p:blipFill>
        <p:spPr>
          <a:xfrm>
            <a:off x="8603615" y="4629785"/>
            <a:ext cx="238125" cy="238125"/>
          </a:xfrm>
          <a:prstGeom prst="rect">
            <a:avLst/>
          </a:prstGeom>
        </p:spPr>
      </p:pic>
      <p:sp>
        <p:nvSpPr>
          <p:cNvPr id="6" name="标题"/>
          <p:cNvSpPr/>
          <p:nvPr>
            <p:custDataLst>
              <p:tags r:id="rId24"/>
            </p:custDataLst>
          </p:nvPr>
        </p:nvSpPr>
        <p:spPr>
          <a:xfrm>
            <a:off x="4017010" y="4317365"/>
            <a:ext cx="3359785" cy="864235"/>
          </a:xfrm>
          <a:prstGeom prst="rect">
            <a:avLst/>
          </a:prstGeom>
          <a:gradFill>
            <a:gsLst>
              <a:gs pos="80000">
                <a:schemeClr val="accent3">
                  <a:lumMod val="70000"/>
                  <a:lumOff val="30000"/>
                  <a:alpha val="100000"/>
                </a:schemeClr>
              </a:gs>
              <a:gs pos="20000">
                <a:schemeClr val="accent3">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b="1">
                <a:solidFill>
                  <a:srgbClr val="FFFFFF"/>
                </a:solidFill>
                <a:uFillTx/>
                <a:latin typeface="+mn-ea"/>
                <a:cs typeface="+mn-ea"/>
                <a:sym typeface="+mn-ea"/>
              </a:rPr>
              <a:t>智能动态路由</a:t>
            </a:r>
            <a:endParaRPr lang="zh-CN" altLang="en-US" b="1">
              <a:solidFill>
                <a:srgbClr val="FFFFFF"/>
              </a:solidFill>
              <a:uFillTx/>
              <a:latin typeface="+mn-ea"/>
              <a:cs typeface="+mn-ea"/>
              <a:sym typeface="+mn-ea"/>
            </a:endParaRPr>
          </a:p>
        </p:txBody>
      </p:sp>
    </p:spTree>
    <p:custDataLst>
      <p:tags r:id="rId2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2"/>
          <p:cNvPicPr>
            <a:picLocks noChangeAspect="1"/>
          </p:cNvPicPr>
          <p:nvPr/>
        </p:nvPicPr>
        <p:blipFill>
          <a:blip r:embed="rId1"/>
          <a:stretch>
            <a:fillRect/>
          </a:stretch>
        </p:blipFill>
        <p:spPr>
          <a:xfrm>
            <a:off x="9411854" y="6355972"/>
            <a:ext cx="2780146" cy="492792"/>
          </a:xfrm>
          <a:prstGeom prst="rect">
            <a:avLst/>
          </a:prstGeom>
        </p:spPr>
      </p:pic>
      <p:sp>
        <p:nvSpPr>
          <p:cNvPr id="2" name="标题 1"/>
          <p:cNvSpPr>
            <a:spLocks noGrp="1"/>
          </p:cNvSpPr>
          <p:nvPr>
            <p:ph type="title"/>
            <p:custDataLst>
              <p:tags r:id="rId2"/>
            </p:custDataLst>
          </p:nvPr>
        </p:nvSpPr>
        <p:spPr/>
        <p:txBody>
          <a:bodyPr/>
          <a:lstStyle/>
          <a:p>
            <a:r>
              <a:rPr lang="zh-CN" altLang="en-US" dirty="0"/>
              <a:t>内容</a:t>
            </a:r>
            <a:r>
              <a:rPr lang="en-US" altLang="zh-CN" dirty="0"/>
              <a:t>2</a:t>
            </a:r>
            <a:r>
              <a:rPr lang="zh-CN" altLang="en-US" dirty="0"/>
              <a:t>：长上下文</a:t>
            </a:r>
            <a:r>
              <a:rPr lang="en-US" altLang="zh-CN" dirty="0"/>
              <a:t> </a:t>
            </a:r>
            <a:r>
              <a:rPr lang="zh-CN" altLang="en-US" dirty="0"/>
              <a:t>×</a:t>
            </a:r>
            <a:r>
              <a:rPr lang="en-US" altLang="zh-CN" dirty="0"/>
              <a:t> </a:t>
            </a:r>
            <a:r>
              <a:rPr lang="zh-CN" altLang="en-US" dirty="0"/>
              <a:t>低比特的稳定高吞吐训练</a:t>
            </a:r>
            <a:endParaRPr lang="zh-CN" altLang="en-US" dirty="0"/>
          </a:p>
        </p:txBody>
      </p:sp>
      <p:sp>
        <p:nvSpPr>
          <p:cNvPr id="7" name="矩形 6"/>
          <p:cNvSpPr/>
          <p:nvPr>
            <p:custDataLst>
              <p:tags r:id="rId3"/>
            </p:custDataLst>
          </p:nvPr>
        </p:nvSpPr>
        <p:spPr>
          <a:xfrm>
            <a:off x="11403629" y="1415463"/>
            <a:ext cx="173691" cy="173691"/>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custDataLst>
              <p:tags r:id="rId4"/>
            </p:custDataLst>
          </p:nvPr>
        </p:nvSpPr>
        <p:spPr>
          <a:xfrm>
            <a:off x="10962939" y="1415463"/>
            <a:ext cx="173691" cy="173691"/>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矩形 15"/>
          <p:cNvSpPr/>
          <p:nvPr>
            <p:custDataLst>
              <p:tags r:id="rId5"/>
            </p:custDataLst>
          </p:nvPr>
        </p:nvSpPr>
        <p:spPr>
          <a:xfrm>
            <a:off x="10522249" y="1415463"/>
            <a:ext cx="173691" cy="173691"/>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矩形 16"/>
          <p:cNvSpPr/>
          <p:nvPr>
            <p:custDataLst>
              <p:tags r:id="rId6"/>
            </p:custDataLst>
          </p:nvPr>
        </p:nvSpPr>
        <p:spPr>
          <a:xfrm>
            <a:off x="10081559" y="1415463"/>
            <a:ext cx="173691" cy="173691"/>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边界"/>
          <p:cNvSpPr/>
          <p:nvPr>
            <p:custDataLst>
              <p:tags r:id="rId7"/>
            </p:custDataLst>
          </p:nvPr>
        </p:nvSpPr>
        <p:spPr>
          <a:xfrm>
            <a:off x="645160" y="1601470"/>
            <a:ext cx="5183505" cy="457390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pic>
        <p:nvPicPr>
          <p:cNvPr id="4" name="图片 22" descr="333639373138363b343435303739363bd2b5cef1bcbcc4dc"/>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652145" y="1998345"/>
            <a:ext cx="403860" cy="403860"/>
          </a:xfrm>
          <a:prstGeom prst="rect">
            <a:avLst/>
          </a:prstGeom>
          <a:effectLst>
            <a:outerShdw blurRad="228600" dist="38100" dir="2700000" algn="tl" rotWithShape="0">
              <a:schemeClr val="accent1">
                <a:alpha val="15000"/>
              </a:schemeClr>
            </a:outerShdw>
          </a:effectLst>
        </p:spPr>
      </p:pic>
      <p:sp>
        <p:nvSpPr>
          <p:cNvPr id="5" name="文本框 8"/>
          <p:cNvSpPr txBox="1"/>
          <p:nvPr>
            <p:custDataLst>
              <p:tags r:id="rId11"/>
            </p:custDataLst>
          </p:nvPr>
        </p:nvSpPr>
        <p:spPr>
          <a:xfrm>
            <a:off x="1285875" y="1601470"/>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fontAlgn="auto">
              <a:lnSpc>
                <a:spcPct val="130000"/>
              </a:lnSpc>
            </a:pPr>
            <a:r>
              <a:rPr lang="zh-CN" altLang="en-US" sz="2000" kern="0" spc="0" dirty="0">
                <a:solidFill>
                  <a:schemeClr val="accent1"/>
                </a:solidFill>
                <a:effectLst>
                  <a:outerShdw blurRad="38100" dist="25400" dir="5400000" algn="ctr" rotWithShape="0">
                    <a:srgbClr val="6E747A">
                      <a:alpha val="43000"/>
                    </a:srgbClr>
                  </a:outerShdw>
                </a:effectLst>
                <a:latin typeface="+mn-ea"/>
                <a:ea typeface="+mn-ea"/>
                <a:sym typeface="+mn-ea"/>
              </a:rPr>
              <a:t>算子极速调优</a:t>
            </a:r>
            <a:endParaRPr lang="zh-CN" altLang="en-US" sz="2000" kern="0" spc="0" dirty="0">
              <a:solidFill>
                <a:schemeClr val="accent1"/>
              </a:solidFill>
              <a:effectLst>
                <a:outerShdw blurRad="38100" dist="25400" dir="5400000" algn="ctr" rotWithShape="0">
                  <a:srgbClr val="6E747A">
                    <a:alpha val="43000"/>
                  </a:srgbClr>
                </a:outerShdw>
              </a:effectLst>
              <a:latin typeface="+mn-ea"/>
              <a:ea typeface="+mn-ea"/>
              <a:sym typeface="+mn-ea"/>
            </a:endParaRPr>
          </a:p>
          <a:p>
            <a:pPr marL="0" lvl="0" indent="0" fontAlgn="auto">
              <a:lnSpc>
                <a:spcPct val="130000"/>
              </a:lnSpc>
            </a:pPr>
            <a:r>
              <a:rPr lang="zh-CN" altLang="en-US" sz="1600" kern="0" spc="0" dirty="0">
                <a:ln>
                  <a:noFill/>
                  <a:prstDash val="sysDot"/>
                </a:ln>
                <a:solidFill>
                  <a:schemeClr val="tx1">
                    <a:lumMod val="85000"/>
                    <a:lumOff val="15000"/>
                  </a:schemeClr>
                </a:solidFill>
                <a:latin typeface="+mn-ea"/>
                <a:ea typeface="+mn-ea"/>
                <a:sym typeface="+mn-ea"/>
              </a:rPr>
              <a:t>深度定制</a:t>
            </a:r>
            <a:r>
              <a:rPr lang="en-US" altLang="zh-CN" sz="1600" kern="0" spc="0" dirty="0">
                <a:ln>
                  <a:noFill/>
                  <a:prstDash val="sysDot"/>
                </a:ln>
                <a:solidFill>
                  <a:schemeClr val="tx1">
                    <a:lumMod val="85000"/>
                    <a:lumOff val="15000"/>
                  </a:schemeClr>
                </a:solidFill>
                <a:latin typeface="+mn-ea"/>
                <a:ea typeface="+mn-ea"/>
                <a:sym typeface="+mn-ea"/>
              </a:rPr>
              <a:t> FlashAttention </a:t>
            </a:r>
            <a:r>
              <a:rPr lang="zh-CN" altLang="en-US" sz="1600" kern="0" spc="0" dirty="0">
                <a:ln>
                  <a:noFill/>
                  <a:prstDash val="sysDot"/>
                </a:ln>
                <a:solidFill>
                  <a:schemeClr val="tx1">
                    <a:lumMod val="85000"/>
                    <a:lumOff val="15000"/>
                  </a:schemeClr>
                </a:solidFill>
                <a:latin typeface="+mn-ea"/>
                <a:ea typeface="+mn-ea"/>
                <a:sym typeface="+mn-ea"/>
              </a:rPr>
              <a:t>内核，重构</a:t>
            </a:r>
            <a:r>
              <a:rPr lang="en-US" altLang="zh-CN" sz="1600" kern="0" spc="0" dirty="0">
                <a:ln>
                  <a:noFill/>
                  <a:prstDash val="sysDot"/>
                </a:ln>
                <a:solidFill>
                  <a:schemeClr val="tx1">
                    <a:lumMod val="85000"/>
                    <a:lumOff val="15000"/>
                  </a:schemeClr>
                </a:solidFill>
                <a:latin typeface="+mn-ea"/>
                <a:ea typeface="+mn-ea"/>
                <a:sym typeface="+mn-ea"/>
              </a:rPr>
              <a:t> QK</a:t>
            </a:r>
            <a:r>
              <a:rPr lang="en-US" altLang="zh-CN" sz="1600" kern="0" spc="0" baseline="30000" dirty="0">
                <a:ln>
                  <a:noFill/>
                  <a:prstDash val="sysDot"/>
                </a:ln>
                <a:solidFill>
                  <a:schemeClr val="tx1">
                    <a:lumMod val="85000"/>
                    <a:lumOff val="15000"/>
                  </a:schemeClr>
                </a:solidFill>
                <a:latin typeface="+mn-ea"/>
                <a:ea typeface="+mn-ea"/>
                <a:sym typeface="+mn-ea"/>
              </a:rPr>
              <a:t>T</a:t>
            </a:r>
            <a:r>
              <a:rPr lang="en-US" altLang="zh-CN" sz="1600" kern="0" spc="0" dirty="0">
                <a:ln>
                  <a:noFill/>
                  <a:prstDash val="sysDot"/>
                </a:ln>
                <a:solidFill>
                  <a:schemeClr val="tx1">
                    <a:lumMod val="85000"/>
                    <a:lumOff val="15000"/>
                  </a:schemeClr>
                </a:solidFill>
                <a:latin typeface="+mn-ea"/>
                <a:ea typeface="+mn-ea"/>
                <a:sym typeface="+mn-ea"/>
              </a:rPr>
              <a:t> </a:t>
            </a:r>
            <a:r>
              <a:rPr lang="zh-CN" altLang="en-US" sz="1600" kern="0" spc="0" dirty="0">
                <a:ln>
                  <a:noFill/>
                  <a:prstDash val="sysDot"/>
                </a:ln>
                <a:solidFill>
                  <a:schemeClr val="tx1">
                    <a:lumMod val="85000"/>
                    <a:lumOff val="15000"/>
                  </a:schemeClr>
                </a:solidFill>
                <a:latin typeface="+mn-ea"/>
                <a:ea typeface="+mn-ea"/>
                <a:sym typeface="+mn-ea"/>
              </a:rPr>
              <a:t>计算调度逻辑。通过极致的</a:t>
            </a:r>
            <a:r>
              <a:rPr lang="en-US" altLang="zh-CN" sz="1600" kern="0" spc="0" dirty="0">
                <a:ln>
                  <a:noFill/>
                  <a:prstDash val="sysDot"/>
                </a:ln>
                <a:solidFill>
                  <a:schemeClr val="tx1">
                    <a:lumMod val="85000"/>
                    <a:lumOff val="15000"/>
                  </a:schemeClr>
                </a:solidFill>
                <a:latin typeface="+mn-ea"/>
                <a:ea typeface="+mn-ea"/>
                <a:sym typeface="+mn-ea"/>
              </a:rPr>
              <a:t> IO </a:t>
            </a:r>
            <a:r>
              <a:rPr lang="zh-CN" altLang="en-US" sz="1600" kern="0" spc="0" dirty="0">
                <a:ln>
                  <a:noFill/>
                  <a:prstDash val="sysDot"/>
                </a:ln>
                <a:solidFill>
                  <a:schemeClr val="tx1">
                    <a:lumMod val="85000"/>
                    <a:lumOff val="15000"/>
                  </a:schemeClr>
                </a:solidFill>
                <a:latin typeface="+mn-ea"/>
                <a:ea typeface="+mn-ea"/>
                <a:sym typeface="+mn-ea"/>
              </a:rPr>
              <a:t>感知优化，大幅提升在长序列场景下的算子计算吞吐率。</a:t>
            </a:r>
            <a:endParaRPr lang="zh-CN" altLang="en-US" sz="1600" kern="0" spc="0" dirty="0">
              <a:ln>
                <a:noFill/>
                <a:prstDash val="sysDot"/>
              </a:ln>
              <a:solidFill>
                <a:schemeClr val="tx1">
                  <a:lumMod val="85000"/>
                  <a:lumOff val="15000"/>
                </a:schemeClr>
              </a:solidFill>
              <a:latin typeface="+mn-ea"/>
              <a:ea typeface="+mn-ea"/>
              <a:sym typeface="+mn-ea"/>
            </a:endParaRPr>
          </a:p>
        </p:txBody>
      </p:sp>
      <p:pic>
        <p:nvPicPr>
          <p:cNvPr id="6" name="图片 25" descr="333639373138363b343435303831323bbacbcbe3b9a4d7f7"/>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653415" y="5376545"/>
            <a:ext cx="401320" cy="401320"/>
          </a:xfrm>
          <a:prstGeom prst="rect">
            <a:avLst/>
          </a:prstGeom>
          <a:effectLst>
            <a:outerShdw blurRad="228600" dist="38100" dir="2700000" algn="tl" rotWithShape="0">
              <a:schemeClr val="accent3">
                <a:alpha val="15000"/>
              </a:schemeClr>
            </a:outerShdw>
          </a:effectLst>
        </p:spPr>
      </p:pic>
      <p:sp>
        <p:nvSpPr>
          <p:cNvPr id="8" name="文本框 8"/>
          <p:cNvSpPr txBox="1"/>
          <p:nvPr>
            <p:custDataLst>
              <p:tags r:id="rId15"/>
            </p:custDataLst>
          </p:nvPr>
        </p:nvSpPr>
        <p:spPr>
          <a:xfrm>
            <a:off x="1285875" y="4979670"/>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fontAlgn="auto">
              <a:lnSpc>
                <a:spcPct val="140000"/>
              </a:lnSpc>
            </a:pPr>
            <a:r>
              <a:rPr lang="zh-CN" altLang="en-US" sz="2000" kern="0" dirty="0">
                <a:solidFill>
                  <a:srgbClr val="00B050"/>
                </a:solidFill>
                <a:effectLst>
                  <a:outerShdw blurRad="38100" dist="25400" dir="5400000" algn="ctr" rotWithShape="0">
                    <a:srgbClr val="6E747A">
                      <a:alpha val="43000"/>
                    </a:srgbClr>
                  </a:outerShdw>
                </a:effectLst>
                <a:latin typeface="+mn-ea"/>
                <a:sym typeface="+mn-ea"/>
              </a:rPr>
              <a:t>显存精细管理</a:t>
            </a:r>
            <a:endParaRPr lang="zh-CN" altLang="en-US" sz="2000" kern="0" dirty="0">
              <a:solidFill>
                <a:srgbClr val="00B050"/>
              </a:solidFill>
              <a:effectLst>
                <a:outerShdw blurRad="38100" dist="25400" dir="5400000" algn="ctr" rotWithShape="0">
                  <a:srgbClr val="6E747A">
                    <a:alpha val="43000"/>
                  </a:srgbClr>
                </a:outerShdw>
              </a:effectLst>
              <a:latin typeface="+mn-ea"/>
              <a:sym typeface="+mn-ea"/>
            </a:endParaRPr>
          </a:p>
          <a:p>
            <a:pPr marL="0" lvl="0" indent="0" fontAlgn="auto">
              <a:lnSpc>
                <a:spcPct val="140000"/>
              </a:lnSpc>
            </a:pPr>
            <a:r>
              <a:rPr lang="zh-CN" altLang="en-US" sz="1600" kern="0" dirty="0">
                <a:ln>
                  <a:noFill/>
                  <a:prstDash val="sysDot"/>
                </a:ln>
                <a:solidFill>
                  <a:schemeClr val="tx1">
                    <a:lumMod val="85000"/>
                    <a:lumOff val="15000"/>
                  </a:schemeClr>
                </a:solidFill>
                <a:latin typeface="+mn-ea"/>
                <a:sym typeface="+mn-ea"/>
              </a:rPr>
              <a:t>利用硬件级异步</a:t>
            </a:r>
            <a:r>
              <a:rPr lang="en-US" altLang="zh-CN" sz="1600" kern="0" dirty="0">
                <a:ln>
                  <a:noFill/>
                  <a:prstDash val="sysDot"/>
                </a:ln>
                <a:solidFill>
                  <a:schemeClr val="tx1">
                    <a:lumMod val="85000"/>
                    <a:lumOff val="15000"/>
                  </a:schemeClr>
                </a:solidFill>
                <a:latin typeface="+mn-ea"/>
                <a:sym typeface="+mn-ea"/>
              </a:rPr>
              <a:t>TMA</a:t>
            </a:r>
            <a:r>
              <a:rPr lang="zh-CN" altLang="en-US" sz="1600" kern="0" dirty="0">
                <a:ln>
                  <a:noFill/>
                  <a:prstDash val="sysDot"/>
                </a:ln>
                <a:solidFill>
                  <a:schemeClr val="tx1">
                    <a:lumMod val="85000"/>
                    <a:lumOff val="15000"/>
                  </a:schemeClr>
                </a:solidFill>
                <a:latin typeface="+mn-ea"/>
                <a:sym typeface="+mn-ea"/>
              </a:rPr>
              <a:t>协同与块化访存技术。构建高效的</a:t>
            </a:r>
            <a:r>
              <a:rPr lang="en-US" altLang="zh-CN" sz="1600" kern="0" dirty="0">
                <a:ln>
                  <a:noFill/>
                  <a:prstDash val="sysDot"/>
                </a:ln>
                <a:solidFill>
                  <a:schemeClr val="tx1">
                    <a:lumMod val="85000"/>
                    <a:lumOff val="15000"/>
                  </a:schemeClr>
                </a:solidFill>
                <a:latin typeface="+mn-ea"/>
                <a:sym typeface="+mn-ea"/>
              </a:rPr>
              <a:t> KV-Cache </a:t>
            </a:r>
            <a:r>
              <a:rPr lang="zh-CN" altLang="en-US" sz="1600" kern="0" dirty="0">
                <a:ln>
                  <a:noFill/>
                  <a:prstDash val="sysDot"/>
                </a:ln>
                <a:solidFill>
                  <a:schemeClr val="tx1">
                    <a:lumMod val="85000"/>
                    <a:lumOff val="15000"/>
                  </a:schemeClr>
                </a:solidFill>
                <a:latin typeface="+mn-ea"/>
                <a:sym typeface="+mn-ea"/>
              </a:rPr>
              <a:t>分片复用体系，配合激活重计算，突破超长上下文训练的显存瓶颈。</a:t>
            </a:r>
            <a:endParaRPr lang="zh-CN" altLang="en-US" sz="1600" kern="0" dirty="0">
              <a:ln>
                <a:noFill/>
                <a:prstDash val="sysDot"/>
              </a:ln>
              <a:solidFill>
                <a:schemeClr val="tx1">
                  <a:lumMod val="85000"/>
                  <a:lumOff val="15000"/>
                </a:schemeClr>
              </a:solidFill>
              <a:latin typeface="+mn-ea"/>
              <a:sym typeface="+mn-ea"/>
            </a:endParaRPr>
          </a:p>
        </p:txBody>
      </p:sp>
      <p:pic>
        <p:nvPicPr>
          <p:cNvPr id="9" name="图片 27" descr="333639373138363b343435303831343bb9b5cda8b9dcc0ed"/>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652145" y="3686810"/>
            <a:ext cx="403860" cy="403860"/>
          </a:xfrm>
          <a:prstGeom prst="rect">
            <a:avLst/>
          </a:prstGeom>
          <a:effectLst>
            <a:outerShdw blurRad="228600" dist="38100" dir="2700000" algn="tl" rotWithShape="0">
              <a:schemeClr val="accent2">
                <a:alpha val="15000"/>
              </a:schemeClr>
            </a:outerShdw>
          </a:effectLst>
        </p:spPr>
      </p:pic>
      <p:sp>
        <p:nvSpPr>
          <p:cNvPr id="10" name="文本框 8"/>
          <p:cNvSpPr txBox="1"/>
          <p:nvPr>
            <p:custDataLst>
              <p:tags r:id="rId19"/>
            </p:custDataLst>
          </p:nvPr>
        </p:nvSpPr>
        <p:spPr>
          <a:xfrm>
            <a:off x="1285875" y="3290570"/>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fontAlgn="auto">
              <a:lnSpc>
                <a:spcPct val="140000"/>
              </a:lnSpc>
            </a:pPr>
            <a:r>
              <a:rPr lang="zh-CN" altLang="en-US" sz="2000" kern="0" dirty="0">
                <a:solidFill>
                  <a:srgbClr val="00B0F0"/>
                </a:solidFill>
                <a:effectLst>
                  <a:outerShdw blurRad="38100" dist="25400" dir="5400000" algn="ctr" rotWithShape="0">
                    <a:srgbClr val="6E747A">
                      <a:alpha val="43000"/>
                    </a:srgbClr>
                  </a:outerShdw>
                </a:effectLst>
                <a:latin typeface="+mn-ea"/>
                <a:sym typeface="+mn-ea"/>
              </a:rPr>
              <a:t>数值稳定策略</a:t>
            </a:r>
            <a:endParaRPr lang="zh-CN" altLang="en-US" sz="2000" kern="0" dirty="0">
              <a:solidFill>
                <a:srgbClr val="00B0F0"/>
              </a:solidFill>
              <a:effectLst>
                <a:outerShdw blurRad="38100" dist="25400" dir="5400000" algn="ctr" rotWithShape="0">
                  <a:srgbClr val="6E747A">
                    <a:alpha val="43000"/>
                  </a:srgbClr>
                </a:outerShdw>
              </a:effectLst>
              <a:latin typeface="+mn-ea"/>
              <a:sym typeface="+mn-ea"/>
            </a:endParaRPr>
          </a:p>
          <a:p>
            <a:pPr marL="0" lvl="0" indent="0" fontAlgn="auto">
              <a:lnSpc>
                <a:spcPct val="140000"/>
              </a:lnSpc>
            </a:pPr>
            <a:r>
              <a:rPr lang="zh-CN" altLang="en-US" sz="1600" kern="0" dirty="0">
                <a:ln>
                  <a:noFill/>
                  <a:prstDash val="sysDot"/>
                </a:ln>
                <a:solidFill>
                  <a:schemeClr val="tx1">
                    <a:lumMod val="85000"/>
                    <a:lumOff val="15000"/>
                  </a:schemeClr>
                </a:solidFill>
                <a:latin typeface="+mn-ea"/>
                <a:sym typeface="+mn-ea"/>
              </a:rPr>
              <a:t>实施混合精度动态标定，对关键层进行高精度保留。结合自适应</a:t>
            </a:r>
            <a:r>
              <a:rPr lang="en-US" altLang="zh-CN" sz="1600" kern="0" dirty="0">
                <a:ln>
                  <a:noFill/>
                  <a:prstDash val="sysDot"/>
                </a:ln>
                <a:solidFill>
                  <a:schemeClr val="tx1">
                    <a:lumMod val="85000"/>
                    <a:lumOff val="15000"/>
                  </a:schemeClr>
                </a:solidFill>
                <a:latin typeface="+mn-ea"/>
                <a:sym typeface="+mn-ea"/>
              </a:rPr>
              <a:t> Loss Scaling </a:t>
            </a:r>
            <a:r>
              <a:rPr lang="zh-CN" altLang="en-US" sz="1600" kern="0" dirty="0">
                <a:ln>
                  <a:noFill/>
                  <a:prstDash val="sysDot"/>
                </a:ln>
                <a:solidFill>
                  <a:schemeClr val="tx1">
                    <a:lumMod val="85000"/>
                    <a:lumOff val="15000"/>
                  </a:schemeClr>
                </a:solidFill>
                <a:latin typeface="+mn-ea"/>
                <a:sym typeface="+mn-ea"/>
              </a:rPr>
              <a:t>机制，有效解决低比特训练中的梯度溢出难题，保障模型收敛。</a:t>
            </a:r>
            <a:endParaRPr lang="zh-CN" altLang="en-US" sz="1600" kern="0" dirty="0">
              <a:ln>
                <a:noFill/>
                <a:prstDash val="sysDot"/>
              </a:ln>
              <a:solidFill>
                <a:schemeClr val="tx1">
                  <a:lumMod val="85000"/>
                  <a:lumOff val="15000"/>
                </a:schemeClr>
              </a:solidFill>
              <a:latin typeface="+mn-ea"/>
              <a:sym typeface="+mn-ea"/>
            </a:endParaRPr>
          </a:p>
        </p:txBody>
      </p:sp>
      <p:cxnSp>
        <p:nvCxnSpPr>
          <p:cNvPr id="12" name="直接连接符 11"/>
          <p:cNvCxnSpPr/>
          <p:nvPr>
            <p:custDataLst>
              <p:tags r:id="rId20"/>
            </p:custDataLst>
          </p:nvPr>
        </p:nvCxnSpPr>
        <p:spPr>
          <a:xfrm>
            <a:off x="1285465" y="3044825"/>
            <a:ext cx="4543200" cy="0"/>
          </a:xfrm>
          <a:prstGeom prst="line">
            <a:avLst/>
          </a:prstGeom>
          <a:ln w="9525">
            <a:solidFill>
              <a:schemeClr val="tx1">
                <a:lumMod val="65000"/>
                <a:lumOff val="35000"/>
                <a:alpha val="35000"/>
              </a:schemeClr>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21"/>
            </p:custDataLst>
          </p:nvPr>
        </p:nvCxnSpPr>
        <p:spPr>
          <a:xfrm>
            <a:off x="1286100" y="4733925"/>
            <a:ext cx="4543200" cy="0"/>
          </a:xfrm>
          <a:prstGeom prst="line">
            <a:avLst/>
          </a:prstGeom>
          <a:ln w="9525">
            <a:solidFill>
              <a:schemeClr val="tx1">
                <a:lumMod val="65000"/>
                <a:lumOff val="35000"/>
                <a:alpha val="35000"/>
              </a:schemeClr>
            </a:solidFill>
          </a:ln>
        </p:spPr>
        <p:style>
          <a:lnRef idx="2">
            <a:schemeClr val="accent1"/>
          </a:lnRef>
          <a:fillRef idx="0">
            <a:srgbClr val="FFFFFF"/>
          </a:fillRef>
          <a:effectRef idx="0">
            <a:srgbClr val="FFFFFF"/>
          </a:effectRef>
          <a:fontRef idx="minor">
            <a:schemeClr val="tx1"/>
          </a:fontRef>
        </p:style>
      </p:cxnSp>
      <p:pic>
        <p:nvPicPr>
          <p:cNvPr id="415165144" name="图片 2" descr="图示&#10;&#10;AI 生成的内容可能不正确。"/>
          <p:cNvPicPr>
            <a:picLocks noChangeAspect="1"/>
          </p:cNvPicPr>
          <p:nvPr>
            <p:custDataLst>
              <p:tags r:id="rId22"/>
            </p:custDataLst>
          </p:nvPr>
        </p:nvPicPr>
        <p:blipFill>
          <a:blip r:embed="rId23" cstate="print">
            <a:extLst>
              <a:ext uri="{28A0092B-C50C-407E-A947-70E740481C1C}">
                <a14:useLocalDpi xmlns:a14="http://schemas.microsoft.com/office/drawing/2010/main" val="0"/>
              </a:ext>
            </a:extLst>
          </a:blip>
          <a:srcRect/>
          <a:stretch>
            <a:fillRect/>
          </a:stretch>
        </p:blipFill>
        <p:spPr>
          <a:xfrm>
            <a:off x="6570980" y="1835150"/>
            <a:ext cx="5160645" cy="4272280"/>
          </a:xfrm>
          <a:prstGeom prst="rect">
            <a:avLst/>
          </a:prstGeom>
          <a:noFill/>
          <a:ln>
            <a:noFill/>
          </a:ln>
        </p:spPr>
      </p:pic>
    </p:spTree>
    <p:custDataLst>
      <p:tags r:id="rId2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p:cNvPicPr>
            <a:picLocks noChangeAspect="1"/>
          </p:cNvPicPr>
          <p:nvPr/>
        </p:nvPicPr>
        <p:blipFill>
          <a:blip r:embed="rId1"/>
          <a:stretch>
            <a:fillRect/>
          </a:stretch>
        </p:blipFill>
        <p:spPr>
          <a:xfrm>
            <a:off x="9411854" y="6355972"/>
            <a:ext cx="2780146" cy="492792"/>
          </a:xfrm>
          <a:prstGeom prst="rect">
            <a:avLst/>
          </a:prstGeom>
        </p:spPr>
      </p:pic>
      <p:sp>
        <p:nvSpPr>
          <p:cNvPr id="17" name="标题 16"/>
          <p:cNvSpPr>
            <a:spLocks noGrp="1"/>
          </p:cNvSpPr>
          <p:nvPr>
            <p:ph type="title"/>
            <p:custDataLst>
              <p:tags r:id="rId2"/>
            </p:custDataLst>
          </p:nvPr>
        </p:nvSpPr>
        <p:spPr/>
        <p:txBody>
          <a:bodyPr/>
          <a:lstStyle/>
          <a:p>
            <a:r>
              <a:rPr lang="zh-CN" altLang="en-US" dirty="0"/>
              <a:t>内容</a:t>
            </a:r>
            <a:r>
              <a:rPr lang="en-US" altLang="zh-CN" dirty="0"/>
              <a:t>3</a:t>
            </a:r>
            <a:r>
              <a:rPr lang="zh-CN" altLang="en-US" dirty="0"/>
              <a:t>：通信</a:t>
            </a:r>
            <a:r>
              <a:rPr lang="en-US" altLang="zh-CN" dirty="0"/>
              <a:t>/</a:t>
            </a:r>
            <a:r>
              <a:rPr lang="zh-CN" altLang="en-US" dirty="0"/>
              <a:t>存储压缩与容错编排</a:t>
            </a:r>
            <a:endParaRPr lang="zh-CN" altLang="en-US" dirty="0"/>
          </a:p>
        </p:txBody>
      </p:sp>
      <p:sp>
        <p:nvSpPr>
          <p:cNvPr id="3" name="矩形 2"/>
          <p:cNvSpPr/>
          <p:nvPr>
            <p:custDataLst>
              <p:tags r:id="rId3"/>
            </p:custDataLst>
          </p:nvPr>
        </p:nvSpPr>
        <p:spPr>
          <a:xfrm>
            <a:off x="8334487" y="1622431"/>
            <a:ext cx="2889485" cy="434189"/>
          </a:xfrm>
          <a:prstGeom prst="rect">
            <a:avLst/>
          </a:prstGeom>
          <a:noFill/>
        </p:spPr>
        <p:txBody>
          <a:bodyPr wrap="square" lIns="0" tIns="0" rIns="0" bIns="0" rtlCol="0" anchor="b" anchorCtr="0">
            <a:noAutofit/>
          </a:bodyPr>
          <a:lstStyle/>
          <a:p>
            <a:pPr>
              <a:spcBef>
                <a:spcPct val="0"/>
              </a:spcBef>
              <a:spcAft>
                <a:spcPct val="0"/>
              </a:spcAft>
            </a:pPr>
            <a:r>
              <a:rPr lang="zh-CN" altLang="en-US" sz="2000" b="1">
                <a:solidFill>
                  <a:schemeClr val="accent3"/>
                </a:solidFill>
                <a:latin typeface="+mn-ea"/>
                <a:cs typeface="+mn-ea"/>
              </a:rPr>
              <a:t>快速容错</a:t>
            </a:r>
            <a:endParaRPr lang="zh-CN" altLang="en-US" sz="2000" b="1">
              <a:solidFill>
                <a:schemeClr val="accent3"/>
              </a:solidFill>
              <a:latin typeface="+mn-ea"/>
              <a:cs typeface="+mn-ea"/>
            </a:endParaRPr>
          </a:p>
        </p:txBody>
      </p:sp>
      <p:sp>
        <p:nvSpPr>
          <p:cNvPr id="30" name="任意多边形 29"/>
          <p:cNvSpPr/>
          <p:nvPr>
            <p:custDataLst>
              <p:tags r:id="rId4"/>
            </p:custDataLst>
          </p:nvPr>
        </p:nvSpPr>
        <p:spPr>
          <a:xfrm>
            <a:off x="4351468" y="2373442"/>
            <a:ext cx="620833" cy="2182348"/>
          </a:xfrm>
          <a:custGeom>
            <a:avLst/>
            <a:gdLst>
              <a:gd name="connsiteX0" fmla="*/ 0 w 757"/>
              <a:gd name="connsiteY0" fmla="*/ 0 h 2661"/>
              <a:gd name="connsiteX1" fmla="*/ 757 w 757"/>
              <a:gd name="connsiteY1" fmla="*/ 149 h 2661"/>
              <a:gd name="connsiteX2" fmla="*/ 749 w 757"/>
              <a:gd name="connsiteY2" fmla="*/ 2453 h 2661"/>
              <a:gd name="connsiteX3" fmla="*/ 17 w 757"/>
              <a:gd name="connsiteY3" fmla="*/ 2661 h 2661"/>
              <a:gd name="connsiteX4" fmla="*/ 0 w 757"/>
              <a:gd name="connsiteY4" fmla="*/ 0 h 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 h="2661">
                <a:moveTo>
                  <a:pt x="0" y="0"/>
                </a:moveTo>
                <a:lnTo>
                  <a:pt x="757" y="149"/>
                </a:lnTo>
                <a:lnTo>
                  <a:pt x="749" y="2453"/>
                </a:lnTo>
                <a:lnTo>
                  <a:pt x="17" y="2661"/>
                </a:lnTo>
                <a:lnTo>
                  <a:pt x="0" y="0"/>
                </a:lnTo>
                <a:close/>
              </a:path>
            </a:pathLst>
          </a:custGeom>
          <a:gradFill>
            <a:gsLst>
              <a:gs pos="54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gradFill>
              <a:gsLst>
                <a:gs pos="32000">
                  <a:srgbClr val="F5F8FF"/>
                </a:gs>
                <a:gs pos="0">
                  <a:srgbClr val="A5BEFF"/>
                </a:gs>
                <a:gs pos="100000">
                  <a:srgbClr val="F5F8FF"/>
                </a:gs>
                <a:gs pos="71000">
                  <a:srgbClr val="C3D4FF"/>
                </a:gs>
              </a:gsLst>
              <a:lin ang="16200000" scaled="0"/>
            </a:gradFill>
          </a:ln>
          <a:effectLst>
            <a:outerShdw blurRad="254000" dist="152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b="1" dirty="0">
                <a:solidFill>
                  <a:srgbClr val="FFFFFF"/>
                </a:solidFill>
                <a:latin typeface="+mn-ea"/>
                <a:cs typeface="+mn-ea"/>
                <a:sym typeface="+mn-ea"/>
              </a:rPr>
              <a:t>01</a:t>
            </a:r>
            <a:endParaRPr lang="en-US" altLang="zh-CN" b="1" dirty="0">
              <a:solidFill>
                <a:srgbClr val="FFFFFF"/>
              </a:solidFill>
              <a:latin typeface="+mn-ea"/>
              <a:cs typeface="+mn-ea"/>
              <a:sym typeface="+mn-ea"/>
            </a:endParaRPr>
          </a:p>
        </p:txBody>
      </p:sp>
      <p:sp>
        <p:nvSpPr>
          <p:cNvPr id="31" name="任意多边形 30"/>
          <p:cNvSpPr/>
          <p:nvPr>
            <p:custDataLst>
              <p:tags r:id="rId5"/>
            </p:custDataLst>
          </p:nvPr>
        </p:nvSpPr>
        <p:spPr>
          <a:xfrm>
            <a:off x="5331515" y="1800996"/>
            <a:ext cx="901316" cy="3327241"/>
          </a:xfrm>
          <a:custGeom>
            <a:avLst/>
            <a:gdLst>
              <a:gd name="connsiteX0" fmla="*/ 0 w 1099"/>
              <a:gd name="connsiteY0" fmla="*/ 0 h 4057"/>
              <a:gd name="connsiteX1" fmla="*/ 1099 w 1099"/>
              <a:gd name="connsiteY1" fmla="*/ 418 h 4057"/>
              <a:gd name="connsiteX2" fmla="*/ 1099 w 1099"/>
              <a:gd name="connsiteY2" fmla="*/ 3626 h 4057"/>
              <a:gd name="connsiteX3" fmla="*/ 0 w 1099"/>
              <a:gd name="connsiteY3" fmla="*/ 4057 h 4057"/>
              <a:gd name="connsiteX4" fmla="*/ 0 w 1099"/>
              <a:gd name="connsiteY4" fmla="*/ 0 h 4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 h="4057">
                <a:moveTo>
                  <a:pt x="0" y="0"/>
                </a:moveTo>
                <a:lnTo>
                  <a:pt x="1099" y="418"/>
                </a:lnTo>
                <a:lnTo>
                  <a:pt x="1099" y="3626"/>
                </a:lnTo>
                <a:lnTo>
                  <a:pt x="0" y="4057"/>
                </a:lnTo>
                <a:lnTo>
                  <a:pt x="0" y="0"/>
                </a:lnTo>
                <a:close/>
              </a:path>
            </a:pathLst>
          </a:custGeom>
          <a:gradFill>
            <a:gsLst>
              <a:gs pos="54000">
                <a:schemeClr val="accent2">
                  <a:alpha val="100000"/>
                </a:schemeClr>
              </a:gs>
              <a:gs pos="0">
                <a:schemeClr val="accent2">
                  <a:lumMod val="60000"/>
                  <a:lumOff val="40000"/>
                  <a:alpha val="100000"/>
                </a:schemeClr>
              </a:gs>
              <a:gs pos="100000">
                <a:schemeClr val="accent2">
                  <a:lumMod val="60000"/>
                  <a:lumOff val="40000"/>
                  <a:alpha val="100000"/>
                </a:schemeClr>
              </a:gs>
            </a:gsLst>
            <a:lin ang="5400000" scaled="0"/>
          </a:gradFill>
          <a:ln>
            <a:gradFill>
              <a:gsLst>
                <a:gs pos="32000">
                  <a:srgbClr val="F5F8FF"/>
                </a:gs>
                <a:gs pos="0">
                  <a:schemeClr val="accent2">
                    <a:lumMod val="20000"/>
                    <a:lumOff val="80000"/>
                    <a:alpha val="100000"/>
                  </a:schemeClr>
                </a:gs>
                <a:gs pos="100000">
                  <a:srgbClr val="F5F8FF"/>
                </a:gs>
                <a:gs pos="71000">
                  <a:schemeClr val="accent2">
                    <a:lumMod val="20000"/>
                    <a:lumOff val="80000"/>
                    <a:alpha val="100000"/>
                  </a:schemeClr>
                </a:gs>
              </a:gsLst>
              <a:lin ang="16200000" scaled="1"/>
            </a:gradFill>
          </a:ln>
          <a:effectLst>
            <a:outerShdw blurRad="254000" dist="1524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b="1" dirty="0">
                <a:solidFill>
                  <a:srgbClr val="FFFFFF"/>
                </a:solidFill>
                <a:latin typeface="+mn-ea"/>
                <a:cs typeface="+mn-ea"/>
                <a:sym typeface="+mn-ea"/>
              </a:rPr>
              <a:t>02</a:t>
            </a:r>
            <a:endParaRPr lang="en-US" altLang="zh-CN" b="1" dirty="0">
              <a:solidFill>
                <a:srgbClr val="FFFFFF"/>
              </a:solidFill>
              <a:latin typeface="+mn-ea"/>
              <a:cs typeface="+mn-ea"/>
              <a:sym typeface="+mn-ea"/>
            </a:endParaRPr>
          </a:p>
        </p:txBody>
      </p:sp>
      <p:sp>
        <p:nvSpPr>
          <p:cNvPr id="33" name="任意多边形 32"/>
          <p:cNvSpPr/>
          <p:nvPr>
            <p:custDataLst>
              <p:tags r:id="rId6"/>
            </p:custDataLst>
          </p:nvPr>
        </p:nvSpPr>
        <p:spPr>
          <a:xfrm>
            <a:off x="6569902" y="1381913"/>
            <a:ext cx="1019413" cy="4004663"/>
          </a:xfrm>
          <a:custGeom>
            <a:avLst/>
            <a:gdLst>
              <a:gd name="connsiteX0" fmla="*/ 15 w 1243"/>
              <a:gd name="connsiteY0" fmla="*/ 0 h 4883"/>
              <a:gd name="connsiteX1" fmla="*/ 1232 w 1243"/>
              <a:gd name="connsiteY1" fmla="*/ 712 h 4883"/>
              <a:gd name="connsiteX2" fmla="*/ 1243 w 1243"/>
              <a:gd name="connsiteY2" fmla="*/ 4288 h 4883"/>
              <a:gd name="connsiteX3" fmla="*/ 0 w 1243"/>
              <a:gd name="connsiteY3" fmla="*/ 4883 h 4883"/>
              <a:gd name="connsiteX4" fmla="*/ 15 w 1243"/>
              <a:gd name="connsiteY4" fmla="*/ 0 h 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 h="4883">
                <a:moveTo>
                  <a:pt x="15" y="0"/>
                </a:moveTo>
                <a:lnTo>
                  <a:pt x="1232" y="712"/>
                </a:lnTo>
                <a:lnTo>
                  <a:pt x="1243" y="4288"/>
                </a:lnTo>
                <a:lnTo>
                  <a:pt x="0" y="4883"/>
                </a:lnTo>
                <a:lnTo>
                  <a:pt x="15" y="0"/>
                </a:lnTo>
                <a:close/>
              </a:path>
            </a:pathLst>
          </a:custGeom>
          <a:gradFill>
            <a:gsLst>
              <a:gs pos="54000">
                <a:schemeClr val="accent3">
                  <a:alpha val="100000"/>
                </a:schemeClr>
              </a:gs>
              <a:gs pos="0">
                <a:schemeClr val="accent3">
                  <a:lumMod val="60000"/>
                  <a:lumOff val="40000"/>
                  <a:alpha val="100000"/>
                </a:schemeClr>
              </a:gs>
              <a:gs pos="81000">
                <a:schemeClr val="accent3">
                  <a:alpha val="100000"/>
                </a:schemeClr>
              </a:gs>
              <a:gs pos="100000">
                <a:schemeClr val="accent3">
                  <a:alpha val="100000"/>
                </a:schemeClr>
              </a:gs>
            </a:gsLst>
            <a:lin ang="5400000" scaled="0"/>
          </a:gradFill>
          <a:ln>
            <a:gradFill>
              <a:gsLst>
                <a:gs pos="32000">
                  <a:srgbClr val="F5F8FF"/>
                </a:gs>
                <a:gs pos="0">
                  <a:srgbClr val="A5BEFF"/>
                </a:gs>
                <a:gs pos="100000">
                  <a:srgbClr val="F5F8FF"/>
                </a:gs>
                <a:gs pos="71000">
                  <a:srgbClr val="C3D4FF"/>
                </a:gs>
              </a:gsLst>
              <a:lin ang="16200000" scaled="0"/>
            </a:gradFill>
          </a:ln>
          <a:effectLst>
            <a:outerShdw blurRad="254000" dist="1524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altLang="zh-CN" b="1" dirty="0">
                <a:solidFill>
                  <a:srgbClr val="FFFFFF"/>
                </a:solidFill>
                <a:latin typeface="+mn-ea"/>
                <a:cs typeface="+mn-ea"/>
                <a:sym typeface="+mn-ea"/>
              </a:rPr>
              <a:t>03</a:t>
            </a:r>
            <a:endParaRPr lang="en-US" altLang="zh-CN" b="1" dirty="0">
              <a:solidFill>
                <a:srgbClr val="FFFFFF"/>
              </a:solidFill>
              <a:latin typeface="+mn-ea"/>
              <a:cs typeface="+mn-ea"/>
              <a:sym typeface="+mn-ea"/>
            </a:endParaRPr>
          </a:p>
        </p:txBody>
      </p:sp>
      <p:sp>
        <p:nvSpPr>
          <p:cNvPr id="16" name="任意多边形 15"/>
          <p:cNvSpPr/>
          <p:nvPr>
            <p:custDataLst>
              <p:tags r:id="rId7"/>
            </p:custDataLst>
          </p:nvPr>
        </p:nvSpPr>
        <p:spPr>
          <a:xfrm>
            <a:off x="740270" y="3578069"/>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chemeClr val="accent1">
                    <a:alpha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92500" lnSpcReduction="10000"/>
          </a:bodyPr>
          <a:lstStyle/>
          <a:p>
            <a:pPr lvl="0" algn="ctr">
              <a:buClrTx/>
              <a:buSzTx/>
              <a:buFontTx/>
            </a:pPr>
            <a:endParaRPr lang="zh-CN" altLang="en-US">
              <a:solidFill>
                <a:schemeClr val="lt1"/>
              </a:solidFill>
              <a:sym typeface="+mn-ea"/>
            </a:endParaRPr>
          </a:p>
        </p:txBody>
      </p:sp>
      <p:sp>
        <p:nvSpPr>
          <p:cNvPr id="24" name="任意多边形 23"/>
          <p:cNvSpPr/>
          <p:nvPr>
            <p:custDataLst>
              <p:tags r:id="rId8"/>
            </p:custDataLst>
          </p:nvPr>
        </p:nvSpPr>
        <p:spPr>
          <a:xfrm>
            <a:off x="7637382" y="2124692"/>
            <a:ext cx="3696296" cy="655279"/>
          </a:xfrm>
          <a:custGeom>
            <a:avLst/>
            <a:gdLst>
              <a:gd name="connsiteX0" fmla="*/ 0 w 4507"/>
              <a:gd name="connsiteY0" fmla="*/ 799 h 799"/>
              <a:gd name="connsiteX1" fmla="*/ 820 w 4507"/>
              <a:gd name="connsiteY1" fmla="*/ 0 h 799"/>
              <a:gd name="connsiteX2" fmla="*/ 4507 w 4507"/>
              <a:gd name="connsiteY2" fmla="*/ 0 h 799"/>
            </a:gdLst>
            <a:ahLst/>
            <a:cxnLst>
              <a:cxn ang="0">
                <a:pos x="connsiteX0" y="connsiteY0"/>
              </a:cxn>
              <a:cxn ang="0">
                <a:pos x="connsiteX1" y="connsiteY1"/>
              </a:cxn>
              <a:cxn ang="0">
                <a:pos x="connsiteX2" y="connsiteY2"/>
              </a:cxn>
            </a:cxnLst>
            <a:rect l="l" t="t" r="r" b="b"/>
            <a:pathLst>
              <a:path w="4507" h="799">
                <a:moveTo>
                  <a:pt x="0" y="799"/>
                </a:moveTo>
                <a:lnTo>
                  <a:pt x="820" y="0"/>
                </a:lnTo>
                <a:lnTo>
                  <a:pt x="4507" y="0"/>
                </a:lnTo>
              </a:path>
            </a:pathLst>
          </a:custGeom>
          <a:noFill/>
          <a:ln>
            <a:gradFill>
              <a:gsLst>
                <a:gs pos="100000">
                  <a:srgbClr val="AFC6FF">
                    <a:alpha val="0"/>
                  </a:srgbClr>
                </a:gs>
                <a:gs pos="47000">
                  <a:schemeClr val="accent3">
                    <a:alpha val="7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a:solidFill>
                <a:schemeClr val="lt1"/>
              </a:solidFill>
              <a:sym typeface="+mn-ea"/>
            </a:endParaRPr>
          </a:p>
        </p:txBody>
      </p:sp>
      <p:sp>
        <p:nvSpPr>
          <p:cNvPr id="6" name="矩形 5"/>
          <p:cNvSpPr/>
          <p:nvPr>
            <p:custDataLst>
              <p:tags r:id="rId9"/>
            </p:custDataLst>
          </p:nvPr>
        </p:nvSpPr>
        <p:spPr>
          <a:xfrm>
            <a:off x="933194" y="3114199"/>
            <a:ext cx="2888281" cy="385957"/>
          </a:xfrm>
          <a:prstGeom prst="rect">
            <a:avLst/>
          </a:prstGeom>
          <a:noFill/>
        </p:spPr>
        <p:txBody>
          <a:bodyPr wrap="square" lIns="0" tIns="0" rIns="0" bIns="0" rtlCol="0" anchor="b" anchorCtr="0">
            <a:noAutofit/>
          </a:bodyPr>
          <a:lstStyle/>
          <a:p>
            <a:pPr algn="r">
              <a:spcBef>
                <a:spcPct val="0"/>
              </a:spcBef>
              <a:spcAft>
                <a:spcPct val="0"/>
              </a:spcAft>
            </a:pPr>
            <a:r>
              <a:rPr lang="zh-CN" altLang="en-US" sz="2000" b="1">
                <a:solidFill>
                  <a:schemeClr val="accent1"/>
                </a:solidFill>
                <a:latin typeface="+mn-ea"/>
                <a:cs typeface="+mn-ea"/>
              </a:rPr>
              <a:t>通信压缩</a:t>
            </a:r>
            <a:endParaRPr lang="zh-CN" altLang="en-US" sz="2000" b="1">
              <a:solidFill>
                <a:schemeClr val="accent1"/>
              </a:solidFill>
              <a:latin typeface="+mn-ea"/>
              <a:cs typeface="+mn-ea"/>
            </a:endParaRPr>
          </a:p>
        </p:txBody>
      </p:sp>
      <p:sp>
        <p:nvSpPr>
          <p:cNvPr id="7" name="任意多边形 6"/>
          <p:cNvSpPr/>
          <p:nvPr>
            <p:custDataLst>
              <p:tags r:id="rId10"/>
            </p:custDataLst>
          </p:nvPr>
        </p:nvSpPr>
        <p:spPr>
          <a:xfrm>
            <a:off x="1501720" y="1689682"/>
            <a:ext cx="3606629" cy="619365"/>
          </a:xfrm>
          <a:custGeom>
            <a:avLst/>
            <a:gdLst>
              <a:gd name="connsiteX0" fmla="*/ 0 w 4050"/>
              <a:gd name="connsiteY0" fmla="*/ 0 h 798"/>
              <a:gd name="connsiteX1" fmla="*/ 3411 w 4050"/>
              <a:gd name="connsiteY1" fmla="*/ 0 h 798"/>
              <a:gd name="connsiteX2" fmla="*/ 4050 w 4050"/>
              <a:gd name="connsiteY2" fmla="*/ 798 h 798"/>
            </a:gdLst>
            <a:ahLst/>
            <a:cxnLst>
              <a:cxn ang="0">
                <a:pos x="connsiteX0" y="connsiteY0"/>
              </a:cxn>
              <a:cxn ang="0">
                <a:pos x="connsiteX1" y="connsiteY1"/>
              </a:cxn>
              <a:cxn ang="0">
                <a:pos x="connsiteX2" y="connsiteY2"/>
              </a:cxn>
            </a:cxnLst>
            <a:rect l="l" t="t" r="r" b="b"/>
            <a:pathLst>
              <a:path w="4050" h="798">
                <a:moveTo>
                  <a:pt x="0" y="0"/>
                </a:moveTo>
                <a:lnTo>
                  <a:pt x="3411" y="0"/>
                </a:lnTo>
                <a:lnTo>
                  <a:pt x="4050" y="798"/>
                </a:lnTo>
              </a:path>
            </a:pathLst>
          </a:custGeom>
          <a:noFill/>
          <a:ln>
            <a:gradFill>
              <a:gsLst>
                <a:gs pos="0">
                  <a:schemeClr val="accent2">
                    <a:alpha val="100000"/>
                  </a:schemeClr>
                </a:gs>
                <a:gs pos="100000">
                  <a:schemeClr val="accent2">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a:solidFill>
                <a:schemeClr val="lt1"/>
              </a:solidFill>
              <a:sym typeface="+mn-ea"/>
            </a:endParaRPr>
          </a:p>
        </p:txBody>
      </p:sp>
      <p:sp>
        <p:nvSpPr>
          <p:cNvPr id="8" name="矩形 7"/>
          <p:cNvSpPr/>
          <p:nvPr>
            <p:custDataLst>
              <p:tags r:id="rId11"/>
            </p:custDataLst>
          </p:nvPr>
        </p:nvSpPr>
        <p:spPr>
          <a:xfrm>
            <a:off x="792930" y="1740530"/>
            <a:ext cx="3478599" cy="1326603"/>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构建</a:t>
            </a:r>
            <a:r>
              <a:rPr lang="en-US" altLang="zh-CN" sz="1600" dirty="0">
                <a:ln>
                  <a:noFill/>
                  <a:prstDash val="sysDot"/>
                </a:ln>
                <a:solidFill>
                  <a:schemeClr val="tx1">
                    <a:lumMod val="85000"/>
                    <a:lumOff val="15000"/>
                  </a:schemeClr>
                </a:solidFill>
                <a:latin typeface="+mn-ea"/>
                <a:cs typeface="+mn-ea"/>
              </a:rPr>
              <a:t>“</a:t>
            </a:r>
            <a:r>
              <a:rPr lang="zh-CN" altLang="en-US" sz="1600" dirty="0">
                <a:ln>
                  <a:noFill/>
                  <a:prstDash val="sysDot"/>
                </a:ln>
                <a:solidFill>
                  <a:schemeClr val="tx1">
                    <a:lumMod val="85000"/>
                    <a:lumOff val="15000"/>
                  </a:schemeClr>
                </a:solidFill>
                <a:latin typeface="+mn-ea"/>
                <a:cs typeface="+mn-ea"/>
              </a:rPr>
              <a:t>本地</a:t>
            </a:r>
            <a:r>
              <a:rPr lang="en-US" altLang="zh-CN" sz="1600" dirty="0">
                <a:ln>
                  <a:noFill/>
                  <a:prstDash val="sysDot"/>
                </a:ln>
                <a:solidFill>
                  <a:schemeClr val="tx1">
                    <a:lumMod val="85000"/>
                    <a:lumOff val="15000"/>
                  </a:schemeClr>
                </a:solidFill>
                <a:latin typeface="+mn-ea"/>
                <a:cs typeface="+mn-ea"/>
              </a:rPr>
              <a:t> NVMe + </a:t>
            </a:r>
            <a:r>
              <a:rPr lang="zh-CN" altLang="en-US" sz="1600" dirty="0">
                <a:ln>
                  <a:noFill/>
                  <a:prstDash val="sysDot"/>
                </a:ln>
                <a:solidFill>
                  <a:schemeClr val="tx1">
                    <a:lumMod val="85000"/>
                    <a:lumOff val="15000"/>
                  </a:schemeClr>
                </a:solidFill>
                <a:latin typeface="+mn-ea"/>
                <a:cs typeface="+mn-ea"/>
              </a:rPr>
              <a:t>远端对象存储</a:t>
            </a:r>
            <a:r>
              <a:rPr lang="en-US" altLang="zh-CN" sz="1600" dirty="0">
                <a:ln>
                  <a:noFill/>
                  <a:prstDash val="sysDot"/>
                </a:ln>
                <a:solidFill>
                  <a:schemeClr val="tx1">
                    <a:lumMod val="85000"/>
                    <a:lumOff val="15000"/>
                  </a:schemeClr>
                </a:solidFill>
                <a:latin typeface="+mn-ea"/>
                <a:cs typeface="+mn-ea"/>
              </a:rPr>
              <a:t>”</a:t>
            </a:r>
            <a:r>
              <a:rPr lang="zh-CN" altLang="en-US" sz="1600" dirty="0">
                <a:ln>
                  <a:noFill/>
                  <a:prstDash val="sysDot"/>
                </a:ln>
                <a:solidFill>
                  <a:schemeClr val="tx1">
                    <a:lumMod val="85000"/>
                    <a:lumOff val="15000"/>
                  </a:schemeClr>
                </a:solidFill>
                <a:latin typeface="+mn-ea"/>
                <a:cs typeface="+mn-ea"/>
              </a:rPr>
              <a:t>的双级快照机制。利用后台异步写入与增量合并技术，消除</a:t>
            </a:r>
            <a:r>
              <a:rPr lang="en-US" altLang="zh-CN" sz="1600" dirty="0">
                <a:ln>
                  <a:noFill/>
                  <a:prstDash val="sysDot"/>
                </a:ln>
                <a:solidFill>
                  <a:schemeClr val="tx1">
                    <a:lumMod val="85000"/>
                    <a:lumOff val="15000"/>
                  </a:schemeClr>
                </a:solidFill>
                <a:latin typeface="+mn-ea"/>
                <a:cs typeface="+mn-ea"/>
              </a:rPr>
              <a:t> Checkpoint </a:t>
            </a:r>
            <a:r>
              <a:rPr lang="zh-CN" altLang="en-US" sz="1600" dirty="0">
                <a:ln>
                  <a:noFill/>
                  <a:prstDash val="sysDot"/>
                </a:ln>
                <a:solidFill>
                  <a:schemeClr val="tx1">
                    <a:lumMod val="85000"/>
                    <a:lumOff val="15000"/>
                  </a:schemeClr>
                </a:solidFill>
                <a:latin typeface="+mn-ea"/>
                <a:cs typeface="+mn-ea"/>
              </a:rPr>
              <a:t>过程中的</a:t>
            </a:r>
            <a:r>
              <a:rPr lang="en-US" altLang="zh-CN" sz="1600" dirty="0">
                <a:ln>
                  <a:noFill/>
                  <a:prstDash val="sysDot"/>
                </a:ln>
                <a:solidFill>
                  <a:schemeClr val="tx1">
                    <a:lumMod val="85000"/>
                    <a:lumOff val="15000"/>
                  </a:schemeClr>
                </a:solidFill>
                <a:latin typeface="+mn-ea"/>
                <a:cs typeface="+mn-ea"/>
              </a:rPr>
              <a:t> I/O </a:t>
            </a:r>
            <a:r>
              <a:rPr lang="zh-CN" altLang="en-US" sz="1600" dirty="0">
                <a:ln>
                  <a:noFill/>
                  <a:prstDash val="sysDot"/>
                </a:ln>
                <a:solidFill>
                  <a:schemeClr val="tx1">
                    <a:lumMod val="85000"/>
                    <a:lumOff val="15000"/>
                  </a:schemeClr>
                </a:solidFill>
                <a:latin typeface="+mn-ea"/>
                <a:cs typeface="+mn-ea"/>
              </a:rPr>
              <a:t>阻塞。</a:t>
            </a:r>
            <a:endParaRPr lang="zh-CN" altLang="en-US" sz="1600" dirty="0">
              <a:ln>
                <a:noFill/>
                <a:prstDash val="sysDot"/>
              </a:ln>
              <a:solidFill>
                <a:schemeClr val="tx1">
                  <a:lumMod val="85000"/>
                  <a:lumOff val="15000"/>
                </a:schemeClr>
              </a:solidFill>
              <a:latin typeface="+mn-ea"/>
              <a:cs typeface="+mn-ea"/>
            </a:endParaRPr>
          </a:p>
        </p:txBody>
      </p:sp>
      <p:sp>
        <p:nvSpPr>
          <p:cNvPr id="10" name="椭圆 9"/>
          <p:cNvSpPr/>
          <p:nvPr>
            <p:custDataLst>
              <p:tags r:id="rId12"/>
            </p:custDataLst>
          </p:nvPr>
        </p:nvSpPr>
        <p:spPr>
          <a:xfrm>
            <a:off x="1623143" y="4250200"/>
            <a:ext cx="8939346" cy="1896945"/>
          </a:xfrm>
          <a:prstGeom prst="ellipse">
            <a:avLst/>
          </a:prstGeom>
          <a:noFill/>
          <a:ln w="19050">
            <a:gradFill>
              <a:gsLst>
                <a:gs pos="31000">
                  <a:srgbClr val="AFC6FF">
                    <a:alpha val="0"/>
                  </a:srgbClr>
                </a:gs>
                <a:gs pos="77000">
                  <a:schemeClr val="accent1">
                    <a:lumMod val="60000"/>
                    <a:lumOff val="40000"/>
                    <a:alpha val="7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endParaRPr>
          </a:p>
        </p:txBody>
      </p:sp>
      <p:sp>
        <p:nvSpPr>
          <p:cNvPr id="11" name="椭圆 10"/>
          <p:cNvSpPr/>
          <p:nvPr>
            <p:custDataLst>
              <p:tags r:id="rId13"/>
            </p:custDataLst>
          </p:nvPr>
        </p:nvSpPr>
        <p:spPr>
          <a:xfrm>
            <a:off x="2620004" y="4250200"/>
            <a:ext cx="6945626" cy="1386009"/>
          </a:xfrm>
          <a:prstGeom prst="ellipse">
            <a:avLst/>
          </a:prstGeom>
          <a:noFill/>
          <a:ln w="53975">
            <a:gradFill>
              <a:gsLst>
                <a:gs pos="38000">
                  <a:srgbClr val="AFC6FF">
                    <a:alpha val="0"/>
                  </a:srgbClr>
                </a:gs>
                <a:gs pos="85000">
                  <a:schemeClr val="accent1">
                    <a:alpha val="65000"/>
                  </a:schemeClr>
                </a:gs>
              </a:gsLst>
              <a:lin ang="546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endParaRPr>
          </a:p>
        </p:txBody>
      </p:sp>
      <p:sp>
        <p:nvSpPr>
          <p:cNvPr id="12" name="矩形 11"/>
          <p:cNvSpPr/>
          <p:nvPr>
            <p:custDataLst>
              <p:tags r:id="rId14"/>
            </p:custDataLst>
          </p:nvPr>
        </p:nvSpPr>
        <p:spPr>
          <a:xfrm>
            <a:off x="696595" y="3625215"/>
            <a:ext cx="3124835" cy="1689100"/>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实施</a:t>
            </a:r>
            <a:r>
              <a:rPr lang="en-US" altLang="zh-CN" sz="1600" dirty="0">
                <a:ln>
                  <a:noFill/>
                  <a:prstDash val="sysDot"/>
                </a:ln>
                <a:solidFill>
                  <a:schemeClr val="tx1">
                    <a:lumMod val="85000"/>
                    <a:lumOff val="15000"/>
                  </a:schemeClr>
                </a:solidFill>
                <a:latin typeface="+mn-ea"/>
                <a:cs typeface="+mn-ea"/>
              </a:rPr>
              <a:t> ZeRO-3 </a:t>
            </a:r>
            <a:r>
              <a:rPr lang="zh-CN" altLang="en-US" sz="1600" dirty="0">
                <a:ln>
                  <a:noFill/>
                  <a:prstDash val="sysDot"/>
                </a:ln>
                <a:solidFill>
                  <a:schemeClr val="tx1">
                    <a:lumMod val="85000"/>
                    <a:lumOff val="15000"/>
                  </a:schemeClr>
                </a:solidFill>
                <a:latin typeface="+mn-ea"/>
                <a:cs typeface="+mn-ea"/>
              </a:rPr>
              <a:t>架构下的分块量化，结合代价感知路由算法。在保障精度的前提下大幅降低梯度同步带宽，突破大规模集群的通信瓶颈。</a:t>
            </a:r>
            <a:endParaRPr lang="zh-CN" altLang="en-US" sz="1600" dirty="0">
              <a:ln>
                <a:noFill/>
                <a:prstDash val="sysDot"/>
              </a:ln>
              <a:solidFill>
                <a:schemeClr val="tx1">
                  <a:lumMod val="85000"/>
                  <a:lumOff val="15000"/>
                </a:schemeClr>
              </a:solidFill>
              <a:latin typeface="+mn-ea"/>
              <a:cs typeface="+mn-ea"/>
            </a:endParaRPr>
          </a:p>
        </p:txBody>
      </p:sp>
      <p:sp>
        <p:nvSpPr>
          <p:cNvPr id="14" name="矩形 13"/>
          <p:cNvSpPr/>
          <p:nvPr>
            <p:custDataLst>
              <p:tags r:id="rId15"/>
            </p:custDataLst>
          </p:nvPr>
        </p:nvSpPr>
        <p:spPr>
          <a:xfrm>
            <a:off x="8334375" y="2200275"/>
            <a:ext cx="3162300" cy="272478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建立微批（</a:t>
            </a:r>
            <a:r>
              <a:rPr lang="en-US" altLang="zh-CN" sz="1600" dirty="0">
                <a:ln>
                  <a:noFill/>
                  <a:prstDash val="sysDot"/>
                </a:ln>
                <a:solidFill>
                  <a:schemeClr val="tx1">
                    <a:lumMod val="85000"/>
                    <a:lumOff val="15000"/>
                  </a:schemeClr>
                </a:solidFill>
                <a:latin typeface="+mn-ea"/>
                <a:cs typeface="+mn-ea"/>
              </a:rPr>
              <a:t>Micro-batch</a:t>
            </a:r>
            <a:r>
              <a:rPr lang="zh-CN" altLang="en-US" sz="1600" dirty="0">
                <a:ln>
                  <a:noFill/>
                  <a:prstDash val="sysDot"/>
                </a:ln>
                <a:solidFill>
                  <a:schemeClr val="tx1">
                    <a:lumMod val="85000"/>
                    <a:lumOff val="15000"/>
                  </a:schemeClr>
                </a:solidFill>
                <a:latin typeface="+mn-ea"/>
                <a:cs typeface="+mn-ea"/>
              </a:rPr>
              <a:t>）级的故障检测与恢复体系。支持计算资源的动态弹性降级，最大化保障超大模型训练的长稳运行。</a:t>
            </a:r>
            <a:endParaRPr lang="zh-CN" altLang="en-US" sz="1600" dirty="0">
              <a:ln>
                <a:noFill/>
                <a:prstDash val="sysDot"/>
              </a:ln>
              <a:solidFill>
                <a:schemeClr val="tx1">
                  <a:lumMod val="85000"/>
                  <a:lumOff val="15000"/>
                </a:schemeClr>
              </a:solidFill>
              <a:latin typeface="+mn-ea"/>
              <a:cs typeface="+mn-ea"/>
            </a:endParaRPr>
          </a:p>
        </p:txBody>
      </p:sp>
      <p:sp>
        <p:nvSpPr>
          <p:cNvPr id="15" name="矩形 14"/>
          <p:cNvSpPr/>
          <p:nvPr>
            <p:custDataLst>
              <p:tags r:id="rId16"/>
            </p:custDataLst>
          </p:nvPr>
        </p:nvSpPr>
        <p:spPr>
          <a:xfrm>
            <a:off x="1383248" y="1258729"/>
            <a:ext cx="2888281" cy="385957"/>
          </a:xfrm>
          <a:prstGeom prst="rect">
            <a:avLst/>
          </a:prstGeom>
          <a:noFill/>
        </p:spPr>
        <p:txBody>
          <a:bodyPr wrap="square" lIns="0" tIns="0" rIns="0" bIns="0" rtlCol="0" anchor="b" anchorCtr="0">
            <a:noAutofit/>
          </a:bodyPr>
          <a:lstStyle/>
          <a:p>
            <a:pPr algn="r">
              <a:spcBef>
                <a:spcPct val="0"/>
              </a:spcBef>
              <a:spcAft>
                <a:spcPct val="0"/>
              </a:spcAft>
            </a:pPr>
            <a:r>
              <a:rPr lang="zh-CN" altLang="en-US" sz="2000" b="1" dirty="0">
                <a:solidFill>
                  <a:schemeClr val="accent2"/>
                </a:solidFill>
                <a:latin typeface="+mn-ea"/>
                <a:cs typeface="+mn-ea"/>
              </a:rPr>
              <a:t>高效存储</a:t>
            </a:r>
            <a:endParaRPr lang="zh-CN" altLang="en-US" sz="2000" b="1" dirty="0">
              <a:solidFill>
                <a:schemeClr val="accent2"/>
              </a:solidFill>
              <a:latin typeface="+mn-ea"/>
              <a:cs typeface="+mn-ea"/>
            </a:endParaRPr>
          </a:p>
        </p:txBody>
      </p:sp>
    </p:spTree>
    <p:custDataLst>
      <p:tags r:id="rId1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2"/>
          <p:cNvPicPr>
            <a:picLocks noChangeAspect="1"/>
          </p:cNvPicPr>
          <p:nvPr/>
        </p:nvPicPr>
        <p:blipFill>
          <a:blip r:embed="rId1"/>
          <a:stretch>
            <a:fillRect/>
          </a:stretch>
        </p:blipFill>
        <p:spPr>
          <a:xfrm>
            <a:off x="9411854" y="6355972"/>
            <a:ext cx="2780146" cy="492792"/>
          </a:xfrm>
          <a:prstGeom prst="rect">
            <a:avLst/>
          </a:prstGeom>
        </p:spPr>
      </p:pic>
      <p:sp>
        <p:nvSpPr>
          <p:cNvPr id="2" name="标题 1"/>
          <p:cNvSpPr>
            <a:spLocks noGrp="1"/>
          </p:cNvSpPr>
          <p:nvPr>
            <p:ph type="title"/>
            <p:custDataLst>
              <p:tags r:id="rId2"/>
            </p:custDataLst>
          </p:nvPr>
        </p:nvSpPr>
        <p:spPr/>
        <p:txBody>
          <a:bodyPr/>
          <a:lstStyle/>
          <a:p>
            <a:r>
              <a:rPr lang="zh-CN" altLang="en-US" dirty="0"/>
              <a:t>内容</a:t>
            </a:r>
            <a:r>
              <a:rPr lang="en-US" altLang="zh-CN" dirty="0"/>
              <a:t>4</a:t>
            </a:r>
            <a:r>
              <a:rPr lang="zh-CN" altLang="en-US" dirty="0"/>
              <a:t>：以</a:t>
            </a:r>
            <a:r>
              <a:rPr lang="en-US" altLang="zh-CN" dirty="0"/>
              <a:t>MFU</a:t>
            </a:r>
            <a:r>
              <a:rPr lang="zh-CN" altLang="en-US" dirty="0"/>
              <a:t>为牵引的性能建模与闭环优化</a:t>
            </a:r>
            <a:endParaRPr lang="zh-CN" altLang="en-US" dirty="0"/>
          </a:p>
        </p:txBody>
      </p:sp>
      <p:sp>
        <p:nvSpPr>
          <p:cNvPr id="12" name="矩形 11"/>
          <p:cNvSpPr/>
          <p:nvPr>
            <p:custDataLst>
              <p:tags r:id="rId3"/>
            </p:custDataLst>
          </p:nvPr>
        </p:nvSpPr>
        <p:spPr>
          <a:xfrm>
            <a:off x="575310" y="1684020"/>
            <a:ext cx="599440" cy="644525"/>
          </a:xfrm>
          <a:prstGeom prst="rect">
            <a:avLst/>
          </a:prstGeom>
          <a:noFill/>
          <a:ln>
            <a:noFill/>
          </a:ln>
        </p:spPr>
        <p:txBody>
          <a:bodyPr wrap="none" lIns="0" tIns="0" rIns="0" bIns="0" anchor="b" anchorCtr="0">
            <a:normAutofit/>
          </a:bodyPr>
          <a:lstStyle/>
          <a:p>
            <a:pPr algn="l">
              <a:spcBef>
                <a:spcPct val="0"/>
              </a:spcBef>
              <a:spcAft>
                <a:spcPct val="0"/>
              </a:spcAft>
            </a:pPr>
            <a:r>
              <a:rPr lang="en-US" altLang="zh-CN" sz="4200">
                <a:solidFill>
                  <a:schemeClr val="accent1"/>
                </a:solidFill>
                <a:latin typeface="+mn-ea"/>
                <a:cs typeface="+mn-ea"/>
              </a:rPr>
              <a:t>01</a:t>
            </a:r>
            <a:endParaRPr lang="en-US" altLang="zh-CN" sz="4200">
              <a:solidFill>
                <a:schemeClr val="accent1"/>
              </a:solidFill>
              <a:latin typeface="+mn-ea"/>
              <a:cs typeface="+mn-ea"/>
            </a:endParaRPr>
          </a:p>
        </p:txBody>
      </p:sp>
      <p:sp>
        <p:nvSpPr>
          <p:cNvPr id="3" name="矩形 2"/>
          <p:cNvSpPr/>
          <p:nvPr>
            <p:custDataLst>
              <p:tags r:id="rId4"/>
            </p:custDataLst>
          </p:nvPr>
        </p:nvSpPr>
        <p:spPr>
          <a:xfrm>
            <a:off x="1373505" y="1684020"/>
            <a:ext cx="6236335" cy="415925"/>
          </a:xfrm>
          <a:prstGeom prst="rect">
            <a:avLst/>
          </a:prstGeom>
          <a:noFill/>
          <a:ln>
            <a:noFill/>
          </a:ln>
        </p:spPr>
        <p:txBody>
          <a:bodyPr wrap="square" lIns="0" tIns="0" rIns="0" bIns="0" rtlCol="0" anchor="b" anchorCtr="0">
            <a:noAutofit/>
          </a:bodyPr>
          <a:lstStyle/>
          <a:p>
            <a:pPr algn="just">
              <a:spcBef>
                <a:spcPct val="0"/>
              </a:spcBef>
              <a:spcAft>
                <a:spcPct val="0"/>
              </a:spcAft>
              <a:buClr>
                <a:srgbClr val="000000"/>
              </a:buClr>
              <a:buSzPct val="70000"/>
            </a:pPr>
            <a:r>
              <a:rPr lang="zh-CN" altLang="en-US" sz="2500" b="1">
                <a:solidFill>
                  <a:schemeClr val="accent1"/>
                </a:solidFill>
                <a:latin typeface="+mn-ea"/>
                <a:cs typeface="+mn-ea"/>
              </a:rPr>
              <a:t>性能建模</a:t>
            </a:r>
            <a:endParaRPr lang="zh-CN" altLang="en-US" sz="2500" b="1">
              <a:solidFill>
                <a:schemeClr val="accent1"/>
              </a:solidFill>
              <a:latin typeface="+mn-ea"/>
              <a:cs typeface="+mn-ea"/>
            </a:endParaRPr>
          </a:p>
        </p:txBody>
      </p:sp>
      <p:sp>
        <p:nvSpPr>
          <p:cNvPr id="4" name="矩形 3"/>
          <p:cNvSpPr/>
          <p:nvPr>
            <p:custDataLst>
              <p:tags r:id="rId5"/>
            </p:custDataLst>
          </p:nvPr>
        </p:nvSpPr>
        <p:spPr>
          <a:xfrm>
            <a:off x="1373505" y="2123440"/>
            <a:ext cx="6236335" cy="934720"/>
          </a:xfrm>
          <a:prstGeom prst="rect">
            <a:avLst/>
          </a:prstGeom>
          <a:noFill/>
          <a:ln>
            <a:noFill/>
          </a:ln>
        </p:spPr>
        <p:txBody>
          <a:bodyPr wrap="square" lIns="0" tIns="0" rIns="0" bIns="0" rtlCol="0" anchor="t" anchorCtr="0">
            <a:noAutofit/>
          </a:bodyPr>
          <a:lstStyle/>
          <a:p>
            <a:pPr indent="0" algn="just" fontAlgn="auto">
              <a:lnSpc>
                <a:spcPct val="135000"/>
              </a:lnSpc>
              <a:spcBef>
                <a:spcPct val="0"/>
              </a:spcBef>
              <a:spcAft>
                <a:spcPct val="0"/>
              </a:spcAft>
              <a:buClr>
                <a:srgbClr val="376FFF"/>
              </a:buClr>
              <a:buSzPct val="80000"/>
            </a:pPr>
            <a:r>
              <a:rPr lang="zh-CN" altLang="en-US" sz="1600" dirty="0">
                <a:solidFill>
                  <a:schemeClr val="tx1">
                    <a:lumMod val="85000"/>
                    <a:lumOff val="15000"/>
                  </a:schemeClr>
                </a:solidFill>
                <a:latin typeface="+mn-ea"/>
                <a:cs typeface="+mn-ea"/>
                <a:sym typeface="+mn-ea"/>
              </a:rPr>
              <a:t>构建基于算子细粒度</a:t>
            </a:r>
            <a:r>
              <a:rPr lang="en-US" altLang="zh-CN" sz="1600" dirty="0">
                <a:solidFill>
                  <a:schemeClr val="tx1">
                    <a:lumMod val="85000"/>
                    <a:lumOff val="15000"/>
                  </a:schemeClr>
                </a:solidFill>
                <a:latin typeface="+mn-ea"/>
                <a:cs typeface="+mn-ea"/>
                <a:sym typeface="+mn-ea"/>
              </a:rPr>
              <a:t>profile</a:t>
            </a:r>
            <a:r>
              <a:rPr lang="zh-CN" altLang="en-US" sz="1600" dirty="0">
                <a:solidFill>
                  <a:schemeClr val="tx1">
                    <a:lumMod val="85000"/>
                    <a:lumOff val="15000"/>
                  </a:schemeClr>
                </a:solidFill>
                <a:latin typeface="+mn-ea"/>
                <a:cs typeface="+mn-ea"/>
                <a:sym typeface="+mn-ea"/>
              </a:rPr>
              <a:t>与网络原语实测的</a:t>
            </a:r>
            <a:r>
              <a:rPr lang="en-US" altLang="zh-CN" sz="1600" dirty="0">
                <a:solidFill>
                  <a:schemeClr val="tx1">
                    <a:lumMod val="85000"/>
                    <a:lumOff val="15000"/>
                  </a:schemeClr>
                </a:solidFill>
                <a:latin typeface="+mn-ea"/>
                <a:cs typeface="+mn-ea"/>
                <a:sym typeface="+mn-ea"/>
              </a:rPr>
              <a:t> Step-time </a:t>
            </a:r>
            <a:r>
              <a:rPr lang="zh-CN" altLang="en-US" sz="1600" dirty="0">
                <a:solidFill>
                  <a:schemeClr val="tx1">
                    <a:lumMod val="85000"/>
                    <a:lumOff val="15000"/>
                  </a:schemeClr>
                </a:solidFill>
                <a:latin typeface="+mn-ea"/>
                <a:cs typeface="+mn-ea"/>
                <a:sym typeface="+mn-ea"/>
              </a:rPr>
              <a:t>预测模型。通过解耦物理资源依赖，实现无需大规模试跑的毫秒级精度性能预估，大幅降低试错成本。</a:t>
            </a:r>
            <a:endParaRPr lang="zh-CN" altLang="en-US" sz="1600" dirty="0">
              <a:solidFill>
                <a:schemeClr val="tx1">
                  <a:lumMod val="85000"/>
                  <a:lumOff val="15000"/>
                </a:schemeClr>
              </a:solidFill>
              <a:latin typeface="+mn-ea"/>
              <a:cs typeface="+mn-ea"/>
              <a:sym typeface="+mn-ea"/>
            </a:endParaRPr>
          </a:p>
        </p:txBody>
      </p:sp>
      <p:sp>
        <p:nvSpPr>
          <p:cNvPr id="25" name="矩形 24"/>
          <p:cNvSpPr/>
          <p:nvPr>
            <p:custDataLst>
              <p:tags r:id="rId6"/>
            </p:custDataLst>
          </p:nvPr>
        </p:nvSpPr>
        <p:spPr>
          <a:xfrm>
            <a:off x="575310" y="3304540"/>
            <a:ext cx="599440" cy="644525"/>
          </a:xfrm>
          <a:prstGeom prst="rect">
            <a:avLst/>
          </a:prstGeom>
          <a:noFill/>
          <a:ln>
            <a:noFill/>
          </a:ln>
        </p:spPr>
        <p:txBody>
          <a:bodyPr wrap="none" lIns="0" tIns="0" rIns="0" bIns="0" anchor="b" anchorCtr="0">
            <a:normAutofit/>
          </a:bodyPr>
          <a:lstStyle/>
          <a:p>
            <a:pPr algn="l">
              <a:buClrTx/>
              <a:buSzTx/>
              <a:buFontTx/>
            </a:pPr>
            <a:r>
              <a:rPr lang="en-US" altLang="zh-CN" sz="4200">
                <a:solidFill>
                  <a:schemeClr val="accent2"/>
                </a:solidFill>
                <a:latin typeface="+mn-ea"/>
                <a:cs typeface="+mn-ea"/>
              </a:rPr>
              <a:t>02</a:t>
            </a:r>
            <a:endParaRPr lang="en-US" altLang="zh-CN" sz="4200">
              <a:solidFill>
                <a:schemeClr val="accent2"/>
              </a:solidFill>
              <a:latin typeface="+mn-ea"/>
              <a:cs typeface="+mn-ea"/>
            </a:endParaRPr>
          </a:p>
        </p:txBody>
      </p:sp>
      <p:sp>
        <p:nvSpPr>
          <p:cNvPr id="26" name="矩形 25"/>
          <p:cNvSpPr/>
          <p:nvPr>
            <p:custDataLst>
              <p:tags r:id="rId7"/>
            </p:custDataLst>
          </p:nvPr>
        </p:nvSpPr>
        <p:spPr>
          <a:xfrm>
            <a:off x="1373505" y="3304540"/>
            <a:ext cx="6236335" cy="415925"/>
          </a:xfrm>
          <a:prstGeom prst="rect">
            <a:avLst/>
          </a:prstGeom>
          <a:noFill/>
          <a:ln>
            <a:noFill/>
          </a:ln>
        </p:spPr>
        <p:txBody>
          <a:bodyPr wrap="square" lIns="0" tIns="0" rIns="0" bIns="0" rtlCol="0" anchor="b" anchorCtr="0">
            <a:noAutofit/>
          </a:bodyPr>
          <a:lstStyle/>
          <a:p>
            <a:pPr algn="just">
              <a:spcBef>
                <a:spcPct val="0"/>
              </a:spcBef>
              <a:spcAft>
                <a:spcPct val="0"/>
              </a:spcAft>
              <a:buClr>
                <a:srgbClr val="000000"/>
              </a:buClr>
              <a:buSzPct val="70000"/>
            </a:pPr>
            <a:r>
              <a:rPr lang="zh-CN" altLang="en-US" sz="2500" b="1">
                <a:solidFill>
                  <a:schemeClr val="accent2"/>
                </a:solidFill>
                <a:latin typeface="+mn-ea"/>
                <a:cs typeface="+mn-ea"/>
              </a:rPr>
              <a:t>闭环流程</a:t>
            </a:r>
            <a:endParaRPr lang="zh-CN" altLang="en-US" sz="2500" b="1">
              <a:solidFill>
                <a:schemeClr val="accent2"/>
              </a:solidFill>
              <a:latin typeface="+mn-ea"/>
              <a:cs typeface="+mn-ea"/>
            </a:endParaRPr>
          </a:p>
        </p:txBody>
      </p:sp>
      <p:sp>
        <p:nvSpPr>
          <p:cNvPr id="27" name="矩形 26"/>
          <p:cNvSpPr/>
          <p:nvPr>
            <p:custDataLst>
              <p:tags r:id="rId8"/>
            </p:custDataLst>
          </p:nvPr>
        </p:nvSpPr>
        <p:spPr>
          <a:xfrm>
            <a:off x="1373505" y="3743960"/>
            <a:ext cx="6236335" cy="1049655"/>
          </a:xfrm>
          <a:prstGeom prst="rect">
            <a:avLst/>
          </a:prstGeom>
          <a:noFill/>
          <a:ln>
            <a:noFill/>
          </a:ln>
        </p:spPr>
        <p:txBody>
          <a:bodyPr wrap="square" lIns="0" tIns="0" rIns="0" bIns="0" rtlCol="0" anchor="t" anchorCtr="0">
            <a:noAutofit/>
          </a:bodyPr>
          <a:lstStyle/>
          <a:p>
            <a:pPr indent="0" algn="just" fontAlgn="auto">
              <a:lnSpc>
                <a:spcPct val="135000"/>
              </a:lnSpc>
              <a:spcBef>
                <a:spcPct val="0"/>
              </a:spcBef>
              <a:spcAft>
                <a:spcPct val="0"/>
              </a:spcAft>
              <a:buClr>
                <a:srgbClr val="376FFF"/>
              </a:buClr>
              <a:buSzPct val="80000"/>
            </a:pPr>
            <a:r>
              <a:rPr lang="zh-CN" altLang="en-US" sz="1600" dirty="0">
                <a:solidFill>
                  <a:schemeClr val="tx1">
                    <a:lumMod val="85000"/>
                    <a:lumOff val="15000"/>
                  </a:schemeClr>
                </a:solidFill>
                <a:latin typeface="+mn-ea"/>
                <a:cs typeface="+mn-ea"/>
                <a:sym typeface="+mn-ea"/>
              </a:rPr>
              <a:t>打造</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策略生成</a:t>
            </a:r>
            <a:r>
              <a:rPr lang="en-US" altLang="en-US"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仿真筛选</a:t>
            </a:r>
            <a:r>
              <a:rPr lang="en-US" altLang="en-US"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实测验证</a:t>
            </a:r>
            <a:r>
              <a:rPr lang="en-US" altLang="en-US"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数据回灌</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的自动化闭环。利用</a:t>
            </a:r>
            <a:r>
              <a:rPr lang="en-US" altLang="zh-CN" sz="1600" dirty="0">
                <a:solidFill>
                  <a:schemeClr val="tx1">
                    <a:lumMod val="85000"/>
                    <a:lumOff val="15000"/>
                  </a:schemeClr>
                </a:solidFill>
                <a:latin typeface="+mn-ea"/>
                <a:cs typeface="+mn-ea"/>
                <a:sym typeface="+mn-ea"/>
              </a:rPr>
              <a:t> Runtime </a:t>
            </a:r>
            <a:r>
              <a:rPr lang="zh-CN" altLang="en-US" sz="1600" dirty="0">
                <a:solidFill>
                  <a:schemeClr val="tx1">
                    <a:lumMod val="85000"/>
                    <a:lumOff val="15000"/>
                  </a:schemeClr>
                </a:solidFill>
                <a:latin typeface="+mn-ea"/>
                <a:cs typeface="+mn-ea"/>
                <a:sym typeface="+mn-ea"/>
              </a:rPr>
              <a:t>真实数据动态修正模型参数，形成</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越用越准</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的系统自进化机制，确保理论与实战的高度对齐。</a:t>
            </a:r>
            <a:endParaRPr lang="zh-CN" altLang="en-US" sz="1600" dirty="0">
              <a:solidFill>
                <a:schemeClr val="tx1">
                  <a:lumMod val="85000"/>
                  <a:lumOff val="15000"/>
                </a:schemeClr>
              </a:solidFill>
              <a:latin typeface="+mn-ea"/>
              <a:cs typeface="+mn-ea"/>
              <a:sym typeface="+mn-ea"/>
            </a:endParaRPr>
          </a:p>
        </p:txBody>
      </p:sp>
      <p:sp>
        <p:nvSpPr>
          <p:cNvPr id="29" name="矩形 28"/>
          <p:cNvSpPr/>
          <p:nvPr>
            <p:custDataLst>
              <p:tags r:id="rId9"/>
            </p:custDataLst>
          </p:nvPr>
        </p:nvSpPr>
        <p:spPr>
          <a:xfrm>
            <a:off x="575310" y="4925060"/>
            <a:ext cx="599440" cy="644525"/>
          </a:xfrm>
          <a:prstGeom prst="rect">
            <a:avLst/>
          </a:prstGeom>
          <a:noFill/>
          <a:ln>
            <a:noFill/>
          </a:ln>
        </p:spPr>
        <p:txBody>
          <a:bodyPr wrap="none" lIns="0" tIns="0" rIns="0" bIns="0" anchor="b" anchorCtr="0">
            <a:normAutofit/>
          </a:bodyPr>
          <a:lstStyle/>
          <a:p>
            <a:pPr algn="l">
              <a:spcBef>
                <a:spcPct val="0"/>
              </a:spcBef>
              <a:spcAft>
                <a:spcPct val="0"/>
              </a:spcAft>
            </a:pPr>
            <a:r>
              <a:rPr lang="en-US" altLang="zh-CN" sz="4200">
                <a:solidFill>
                  <a:schemeClr val="accent3"/>
                </a:solidFill>
                <a:latin typeface="+mn-ea"/>
                <a:cs typeface="+mn-ea"/>
              </a:rPr>
              <a:t>03</a:t>
            </a:r>
            <a:endParaRPr lang="en-US" altLang="zh-CN" sz="4200">
              <a:solidFill>
                <a:schemeClr val="accent3"/>
              </a:solidFill>
              <a:latin typeface="+mn-ea"/>
              <a:cs typeface="+mn-ea"/>
            </a:endParaRPr>
          </a:p>
        </p:txBody>
      </p:sp>
      <p:sp>
        <p:nvSpPr>
          <p:cNvPr id="30" name="矩形 29"/>
          <p:cNvSpPr/>
          <p:nvPr>
            <p:custDataLst>
              <p:tags r:id="rId10"/>
            </p:custDataLst>
          </p:nvPr>
        </p:nvSpPr>
        <p:spPr>
          <a:xfrm>
            <a:off x="1373505" y="4925060"/>
            <a:ext cx="6236335" cy="415925"/>
          </a:xfrm>
          <a:prstGeom prst="rect">
            <a:avLst/>
          </a:prstGeom>
          <a:noFill/>
          <a:ln>
            <a:noFill/>
          </a:ln>
        </p:spPr>
        <p:txBody>
          <a:bodyPr wrap="square" lIns="0" tIns="0" rIns="0" bIns="0" rtlCol="0" anchor="b" anchorCtr="0">
            <a:noAutofit/>
          </a:bodyPr>
          <a:lstStyle/>
          <a:p>
            <a:pPr algn="just">
              <a:spcBef>
                <a:spcPct val="0"/>
              </a:spcBef>
              <a:spcAft>
                <a:spcPct val="0"/>
              </a:spcAft>
              <a:buClr>
                <a:srgbClr val="000000"/>
              </a:buClr>
              <a:buSzPct val="70000"/>
            </a:pPr>
            <a:r>
              <a:rPr lang="zh-CN" altLang="en-US" sz="2500" b="1">
                <a:solidFill>
                  <a:schemeClr val="accent3"/>
                </a:solidFill>
                <a:latin typeface="+mn-ea"/>
                <a:cs typeface="+mn-ea"/>
              </a:rPr>
              <a:t>指标体系</a:t>
            </a:r>
            <a:endParaRPr lang="zh-CN" altLang="en-US" sz="2500" b="1">
              <a:solidFill>
                <a:schemeClr val="accent3"/>
              </a:solidFill>
              <a:latin typeface="+mn-ea"/>
              <a:cs typeface="+mn-ea"/>
            </a:endParaRPr>
          </a:p>
        </p:txBody>
      </p:sp>
      <p:sp>
        <p:nvSpPr>
          <p:cNvPr id="31" name="矩形 30"/>
          <p:cNvSpPr/>
          <p:nvPr>
            <p:custDataLst>
              <p:tags r:id="rId11"/>
            </p:custDataLst>
          </p:nvPr>
        </p:nvSpPr>
        <p:spPr>
          <a:xfrm>
            <a:off x="1373505" y="5364480"/>
            <a:ext cx="6236335" cy="871855"/>
          </a:xfrm>
          <a:prstGeom prst="rect">
            <a:avLst/>
          </a:prstGeom>
          <a:noFill/>
          <a:ln>
            <a:noFill/>
          </a:ln>
        </p:spPr>
        <p:txBody>
          <a:bodyPr wrap="square" lIns="0" tIns="0" rIns="0" bIns="0" rtlCol="0" anchor="t" anchorCtr="0">
            <a:noAutofit/>
          </a:bodyPr>
          <a:lstStyle/>
          <a:p>
            <a:pPr indent="0" algn="just" fontAlgn="auto">
              <a:lnSpc>
                <a:spcPct val="135000"/>
              </a:lnSpc>
              <a:spcBef>
                <a:spcPct val="0"/>
              </a:spcBef>
              <a:spcAft>
                <a:spcPct val="0"/>
              </a:spcAft>
              <a:buClr>
                <a:srgbClr val="376FFF"/>
              </a:buClr>
              <a:buSzPct val="80000"/>
            </a:pPr>
            <a:r>
              <a:rPr lang="zh-CN" altLang="en-US" sz="1600" dirty="0">
                <a:solidFill>
                  <a:schemeClr val="tx1">
                    <a:lumMod val="85000"/>
                    <a:lumOff val="15000"/>
                  </a:schemeClr>
                </a:solidFill>
                <a:latin typeface="+mn-ea"/>
                <a:cs typeface="+mn-ea"/>
                <a:sym typeface="+mn-ea"/>
              </a:rPr>
              <a:t>确立以</a:t>
            </a:r>
            <a:r>
              <a:rPr lang="en-US" altLang="zh-CN" sz="1600" dirty="0">
                <a:solidFill>
                  <a:schemeClr val="tx1">
                    <a:lumMod val="85000"/>
                    <a:lumOff val="15000"/>
                  </a:schemeClr>
                </a:solidFill>
                <a:latin typeface="+mn-ea"/>
                <a:cs typeface="+mn-ea"/>
                <a:sym typeface="+mn-ea"/>
              </a:rPr>
              <a:t> MFU</a:t>
            </a:r>
            <a:r>
              <a:rPr lang="zh-CN" altLang="en-US" sz="1600" dirty="0">
                <a:solidFill>
                  <a:schemeClr val="tx1">
                    <a:lumMod val="85000"/>
                    <a:lumOff val="15000"/>
                  </a:schemeClr>
                </a:solidFill>
                <a:latin typeface="+mn-ea"/>
                <a:cs typeface="+mn-ea"/>
                <a:sym typeface="+mn-ea"/>
              </a:rPr>
              <a:t>（算力利用率）</a:t>
            </a:r>
            <a:r>
              <a:rPr lang="en-US" altLang="zh-CN" sz="1600" dirty="0">
                <a:solidFill>
                  <a:schemeClr val="tx1">
                    <a:lumMod val="85000"/>
                    <a:lumOff val="15000"/>
                  </a:schemeClr>
                </a:solidFill>
                <a:latin typeface="+mn-ea"/>
                <a:cs typeface="+mn-ea"/>
                <a:sym typeface="+mn-ea"/>
              </a:rPr>
              <a:t> </a:t>
            </a:r>
            <a:r>
              <a:rPr lang="zh-CN" altLang="en-US" sz="1600" dirty="0">
                <a:solidFill>
                  <a:schemeClr val="tx1">
                    <a:lumMod val="85000"/>
                    <a:lumOff val="15000"/>
                  </a:schemeClr>
                </a:solidFill>
                <a:latin typeface="+mn-ea"/>
                <a:cs typeface="+mn-ea"/>
                <a:sym typeface="+mn-ea"/>
              </a:rPr>
              <a:t>为目标牵引、</a:t>
            </a:r>
            <a:r>
              <a:rPr lang="en-US" altLang="zh-CN" sz="1600" dirty="0">
                <a:solidFill>
                  <a:schemeClr val="tx1">
                    <a:lumMod val="85000"/>
                    <a:lumOff val="15000"/>
                  </a:schemeClr>
                </a:solidFill>
                <a:latin typeface="+mn-ea"/>
                <a:cs typeface="+mn-ea"/>
                <a:sym typeface="+mn-ea"/>
              </a:rPr>
              <a:t>TOR</a:t>
            </a:r>
            <a:r>
              <a:rPr lang="zh-CN" altLang="en-US" sz="1600" dirty="0">
                <a:solidFill>
                  <a:schemeClr val="tx1">
                    <a:lumMod val="85000"/>
                    <a:lumOff val="15000"/>
                  </a:schemeClr>
                </a:solidFill>
                <a:latin typeface="+mn-ea"/>
                <a:cs typeface="+mn-ea"/>
                <a:sym typeface="+mn-ea"/>
              </a:rPr>
              <a:t>（训练开销比）</a:t>
            </a:r>
            <a:r>
              <a:rPr lang="en-US" altLang="zh-CN" sz="1600" dirty="0">
                <a:solidFill>
                  <a:schemeClr val="tx1">
                    <a:lumMod val="85000"/>
                    <a:lumOff val="15000"/>
                  </a:schemeClr>
                </a:solidFill>
                <a:latin typeface="+mn-ea"/>
                <a:cs typeface="+mn-ea"/>
                <a:sym typeface="+mn-ea"/>
              </a:rPr>
              <a:t> </a:t>
            </a:r>
            <a:r>
              <a:rPr lang="zh-CN" altLang="en-US" sz="1600" dirty="0">
                <a:solidFill>
                  <a:schemeClr val="tx1">
                    <a:lumMod val="85000"/>
                    <a:lumOff val="15000"/>
                  </a:schemeClr>
                </a:solidFill>
                <a:latin typeface="+mn-ea"/>
                <a:cs typeface="+mn-ea"/>
                <a:sym typeface="+mn-ea"/>
              </a:rPr>
              <a:t>为瓶颈诊断的双重指标体系。通过量化通信等待与流水线气泡开销，精准定位性能短板并指导调优方向。</a:t>
            </a:r>
            <a:endParaRPr lang="zh-CN" altLang="en-US" sz="1600" dirty="0">
              <a:solidFill>
                <a:schemeClr val="tx1">
                  <a:lumMod val="85000"/>
                  <a:lumOff val="15000"/>
                </a:schemeClr>
              </a:solidFill>
              <a:latin typeface="+mn-ea"/>
              <a:cs typeface="+mn-ea"/>
              <a:sym typeface="+mn-ea"/>
            </a:endParaRPr>
          </a:p>
        </p:txBody>
      </p:sp>
      <p:pic>
        <p:nvPicPr>
          <p:cNvPr id="160548566" name="图片 1" descr="图示&#10;&#10;AI 生成的内容可能不正确。"/>
          <p:cNvPicPr>
            <a:picLocks noChangeAspect="1"/>
          </p:cNvPicPr>
          <p:nvPr>
            <p:custDataLst>
              <p:tags r:id="rId12"/>
            </p:custDataLst>
          </p:nvPr>
        </p:nvPicPr>
        <p:blipFill>
          <a:blip r:embed="rId13"/>
          <a:stretch>
            <a:fillRect/>
          </a:stretch>
        </p:blipFill>
        <p:spPr>
          <a:xfrm>
            <a:off x="7808595" y="2012315"/>
            <a:ext cx="4168775" cy="2329815"/>
          </a:xfrm>
          <a:prstGeom prst="rect">
            <a:avLst/>
          </a:prstGeom>
        </p:spPr>
      </p:pic>
      <p:sp>
        <p:nvSpPr>
          <p:cNvPr id="6" name="文本框 5"/>
          <p:cNvSpPr txBox="1"/>
          <p:nvPr/>
        </p:nvSpPr>
        <p:spPr>
          <a:xfrm>
            <a:off x="8649970" y="4408170"/>
            <a:ext cx="2486025" cy="338455"/>
          </a:xfrm>
          <a:prstGeom prst="rect">
            <a:avLst/>
          </a:prstGeom>
        </p:spPr>
        <p:txBody>
          <a:bodyPr wrap="square">
            <a:spAutoFit/>
          </a:bodyPr>
          <a:lstStyle/>
          <a:p>
            <a:pPr defTabSz="269875">
              <a:lnSpc>
                <a:spcPct val="115000"/>
              </a:lnSpc>
            </a:pPr>
            <a:r>
              <a:rPr lang="zh-CN" sz="1400">
                <a:latin typeface="Arial" panose="020B0604020202020204"/>
                <a:ea typeface="宋体" panose="02010600030101010101" pitchFamily="2" charset="-122"/>
              </a:rPr>
              <a:t>性能建模与闭环优化体系</a:t>
            </a:r>
            <a:endParaRPr lang="zh-CN" altLang="en-US" sz="1400">
              <a:latin typeface="Arial" panose="020B0604020202020204"/>
              <a:ea typeface="等线" panose="02010600030101010101" charset="-122"/>
            </a:endParaRPr>
          </a:p>
        </p:txBody>
      </p:sp>
    </p:spTree>
    <p:custDataLst>
      <p:tags r:id="rId1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00706" y="2550858"/>
            <a:ext cx="7168514" cy="1568450"/>
            <a:chOff x="2277534" y="2395918"/>
            <a:chExt cx="6620974" cy="1568450"/>
          </a:xfrm>
        </p:grpSpPr>
        <p:sp>
          <p:nvSpPr>
            <p:cNvPr id="10" name="文本框 9"/>
            <p:cNvSpPr txBox="1"/>
            <p:nvPr/>
          </p:nvSpPr>
          <p:spPr>
            <a:xfrm>
              <a:off x="2277534" y="2395918"/>
              <a:ext cx="2504016" cy="1568450"/>
            </a:xfrm>
            <a:prstGeom prst="rect">
              <a:avLst/>
            </a:prstGeom>
            <a:noFill/>
          </p:spPr>
          <p:txBody>
            <a:bodyPr wrap="square" rtlCol="0">
              <a:spAutoFit/>
            </a:bodyPr>
            <a:lstStyle>
              <a:lvl1pPr algn="ctr">
                <a:defRPr sz="13800" b="1">
                  <a:ln>
                    <a:solidFill>
                      <a:schemeClr val="bg1">
                        <a:alpha val="70000"/>
                      </a:schemeClr>
                    </a:solidFill>
                  </a:ln>
                  <a:noFill/>
                  <a:latin typeface="Tahoma" panose="020B0604030504040204" pitchFamily="34" charset="0"/>
                  <a:ea typeface="Tahoma" panose="020B0604030504040204" pitchFamily="34" charset="0"/>
                  <a:cs typeface="Tahoma" panose="020B0604030504040204" pitchFamily="34" charset="0"/>
                </a:defRPr>
              </a:lvl1pPr>
            </a:lstStyle>
            <a:p>
              <a:r>
                <a:rPr lang="en-US" altLang="zh-CN" sz="9600" dirty="0">
                  <a:ln>
                    <a:solidFill>
                      <a:schemeClr val="bg1">
                        <a:alpha val="80000"/>
                      </a:schemeClr>
                    </a:solidFill>
                  </a:ln>
                  <a:latin typeface="Calibri" panose="020F0502020204030204" charset="0"/>
                  <a:ea typeface="宋体" panose="02010600030101010101" pitchFamily="2" charset="-122"/>
                </a:rPr>
                <a:t>03</a:t>
              </a:r>
              <a:endParaRPr lang="en-US" altLang="zh-CN" sz="9600" dirty="0">
                <a:ln>
                  <a:solidFill>
                    <a:schemeClr val="bg1">
                      <a:alpha val="80000"/>
                    </a:schemeClr>
                  </a:solidFill>
                </a:ln>
                <a:latin typeface="Calibri" panose="020F0502020204030204" charset="0"/>
                <a:ea typeface="宋体" panose="02010600030101010101" pitchFamily="2" charset="-122"/>
              </a:endParaRPr>
            </a:p>
          </p:txBody>
        </p:sp>
        <p:sp>
          <p:nvSpPr>
            <p:cNvPr id="11" name="文本框 10"/>
            <p:cNvSpPr txBox="1"/>
            <p:nvPr/>
          </p:nvSpPr>
          <p:spPr>
            <a:xfrm>
              <a:off x="4943753" y="2813113"/>
              <a:ext cx="3954755" cy="922020"/>
            </a:xfrm>
            <a:prstGeom prst="rect">
              <a:avLst/>
            </a:prstGeom>
            <a:noFill/>
          </p:spPr>
          <p:txBody>
            <a:bodyPr wrap="square" rtlCol="0">
              <a:spAutoFit/>
            </a:bodyPr>
            <a:lstStyle>
              <a:defPPr>
                <a:defRPr lang="en-US"/>
              </a:defPPr>
              <a:lvl1pPr>
                <a:defRPr b="1">
                  <a:latin typeface="微软雅黑" panose="020B0503020204020204" pitchFamily="34" charset="-122"/>
                  <a:ea typeface="微软雅黑" panose="020B0503020204020204" pitchFamily="34" charset="-122"/>
                </a:defRPr>
              </a:lvl1pPr>
            </a:lstStyle>
            <a:p>
              <a:pPr algn="dist"/>
              <a:r>
                <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rPr>
                <a:t>研究目标</a:t>
              </a:r>
              <a:endPar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endParaRPr>
            </a:p>
          </p:txBody>
        </p:sp>
        <p:cxnSp>
          <p:nvCxnSpPr>
            <p:cNvPr id="16" name="直接连接符 15"/>
            <p:cNvCxnSpPr/>
            <p:nvPr/>
          </p:nvCxnSpPr>
          <p:spPr>
            <a:xfrm>
              <a:off x="4711700" y="2698750"/>
              <a:ext cx="0" cy="107632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2"/>
          <p:cNvPicPr>
            <a:picLocks noChangeAspect="1"/>
          </p:cNvPicPr>
          <p:nvPr/>
        </p:nvPicPr>
        <p:blipFill>
          <a:blip r:embed="rId1"/>
          <a:stretch>
            <a:fillRect/>
          </a:stretch>
        </p:blipFill>
        <p:spPr>
          <a:xfrm>
            <a:off x="9411854" y="6355972"/>
            <a:ext cx="2780146" cy="492792"/>
          </a:xfrm>
          <a:prstGeom prst="rect">
            <a:avLst/>
          </a:prstGeom>
        </p:spPr>
      </p:pic>
      <p:sp>
        <p:nvSpPr>
          <p:cNvPr id="144" name="矩形 143"/>
          <p:cNvSpPr/>
          <p:nvPr>
            <p:custDataLst>
              <p:tags r:id="rId2"/>
            </p:custDataLst>
          </p:nvPr>
        </p:nvSpPr>
        <p:spPr>
          <a:xfrm>
            <a:off x="739775" y="2743200"/>
            <a:ext cx="5081270" cy="3301365"/>
          </a:xfrm>
          <a:prstGeom prst="rect">
            <a:avLst/>
          </a:prstGeom>
          <a:gradFill>
            <a:gsLst>
              <a:gs pos="52000">
                <a:schemeClr val="accent1">
                  <a:alpha val="0"/>
                </a:schemeClr>
              </a:gs>
              <a:gs pos="0">
                <a:schemeClr val="accent1">
                  <a:alpha val="20000"/>
                </a:schemeClr>
              </a:gs>
              <a:gs pos="100000">
                <a:schemeClr val="accent1">
                  <a:alpha val="10000"/>
                </a:schemeClr>
              </a:gs>
            </a:gsLst>
            <a:lin ang="2700000" scaled="0"/>
          </a:gradFill>
          <a:ln w="6350" cap="flat">
            <a:gradFill>
              <a:gsLst>
                <a:gs pos="25000">
                  <a:schemeClr val="accent1">
                    <a:alpha val="0"/>
                  </a:schemeClr>
                </a:gs>
                <a:gs pos="100000">
                  <a:schemeClr val="accent1">
                    <a:alpha val="70000"/>
                  </a:schemeClr>
                </a:gs>
              </a:gsLst>
              <a:lin ang="5280000" scaled="0"/>
            </a:gradFill>
            <a:prstDash val="solid"/>
            <a:miter/>
          </a:ln>
          <a:effectLst>
            <a:outerShdw blurRad="127000" dist="266700" dir="4080000" sx="90000" sy="90000" algn="tl" rotWithShape="0">
              <a:schemeClr val="accent1">
                <a:lumMod val="60000"/>
                <a:lumOff val="4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latin typeface="MiSans Normal" panose="00000500000000000000" charset="-122"/>
              <a:ea typeface="MiSans Normal" panose="00000500000000000000" charset="-122"/>
              <a:sym typeface="MiSans Normal" panose="00000500000000000000" charset="-122"/>
            </a:endParaRPr>
          </a:p>
        </p:txBody>
      </p:sp>
      <p:sp>
        <p:nvSpPr>
          <p:cNvPr id="145" name="任意多边形 144"/>
          <p:cNvSpPr/>
          <p:nvPr>
            <p:custDataLst>
              <p:tags r:id="rId3"/>
            </p:custDataLst>
          </p:nvPr>
        </p:nvSpPr>
        <p:spPr>
          <a:xfrm rot="16200000">
            <a:off x="1082040" y="5422265"/>
            <a:ext cx="323850" cy="1016000"/>
          </a:xfrm>
          <a:custGeom>
            <a:avLst/>
            <a:gdLst>
              <a:gd name="adj1" fmla="val 8991"/>
              <a:gd name="adj2" fmla="val 8991"/>
              <a:gd name="maxAdj2" fmla="*/ 100000 w ss"/>
              <a:gd name="a2" fmla="pin 0 adj2 maxAdj2"/>
              <a:gd name="x1" fmla="*/ ss a2 100000"/>
              <a:gd name="g1" fmla="*/ h x1 w"/>
              <a:gd name="g2" fmla="+- h 0 g1"/>
              <a:gd name="maxAdj1" fmla="*/ 100000 g2 ss"/>
              <a:gd name="a1" fmla="pin 0 adj1 maxAdj1"/>
              <a:gd name="y1" fmla="*/ ss a1 100000"/>
              <a:gd name="dx2" fmla="*/ y1 w h"/>
              <a:gd name="x2" fmla="+- r 0 dx2"/>
              <a:gd name="dy2" fmla="*/ x1 h w"/>
              <a:gd name="y2" fmla="+- b 0 dy2"/>
              <a:gd name="cx1" fmla="*/ x1 1 2"/>
              <a:gd name="cy1" fmla="+/ y2 b 2"/>
              <a:gd name="cx2" fmla="+/ x2 r 2"/>
              <a:gd name="cy2" fmla="*/ y1 1 2"/>
            </a:gdLst>
            <a:ahLst/>
            <a:cxnLst>
              <a:cxn ang="0">
                <a:pos x="cx2" y="cy2"/>
              </a:cxn>
              <a:cxn ang="cd4">
                <a:pos x="cx1" y="cy1"/>
              </a:cxn>
              <a:cxn ang="cd2">
                <a:pos x="l" y="vc"/>
              </a:cxn>
              <a:cxn ang="3">
                <a:pos x="hc" y="t"/>
              </a:cxn>
            </a:cxnLst>
            <a:rect l="l" t="t" r="r" b="b"/>
            <a:pathLst>
              <a:path w="805" h="2525">
                <a:moveTo>
                  <a:pt x="50" y="0"/>
                </a:moveTo>
                <a:lnTo>
                  <a:pt x="805" y="0"/>
                </a:lnTo>
                <a:lnTo>
                  <a:pt x="785" y="68"/>
                </a:lnTo>
                <a:lnTo>
                  <a:pt x="272" y="68"/>
                </a:lnTo>
                <a:lnTo>
                  <a:pt x="118" y="239"/>
                </a:lnTo>
                <a:lnTo>
                  <a:pt x="118" y="2298"/>
                </a:lnTo>
                <a:lnTo>
                  <a:pt x="50" y="2525"/>
                </a:lnTo>
                <a:lnTo>
                  <a:pt x="50" y="1531"/>
                </a:lnTo>
                <a:lnTo>
                  <a:pt x="0" y="1506"/>
                </a:lnTo>
                <a:lnTo>
                  <a:pt x="0" y="1029"/>
                </a:lnTo>
                <a:lnTo>
                  <a:pt x="50" y="1004"/>
                </a:lnTo>
                <a:lnTo>
                  <a:pt x="50" y="0"/>
                </a:lnTo>
                <a:close/>
                <a:moveTo>
                  <a:pt x="746" y="120"/>
                </a:moveTo>
                <a:lnTo>
                  <a:pt x="669" y="190"/>
                </a:lnTo>
                <a:lnTo>
                  <a:pt x="259" y="190"/>
                </a:lnTo>
                <a:lnTo>
                  <a:pt x="335" y="120"/>
                </a:lnTo>
                <a:lnTo>
                  <a:pt x="746" y="120"/>
                </a:lnTo>
                <a:close/>
              </a:path>
            </a:pathLst>
          </a:custGeom>
          <a:gradFill>
            <a:gsLst>
              <a:gs pos="0">
                <a:schemeClr val="accent1">
                  <a:alpha val="0"/>
                </a:schemeClr>
              </a:gs>
              <a:gs pos="100000">
                <a:schemeClr val="accent1">
                  <a:alpha val="100000"/>
                </a:schemeClr>
              </a:gs>
            </a:gsLst>
            <a:lin ang="162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146" name="任意多边形 145"/>
          <p:cNvSpPr/>
          <p:nvPr>
            <p:custDataLst>
              <p:tags r:id="rId4"/>
            </p:custDataLst>
          </p:nvPr>
        </p:nvSpPr>
        <p:spPr>
          <a:xfrm rot="5400000" flipH="1">
            <a:off x="5448935" y="5693410"/>
            <a:ext cx="352425" cy="455930"/>
          </a:xfrm>
          <a:custGeom>
            <a:avLst/>
            <a:gdLst>
              <a:gd name="adj1" fmla="val 8991"/>
              <a:gd name="adj2" fmla="val 8991"/>
              <a:gd name="maxAdj2" fmla="*/ 100000 w ss"/>
              <a:gd name="a2" fmla="pin 0 adj2 maxAdj2"/>
              <a:gd name="x1" fmla="*/ ss a2 100000"/>
              <a:gd name="g1" fmla="*/ h x1 w"/>
              <a:gd name="g2" fmla="+- h 0 g1"/>
              <a:gd name="maxAdj1" fmla="*/ 100000 g2 ss"/>
              <a:gd name="a1" fmla="pin 0 adj1 maxAdj1"/>
              <a:gd name="y1" fmla="*/ ss a1 100000"/>
              <a:gd name="dx2" fmla="*/ y1 w h"/>
              <a:gd name="x2" fmla="+- r 0 dx2"/>
              <a:gd name="dy2" fmla="*/ x1 h w"/>
              <a:gd name="y2" fmla="+- b 0 dy2"/>
              <a:gd name="cx1" fmla="*/ x1 1 2"/>
              <a:gd name="cy1" fmla="+/ y2 b 2"/>
              <a:gd name="cx2" fmla="+/ x2 r 2"/>
              <a:gd name="cy2" fmla="*/ y1 1 2"/>
            </a:gdLst>
            <a:ahLst/>
            <a:cxnLst>
              <a:cxn ang="0">
                <a:pos x="cx2" y="cy2"/>
              </a:cxn>
              <a:cxn ang="cd4">
                <a:pos x="cx1" y="cy1"/>
              </a:cxn>
              <a:cxn ang="cd2">
                <a:pos x="l" y="vc"/>
              </a:cxn>
              <a:cxn ang="3">
                <a:pos x="hc" y="t"/>
              </a:cxn>
            </a:cxnLst>
            <a:rect l="l" t="t" r="r" b="b"/>
            <a:pathLst>
              <a:path w="737" h="954">
                <a:moveTo>
                  <a:pt x="45" y="0"/>
                </a:moveTo>
                <a:lnTo>
                  <a:pt x="737" y="0"/>
                </a:lnTo>
                <a:lnTo>
                  <a:pt x="692" y="62"/>
                </a:lnTo>
                <a:lnTo>
                  <a:pt x="107" y="62"/>
                </a:lnTo>
                <a:lnTo>
                  <a:pt x="107" y="868"/>
                </a:lnTo>
                <a:lnTo>
                  <a:pt x="45" y="954"/>
                </a:lnTo>
                <a:lnTo>
                  <a:pt x="45" y="647"/>
                </a:lnTo>
                <a:lnTo>
                  <a:pt x="0" y="625"/>
                </a:lnTo>
                <a:lnTo>
                  <a:pt x="0" y="142"/>
                </a:lnTo>
                <a:lnTo>
                  <a:pt x="45" y="120"/>
                </a:lnTo>
                <a:lnTo>
                  <a:pt x="45" y="0"/>
                </a:lnTo>
                <a:close/>
              </a:path>
            </a:pathLst>
          </a:custGeom>
          <a:gradFill>
            <a:gsLst>
              <a:gs pos="0">
                <a:schemeClr val="accent1">
                  <a:alpha val="0"/>
                </a:schemeClr>
              </a:gs>
              <a:gs pos="100000">
                <a:schemeClr val="accent1">
                  <a:alpha val="100000"/>
                </a:schemeClr>
              </a:gs>
            </a:gsLst>
            <a:lin ang="162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18" name="矩形 17"/>
          <p:cNvSpPr/>
          <p:nvPr>
            <p:custDataLst>
              <p:tags r:id="rId5"/>
            </p:custDataLst>
          </p:nvPr>
        </p:nvSpPr>
        <p:spPr>
          <a:xfrm>
            <a:off x="6448425" y="2743200"/>
            <a:ext cx="5081270" cy="3301365"/>
          </a:xfrm>
          <a:prstGeom prst="rect">
            <a:avLst/>
          </a:prstGeom>
          <a:gradFill>
            <a:gsLst>
              <a:gs pos="52000">
                <a:schemeClr val="accent2">
                  <a:alpha val="0"/>
                </a:schemeClr>
              </a:gs>
              <a:gs pos="0">
                <a:schemeClr val="accent2">
                  <a:alpha val="20000"/>
                </a:schemeClr>
              </a:gs>
              <a:gs pos="100000">
                <a:schemeClr val="accent2">
                  <a:alpha val="10000"/>
                </a:schemeClr>
              </a:gs>
            </a:gsLst>
            <a:lin ang="2700000" scaled="0"/>
          </a:gradFill>
          <a:ln w="6350" cap="flat">
            <a:gradFill>
              <a:gsLst>
                <a:gs pos="25000">
                  <a:schemeClr val="accent2">
                    <a:alpha val="0"/>
                  </a:schemeClr>
                </a:gs>
                <a:gs pos="100000">
                  <a:schemeClr val="accent2">
                    <a:alpha val="70000"/>
                  </a:schemeClr>
                </a:gs>
              </a:gsLst>
              <a:lin ang="5280000" scaled="0"/>
            </a:gradFill>
            <a:prstDash val="solid"/>
            <a:miter/>
          </a:ln>
          <a:effectLst>
            <a:outerShdw blurRad="127000" dist="266700" dir="4080000" sx="90000" sy="90000" algn="tl" rotWithShape="0">
              <a:schemeClr val="accent2">
                <a:lumMod val="60000"/>
                <a:lumOff val="4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latin typeface="MiSans Normal" panose="00000500000000000000" charset="-122"/>
              <a:ea typeface="MiSans Normal" panose="00000500000000000000" charset="-122"/>
              <a:sym typeface="MiSans Normal" panose="00000500000000000000" charset="-122"/>
            </a:endParaRPr>
          </a:p>
        </p:txBody>
      </p:sp>
      <p:sp>
        <p:nvSpPr>
          <p:cNvPr id="19" name="任意多边形 18"/>
          <p:cNvSpPr/>
          <p:nvPr>
            <p:custDataLst>
              <p:tags r:id="rId6"/>
            </p:custDataLst>
          </p:nvPr>
        </p:nvSpPr>
        <p:spPr>
          <a:xfrm rot="16200000">
            <a:off x="6790690" y="5422265"/>
            <a:ext cx="323850" cy="1016000"/>
          </a:xfrm>
          <a:custGeom>
            <a:avLst/>
            <a:gdLst>
              <a:gd name="adj1" fmla="val 8991"/>
              <a:gd name="adj2" fmla="val 8991"/>
              <a:gd name="maxAdj2" fmla="*/ 100000 w ss"/>
              <a:gd name="a2" fmla="pin 0 adj2 maxAdj2"/>
              <a:gd name="x1" fmla="*/ ss a2 100000"/>
              <a:gd name="g1" fmla="*/ h x1 w"/>
              <a:gd name="g2" fmla="+- h 0 g1"/>
              <a:gd name="maxAdj1" fmla="*/ 100000 g2 ss"/>
              <a:gd name="a1" fmla="pin 0 adj1 maxAdj1"/>
              <a:gd name="y1" fmla="*/ ss a1 100000"/>
              <a:gd name="dx2" fmla="*/ y1 w h"/>
              <a:gd name="x2" fmla="+- r 0 dx2"/>
              <a:gd name="dy2" fmla="*/ x1 h w"/>
              <a:gd name="y2" fmla="+- b 0 dy2"/>
              <a:gd name="cx1" fmla="*/ x1 1 2"/>
              <a:gd name="cy1" fmla="+/ y2 b 2"/>
              <a:gd name="cx2" fmla="+/ x2 r 2"/>
              <a:gd name="cy2" fmla="*/ y1 1 2"/>
            </a:gdLst>
            <a:ahLst/>
            <a:cxnLst>
              <a:cxn ang="0">
                <a:pos x="cx2" y="cy2"/>
              </a:cxn>
              <a:cxn ang="cd4">
                <a:pos x="cx1" y="cy1"/>
              </a:cxn>
              <a:cxn ang="cd2">
                <a:pos x="l" y="vc"/>
              </a:cxn>
              <a:cxn ang="3">
                <a:pos x="hc" y="t"/>
              </a:cxn>
            </a:cxnLst>
            <a:rect l="l" t="t" r="r" b="b"/>
            <a:pathLst>
              <a:path w="805" h="2525">
                <a:moveTo>
                  <a:pt x="50" y="0"/>
                </a:moveTo>
                <a:lnTo>
                  <a:pt x="805" y="0"/>
                </a:lnTo>
                <a:lnTo>
                  <a:pt x="785" y="68"/>
                </a:lnTo>
                <a:lnTo>
                  <a:pt x="272" y="68"/>
                </a:lnTo>
                <a:lnTo>
                  <a:pt x="118" y="239"/>
                </a:lnTo>
                <a:lnTo>
                  <a:pt x="118" y="2298"/>
                </a:lnTo>
                <a:lnTo>
                  <a:pt x="50" y="2525"/>
                </a:lnTo>
                <a:lnTo>
                  <a:pt x="50" y="1531"/>
                </a:lnTo>
                <a:lnTo>
                  <a:pt x="0" y="1506"/>
                </a:lnTo>
                <a:lnTo>
                  <a:pt x="0" y="1029"/>
                </a:lnTo>
                <a:lnTo>
                  <a:pt x="50" y="1004"/>
                </a:lnTo>
                <a:lnTo>
                  <a:pt x="50" y="0"/>
                </a:lnTo>
                <a:close/>
                <a:moveTo>
                  <a:pt x="746" y="120"/>
                </a:moveTo>
                <a:lnTo>
                  <a:pt x="669" y="190"/>
                </a:lnTo>
                <a:lnTo>
                  <a:pt x="259" y="190"/>
                </a:lnTo>
                <a:lnTo>
                  <a:pt x="335" y="120"/>
                </a:lnTo>
                <a:lnTo>
                  <a:pt x="746" y="120"/>
                </a:lnTo>
                <a:close/>
              </a:path>
            </a:pathLst>
          </a:custGeom>
          <a:gradFill>
            <a:gsLst>
              <a:gs pos="0">
                <a:schemeClr val="accent2">
                  <a:alpha val="0"/>
                </a:schemeClr>
              </a:gs>
              <a:gs pos="100000">
                <a:schemeClr val="accent2">
                  <a:alpha val="100000"/>
                </a:schemeClr>
              </a:gs>
            </a:gsLst>
            <a:lin ang="162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20" name="任意多边形 19"/>
          <p:cNvSpPr/>
          <p:nvPr>
            <p:custDataLst>
              <p:tags r:id="rId7"/>
            </p:custDataLst>
          </p:nvPr>
        </p:nvSpPr>
        <p:spPr>
          <a:xfrm rot="5400000" flipH="1">
            <a:off x="11157585" y="5693410"/>
            <a:ext cx="352425" cy="455930"/>
          </a:xfrm>
          <a:custGeom>
            <a:avLst/>
            <a:gdLst>
              <a:gd name="adj1" fmla="val 8991"/>
              <a:gd name="adj2" fmla="val 8991"/>
              <a:gd name="maxAdj2" fmla="*/ 100000 w ss"/>
              <a:gd name="a2" fmla="pin 0 adj2 maxAdj2"/>
              <a:gd name="x1" fmla="*/ ss a2 100000"/>
              <a:gd name="g1" fmla="*/ h x1 w"/>
              <a:gd name="g2" fmla="+- h 0 g1"/>
              <a:gd name="maxAdj1" fmla="*/ 100000 g2 ss"/>
              <a:gd name="a1" fmla="pin 0 adj1 maxAdj1"/>
              <a:gd name="y1" fmla="*/ ss a1 100000"/>
              <a:gd name="dx2" fmla="*/ y1 w h"/>
              <a:gd name="x2" fmla="+- r 0 dx2"/>
              <a:gd name="dy2" fmla="*/ x1 h w"/>
              <a:gd name="y2" fmla="+- b 0 dy2"/>
              <a:gd name="cx1" fmla="*/ x1 1 2"/>
              <a:gd name="cy1" fmla="+/ y2 b 2"/>
              <a:gd name="cx2" fmla="+/ x2 r 2"/>
              <a:gd name="cy2" fmla="*/ y1 1 2"/>
            </a:gdLst>
            <a:ahLst/>
            <a:cxnLst>
              <a:cxn ang="0">
                <a:pos x="cx2" y="cy2"/>
              </a:cxn>
              <a:cxn ang="cd4">
                <a:pos x="cx1" y="cy1"/>
              </a:cxn>
              <a:cxn ang="cd2">
                <a:pos x="l" y="vc"/>
              </a:cxn>
              <a:cxn ang="3">
                <a:pos x="hc" y="t"/>
              </a:cxn>
            </a:cxnLst>
            <a:rect l="l" t="t" r="r" b="b"/>
            <a:pathLst>
              <a:path w="737" h="954">
                <a:moveTo>
                  <a:pt x="45" y="0"/>
                </a:moveTo>
                <a:lnTo>
                  <a:pt x="737" y="0"/>
                </a:lnTo>
                <a:lnTo>
                  <a:pt x="692" y="62"/>
                </a:lnTo>
                <a:lnTo>
                  <a:pt x="107" y="62"/>
                </a:lnTo>
                <a:lnTo>
                  <a:pt x="107" y="868"/>
                </a:lnTo>
                <a:lnTo>
                  <a:pt x="45" y="954"/>
                </a:lnTo>
                <a:lnTo>
                  <a:pt x="45" y="647"/>
                </a:lnTo>
                <a:lnTo>
                  <a:pt x="0" y="625"/>
                </a:lnTo>
                <a:lnTo>
                  <a:pt x="0" y="142"/>
                </a:lnTo>
                <a:lnTo>
                  <a:pt x="45" y="120"/>
                </a:lnTo>
                <a:lnTo>
                  <a:pt x="45" y="0"/>
                </a:lnTo>
                <a:close/>
              </a:path>
            </a:pathLst>
          </a:custGeom>
          <a:gradFill>
            <a:gsLst>
              <a:gs pos="0">
                <a:schemeClr val="accent2">
                  <a:alpha val="0"/>
                </a:schemeClr>
              </a:gs>
              <a:gs pos="100000">
                <a:schemeClr val="accent2">
                  <a:alpha val="100000"/>
                </a:schemeClr>
              </a:gs>
            </a:gsLst>
            <a:lin ang="162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pic>
        <p:nvPicPr>
          <p:cNvPr id="23" name="图片 22" descr="E:/设计图片素材/7966031_.jpg7966031_"/>
          <p:cNvPicPr>
            <a:picLocks noChangeAspect="1"/>
          </p:cNvPicPr>
          <p:nvPr>
            <p:custDataLst>
              <p:tags r:id="rId8"/>
            </p:custDataLst>
          </p:nvPr>
        </p:nvPicPr>
        <p:blipFill>
          <a:blip r:embed="rId9"/>
          <a:srcRect t="14615" b="14615"/>
          <a:stretch>
            <a:fillRect/>
          </a:stretch>
        </p:blipFill>
        <p:spPr>
          <a:xfrm>
            <a:off x="6454140" y="1726692"/>
            <a:ext cx="5074920" cy="2020570"/>
          </a:xfrm>
          <a:custGeom>
            <a:avLst/>
            <a:gdLst/>
            <a:ahLst/>
            <a:cxnLst>
              <a:cxn ang="3">
                <a:pos x="hc" y="t"/>
              </a:cxn>
              <a:cxn ang="cd2">
                <a:pos x="l" y="vc"/>
              </a:cxn>
              <a:cxn ang="cd4">
                <a:pos x="hc" y="b"/>
              </a:cxn>
              <a:cxn ang="0">
                <a:pos x="r" y="vc"/>
              </a:cxn>
            </a:cxnLst>
            <a:rect l="l" t="t" r="r" b="b"/>
            <a:pathLst>
              <a:path w="7992" h="3182">
                <a:moveTo>
                  <a:pt x="0" y="0"/>
                </a:moveTo>
                <a:lnTo>
                  <a:pt x="7462" y="0"/>
                </a:lnTo>
                <a:lnTo>
                  <a:pt x="7992" y="530"/>
                </a:lnTo>
                <a:lnTo>
                  <a:pt x="7992" y="3182"/>
                </a:lnTo>
                <a:lnTo>
                  <a:pt x="530" y="3182"/>
                </a:lnTo>
                <a:lnTo>
                  <a:pt x="0" y="2652"/>
                </a:lnTo>
                <a:lnTo>
                  <a:pt x="0" y="0"/>
                </a:lnTo>
                <a:close/>
              </a:path>
            </a:pathLst>
          </a:custGeom>
          <a:ln w="6350">
            <a:solidFill>
              <a:schemeClr val="accent2">
                <a:alpha val="70000"/>
              </a:schemeClr>
            </a:solidFill>
          </a:ln>
        </p:spPr>
      </p:pic>
      <p:sp>
        <p:nvSpPr>
          <p:cNvPr id="78" name="任意多边形 77"/>
          <p:cNvSpPr/>
          <p:nvPr>
            <p:custDataLst>
              <p:tags r:id="rId10"/>
            </p:custDataLst>
          </p:nvPr>
        </p:nvSpPr>
        <p:spPr>
          <a:xfrm>
            <a:off x="2879408" y="3906012"/>
            <a:ext cx="814705" cy="529590"/>
          </a:xfrm>
          <a:custGeom>
            <a:avLst/>
            <a:gdLst/>
            <a:ahLst/>
            <a:cxnLst>
              <a:cxn ang="3">
                <a:pos x="hc" y="t"/>
              </a:cxn>
              <a:cxn ang="cd2">
                <a:pos x="l" y="vc"/>
              </a:cxn>
              <a:cxn ang="cd4">
                <a:pos x="hc" y="b"/>
              </a:cxn>
              <a:cxn ang="0">
                <a:pos x="r" y="vc"/>
              </a:cxn>
            </a:cxnLst>
            <a:rect l="l" t="t" r="r" b="b"/>
            <a:pathLst>
              <a:path w="1283" h="834">
                <a:moveTo>
                  <a:pt x="0" y="1"/>
                </a:moveTo>
                <a:lnTo>
                  <a:pt x="222" y="1"/>
                </a:lnTo>
                <a:lnTo>
                  <a:pt x="222" y="714"/>
                </a:lnTo>
                <a:lnTo>
                  <a:pt x="511" y="714"/>
                </a:lnTo>
                <a:lnTo>
                  <a:pt x="511" y="121"/>
                </a:lnTo>
                <a:lnTo>
                  <a:pt x="223" y="121"/>
                </a:lnTo>
                <a:lnTo>
                  <a:pt x="262" y="1"/>
                </a:lnTo>
                <a:lnTo>
                  <a:pt x="568" y="1"/>
                </a:lnTo>
                <a:lnTo>
                  <a:pt x="733" y="157"/>
                </a:lnTo>
                <a:lnTo>
                  <a:pt x="733" y="678"/>
                </a:lnTo>
                <a:lnTo>
                  <a:pt x="568" y="834"/>
                </a:lnTo>
                <a:lnTo>
                  <a:pt x="166" y="834"/>
                </a:lnTo>
                <a:lnTo>
                  <a:pt x="0" y="678"/>
                </a:lnTo>
                <a:lnTo>
                  <a:pt x="0" y="1"/>
                </a:lnTo>
                <a:close/>
                <a:moveTo>
                  <a:pt x="890" y="0"/>
                </a:moveTo>
                <a:lnTo>
                  <a:pt x="1178" y="0"/>
                </a:lnTo>
                <a:lnTo>
                  <a:pt x="1178" y="714"/>
                </a:lnTo>
                <a:lnTo>
                  <a:pt x="1283" y="714"/>
                </a:lnTo>
                <a:lnTo>
                  <a:pt x="1283" y="834"/>
                </a:lnTo>
                <a:lnTo>
                  <a:pt x="827" y="834"/>
                </a:lnTo>
                <a:lnTo>
                  <a:pt x="865" y="714"/>
                </a:lnTo>
                <a:lnTo>
                  <a:pt x="956" y="714"/>
                </a:lnTo>
                <a:lnTo>
                  <a:pt x="956" y="120"/>
                </a:lnTo>
                <a:lnTo>
                  <a:pt x="852" y="120"/>
                </a:lnTo>
                <a:lnTo>
                  <a:pt x="890" y="0"/>
                </a:lnTo>
                <a:close/>
              </a:path>
            </a:pathLst>
          </a:custGeom>
          <a:gradFill>
            <a:gsLst>
              <a:gs pos="0">
                <a:schemeClr val="accent1">
                  <a:lumMod val="60000"/>
                  <a:lumOff val="40000"/>
                  <a:alpha val="0"/>
                </a:schemeClr>
              </a:gs>
              <a:gs pos="100000">
                <a:schemeClr val="accent1">
                  <a:lumMod val="60000"/>
                  <a:lumOff val="40000"/>
                  <a:alpha val="2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chemeClr val="lt1"/>
              </a:solidFill>
            </a:endParaRPr>
          </a:p>
        </p:txBody>
      </p:sp>
      <p:sp>
        <p:nvSpPr>
          <p:cNvPr id="80" name="任意多边形 79"/>
          <p:cNvSpPr/>
          <p:nvPr>
            <p:custDataLst>
              <p:tags r:id="rId11"/>
            </p:custDataLst>
          </p:nvPr>
        </p:nvSpPr>
        <p:spPr>
          <a:xfrm>
            <a:off x="8506460" y="3906330"/>
            <a:ext cx="993775" cy="528955"/>
          </a:xfrm>
          <a:custGeom>
            <a:avLst/>
            <a:gdLst/>
            <a:ahLst/>
            <a:cxnLst>
              <a:cxn ang="3">
                <a:pos x="hc" y="t"/>
              </a:cxn>
              <a:cxn ang="cd2">
                <a:pos x="l" y="vc"/>
              </a:cxn>
              <a:cxn ang="cd4">
                <a:pos x="hc" y="b"/>
              </a:cxn>
              <a:cxn ang="0">
                <a:pos x="r" y="vc"/>
              </a:cxn>
            </a:cxnLst>
            <a:rect l="l" t="t" r="r" b="b"/>
            <a:pathLst>
              <a:path w="1565" h="833">
                <a:moveTo>
                  <a:pt x="847" y="354"/>
                </a:moveTo>
                <a:lnTo>
                  <a:pt x="1069" y="354"/>
                </a:lnTo>
                <a:lnTo>
                  <a:pt x="1069" y="713"/>
                </a:lnTo>
                <a:lnTo>
                  <a:pt x="1565" y="713"/>
                </a:lnTo>
                <a:lnTo>
                  <a:pt x="1565" y="833"/>
                </a:lnTo>
                <a:lnTo>
                  <a:pt x="847" y="833"/>
                </a:lnTo>
                <a:lnTo>
                  <a:pt x="847" y="354"/>
                </a:lnTo>
                <a:close/>
                <a:moveTo>
                  <a:pt x="876" y="0"/>
                </a:moveTo>
                <a:lnTo>
                  <a:pt x="1547" y="0"/>
                </a:lnTo>
                <a:lnTo>
                  <a:pt x="1547" y="318"/>
                </a:lnTo>
                <a:lnTo>
                  <a:pt x="1381" y="474"/>
                </a:lnTo>
                <a:lnTo>
                  <a:pt x="1070" y="474"/>
                </a:lnTo>
                <a:lnTo>
                  <a:pt x="1109" y="354"/>
                </a:lnTo>
                <a:lnTo>
                  <a:pt x="1325" y="354"/>
                </a:lnTo>
                <a:lnTo>
                  <a:pt x="1325" y="120"/>
                </a:lnTo>
                <a:lnTo>
                  <a:pt x="838" y="120"/>
                </a:lnTo>
                <a:lnTo>
                  <a:pt x="876" y="0"/>
                </a:lnTo>
                <a:close/>
                <a:moveTo>
                  <a:pt x="0" y="0"/>
                </a:moveTo>
                <a:lnTo>
                  <a:pt x="222" y="0"/>
                </a:lnTo>
                <a:lnTo>
                  <a:pt x="222" y="713"/>
                </a:lnTo>
                <a:lnTo>
                  <a:pt x="511" y="713"/>
                </a:lnTo>
                <a:lnTo>
                  <a:pt x="511" y="120"/>
                </a:lnTo>
                <a:lnTo>
                  <a:pt x="223" y="120"/>
                </a:lnTo>
                <a:lnTo>
                  <a:pt x="262" y="0"/>
                </a:lnTo>
                <a:lnTo>
                  <a:pt x="568" y="0"/>
                </a:lnTo>
                <a:lnTo>
                  <a:pt x="733" y="156"/>
                </a:lnTo>
                <a:lnTo>
                  <a:pt x="733" y="677"/>
                </a:lnTo>
                <a:lnTo>
                  <a:pt x="568" y="833"/>
                </a:lnTo>
                <a:lnTo>
                  <a:pt x="166" y="833"/>
                </a:lnTo>
                <a:lnTo>
                  <a:pt x="0" y="677"/>
                </a:lnTo>
                <a:lnTo>
                  <a:pt x="0" y="0"/>
                </a:lnTo>
                <a:close/>
              </a:path>
            </a:pathLst>
          </a:custGeom>
          <a:gradFill>
            <a:gsLst>
              <a:gs pos="0">
                <a:schemeClr val="accent2">
                  <a:lumMod val="60000"/>
                  <a:lumOff val="40000"/>
                  <a:alpha val="0"/>
                </a:schemeClr>
              </a:gs>
              <a:gs pos="100000">
                <a:schemeClr val="accent2">
                  <a:lumMod val="60000"/>
                  <a:lumOff val="40000"/>
                  <a:alpha val="2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pic>
        <p:nvPicPr>
          <p:cNvPr id="21" name="图片 20" descr="E:/设计图片素材/7968523_.jpg7968523_"/>
          <p:cNvPicPr>
            <a:picLocks noChangeAspect="1"/>
          </p:cNvPicPr>
          <p:nvPr>
            <p:custDataLst>
              <p:tags r:id="rId12"/>
            </p:custDataLst>
          </p:nvPr>
        </p:nvPicPr>
        <p:blipFill>
          <a:blip r:embed="rId13"/>
          <a:srcRect t="13795" b="13795"/>
          <a:stretch>
            <a:fillRect/>
          </a:stretch>
        </p:blipFill>
        <p:spPr>
          <a:xfrm>
            <a:off x="745490" y="1757807"/>
            <a:ext cx="5074920" cy="2020570"/>
          </a:xfrm>
          <a:custGeom>
            <a:avLst/>
            <a:gdLst/>
            <a:ahLst/>
            <a:cxnLst>
              <a:cxn ang="3">
                <a:pos x="hc" y="t"/>
              </a:cxn>
              <a:cxn ang="cd2">
                <a:pos x="l" y="vc"/>
              </a:cxn>
              <a:cxn ang="cd4">
                <a:pos x="hc" y="b"/>
              </a:cxn>
              <a:cxn ang="0">
                <a:pos x="r" y="vc"/>
              </a:cxn>
            </a:cxnLst>
            <a:rect l="l" t="t" r="r" b="b"/>
            <a:pathLst>
              <a:path w="7992" h="3182">
                <a:moveTo>
                  <a:pt x="0" y="0"/>
                </a:moveTo>
                <a:lnTo>
                  <a:pt x="7462" y="0"/>
                </a:lnTo>
                <a:lnTo>
                  <a:pt x="7992" y="530"/>
                </a:lnTo>
                <a:lnTo>
                  <a:pt x="7992" y="3182"/>
                </a:lnTo>
                <a:lnTo>
                  <a:pt x="530" y="3182"/>
                </a:lnTo>
                <a:lnTo>
                  <a:pt x="0" y="2652"/>
                </a:lnTo>
                <a:lnTo>
                  <a:pt x="0" y="0"/>
                </a:lnTo>
                <a:close/>
              </a:path>
            </a:pathLst>
          </a:custGeom>
          <a:ln w="6350">
            <a:solidFill>
              <a:schemeClr val="accent1">
                <a:alpha val="70000"/>
              </a:schemeClr>
            </a:solidFill>
          </a:ln>
        </p:spPr>
      </p:pic>
      <p:sp>
        <p:nvSpPr>
          <p:cNvPr id="17" name="标题 16"/>
          <p:cNvSpPr>
            <a:spLocks noGrp="1"/>
          </p:cNvSpPr>
          <p:nvPr>
            <p:ph type="title"/>
            <p:custDataLst>
              <p:tags r:id="rId14"/>
            </p:custDataLst>
          </p:nvPr>
        </p:nvSpPr>
        <p:spPr/>
        <p:txBody>
          <a:bodyPr/>
          <a:lstStyle/>
          <a:p>
            <a:r>
              <a:rPr lang="zh-CN" altLang="en-US"/>
              <a:t>理论创新与工程实践的协同驱动</a:t>
            </a:r>
            <a:endParaRPr lang="zh-CN" altLang="en-US"/>
          </a:p>
        </p:txBody>
      </p:sp>
      <p:sp>
        <p:nvSpPr>
          <p:cNvPr id="2" name="正文"/>
          <p:cNvSpPr txBox="1"/>
          <p:nvPr>
            <p:custDataLst>
              <p:tags r:id="rId15"/>
            </p:custDataLst>
          </p:nvPr>
        </p:nvSpPr>
        <p:spPr>
          <a:xfrm>
            <a:off x="839438" y="4591864"/>
            <a:ext cx="4881944" cy="1433599"/>
          </a:xfrm>
          <a:prstGeom prst="rect">
            <a:avLst/>
          </a:prstGeom>
          <a:noFill/>
        </p:spPr>
        <p:txBody>
          <a:bodyPr wrap="square" lIns="0" tIns="0" rIns="0" bIns="0" rtlCol="0" anchor="t" anchorCtr="0">
            <a:noAutofit/>
          </a:bodyPr>
          <a:lstStyle/>
          <a:p>
            <a:pPr algn="ctr">
              <a:lnSpc>
                <a:spcPct val="150000"/>
              </a:lnSpc>
            </a:pPr>
            <a:r>
              <a:rPr lang="zh-CN" altLang="en-US" dirty="0">
                <a:solidFill>
                  <a:schemeClr val="tx1">
                    <a:lumMod val="85000"/>
                    <a:lumOff val="15000"/>
                  </a:schemeClr>
                </a:solidFill>
                <a:latin typeface="+mn-ea"/>
                <a:cs typeface="+mn-ea"/>
                <a:sym typeface="+mn-ea"/>
              </a:rPr>
              <a:t>面向新一代硬件架构，</a:t>
            </a:r>
            <a:r>
              <a:rPr lang="zh-CN" altLang="en-US" dirty="0"/>
              <a:t>围绕并行映射、算子内核与通信</a:t>
            </a:r>
            <a:r>
              <a:rPr lang="en-US" altLang="zh-CN" dirty="0"/>
              <a:t>/</a:t>
            </a:r>
            <a:r>
              <a:rPr lang="zh-CN" altLang="en-US" dirty="0"/>
              <a:t>存储三大关键路径开展协同优化</a:t>
            </a:r>
            <a:endParaRPr lang="zh-CN" altLang="en-US" dirty="0"/>
          </a:p>
          <a:p>
            <a:pPr lvl="0" algn="ctr">
              <a:lnSpc>
                <a:spcPct val="150000"/>
              </a:lnSpc>
              <a:buClrTx/>
              <a:buSzTx/>
              <a:buFontTx/>
            </a:pPr>
            <a:r>
              <a:rPr lang="en-US" altLang="zh-CN" dirty="0">
                <a:solidFill>
                  <a:schemeClr val="tx1">
                    <a:lumMod val="85000"/>
                    <a:lumOff val="15000"/>
                  </a:schemeClr>
                </a:solidFill>
                <a:latin typeface="+mn-ea"/>
                <a:cs typeface="+mn-ea"/>
                <a:sym typeface="+mn-ea"/>
              </a:rPr>
              <a:t>,</a:t>
            </a:r>
            <a:r>
              <a:rPr lang="zh-CN" altLang="en-US" dirty="0">
                <a:solidFill>
                  <a:schemeClr val="tx1">
                    <a:lumMod val="85000"/>
                    <a:lumOff val="15000"/>
                  </a:schemeClr>
                </a:solidFill>
                <a:latin typeface="+mn-ea"/>
                <a:cs typeface="+mn-ea"/>
                <a:sym typeface="+mn-ea"/>
              </a:rPr>
              <a:t>构建高吞吐、高稳定性的分布式训练方法</a:t>
            </a:r>
            <a:endParaRPr lang="zh-CN" altLang="en-US" dirty="0">
              <a:solidFill>
                <a:schemeClr val="tx1">
                  <a:lumMod val="85000"/>
                  <a:lumOff val="15000"/>
                </a:schemeClr>
              </a:solidFill>
              <a:latin typeface="+mn-ea"/>
              <a:cs typeface="+mn-ea"/>
              <a:sym typeface="+mn-ea"/>
            </a:endParaRPr>
          </a:p>
        </p:txBody>
      </p:sp>
      <p:sp>
        <p:nvSpPr>
          <p:cNvPr id="61" name="正文"/>
          <p:cNvSpPr txBox="1"/>
          <p:nvPr>
            <p:custDataLst>
              <p:tags r:id="rId16"/>
            </p:custDataLst>
          </p:nvPr>
        </p:nvSpPr>
        <p:spPr>
          <a:xfrm>
            <a:off x="6527995" y="4590542"/>
            <a:ext cx="4874959" cy="1399540"/>
          </a:xfrm>
          <a:prstGeom prst="rect">
            <a:avLst/>
          </a:prstGeom>
          <a:noFill/>
        </p:spPr>
        <p:txBody>
          <a:bodyPr wrap="square" lIns="0" tIns="0" rIns="0" bIns="0" rtlCol="0" anchor="t" anchorCtr="0">
            <a:noAutofit/>
          </a:bodyPr>
          <a:lstStyle/>
          <a:p>
            <a:pPr algn="ctr">
              <a:lnSpc>
                <a:spcPct val="150000"/>
              </a:lnSpc>
            </a:pPr>
            <a:r>
              <a:rPr lang="zh-CN" altLang="en-US" dirty="0">
                <a:solidFill>
                  <a:schemeClr val="tx1">
                    <a:lumMod val="85000"/>
                    <a:lumOff val="15000"/>
                  </a:schemeClr>
                </a:solidFill>
                <a:latin typeface="+mn-ea"/>
                <a:cs typeface="+mn-ea"/>
                <a:sym typeface="+mn-ea"/>
              </a:rPr>
              <a:t>建立以</a:t>
            </a:r>
            <a:r>
              <a:rPr lang="en-US" altLang="zh-CN" dirty="0">
                <a:solidFill>
                  <a:schemeClr val="tx1">
                    <a:lumMod val="85000"/>
                    <a:lumOff val="15000"/>
                  </a:schemeClr>
                </a:solidFill>
                <a:latin typeface="+mn-ea"/>
                <a:cs typeface="+mn-ea"/>
                <a:sym typeface="+mn-ea"/>
              </a:rPr>
              <a:t>MFU</a:t>
            </a:r>
            <a:r>
              <a:rPr lang="zh-CN" altLang="en-US" dirty="0">
                <a:solidFill>
                  <a:schemeClr val="tx1">
                    <a:lumMod val="85000"/>
                    <a:lumOff val="15000"/>
                  </a:schemeClr>
                </a:solidFill>
                <a:latin typeface="+mn-ea"/>
                <a:cs typeface="+mn-ea"/>
                <a:sym typeface="+mn-ea"/>
              </a:rPr>
              <a:t>为牵引的闭环效率工程体系</a:t>
            </a:r>
            <a:r>
              <a:rPr lang="en-US" altLang="zh-CN" dirty="0">
                <a:solidFill>
                  <a:schemeClr val="tx1">
                    <a:lumMod val="85000"/>
                    <a:lumOff val="15000"/>
                  </a:schemeClr>
                </a:solidFill>
                <a:latin typeface="+mn-ea"/>
                <a:cs typeface="+mn-ea"/>
                <a:sym typeface="+mn-ea"/>
              </a:rPr>
              <a:t>,</a:t>
            </a:r>
            <a:r>
              <a:rPr lang="zh-CN" altLang="en-US" dirty="0">
                <a:solidFill>
                  <a:schemeClr val="tx1">
                    <a:lumMod val="85000"/>
                    <a:lumOff val="15000"/>
                  </a:schemeClr>
                </a:solidFill>
                <a:latin typeface="+mn-ea"/>
                <a:cs typeface="+mn-ea"/>
                <a:sym typeface="+mn-ea"/>
              </a:rPr>
              <a:t>确保训练流程的可解释、可复现</a:t>
            </a:r>
            <a:r>
              <a:rPr lang="en-US" altLang="zh-CN" dirty="0">
                <a:solidFill>
                  <a:schemeClr val="tx1">
                    <a:lumMod val="85000"/>
                    <a:lumOff val="15000"/>
                  </a:schemeClr>
                </a:solidFill>
                <a:latin typeface="+mn-ea"/>
                <a:cs typeface="+mn-ea"/>
                <a:sym typeface="+mn-ea"/>
              </a:rPr>
              <a:t>,</a:t>
            </a:r>
            <a:r>
              <a:rPr lang="zh-CN" altLang="en-US" dirty="0">
                <a:solidFill>
                  <a:schemeClr val="tx1">
                    <a:lumMod val="85000"/>
                    <a:lumOff val="15000"/>
                  </a:schemeClr>
                </a:solidFill>
                <a:latin typeface="+mn-ea"/>
                <a:cs typeface="+mn-ea"/>
                <a:sym typeface="+mn-ea"/>
              </a:rPr>
              <a:t> </a:t>
            </a:r>
            <a:r>
              <a:rPr lang="zh-CN" altLang="en-US" dirty="0"/>
              <a:t>完成与现有基础设施的无缝集成，支撑代表性任务的高效训练</a:t>
            </a:r>
            <a:endParaRPr lang="zh-CN" altLang="en-US" dirty="0"/>
          </a:p>
          <a:p>
            <a:pPr lvl="0" algn="ctr">
              <a:lnSpc>
                <a:spcPct val="150000"/>
              </a:lnSpc>
              <a:buClrTx/>
              <a:buSzTx/>
              <a:buFontTx/>
            </a:pPr>
            <a:endParaRPr lang="zh-CN" altLang="en-US" dirty="0">
              <a:solidFill>
                <a:schemeClr val="tx1">
                  <a:lumMod val="85000"/>
                  <a:lumOff val="15000"/>
                </a:schemeClr>
              </a:solidFill>
              <a:latin typeface="+mn-ea"/>
              <a:cs typeface="+mn-ea"/>
              <a:sym typeface="+mn-ea"/>
            </a:endParaRPr>
          </a:p>
        </p:txBody>
      </p:sp>
      <p:sp>
        <p:nvSpPr>
          <p:cNvPr id="9" name="标题"/>
          <p:cNvSpPr txBox="1"/>
          <p:nvPr>
            <p:custDataLst>
              <p:tags r:id="rId17"/>
            </p:custDataLst>
          </p:nvPr>
        </p:nvSpPr>
        <p:spPr>
          <a:xfrm>
            <a:off x="1022350" y="4196842"/>
            <a:ext cx="4528820" cy="393700"/>
          </a:xfrm>
          <a:prstGeom prst="rect">
            <a:avLst/>
          </a:prstGeom>
          <a:noFill/>
        </p:spPr>
        <p:txBody>
          <a:bodyPr wrap="square" lIns="0" tIns="0" rIns="0" bIns="0" rtlCol="0" anchor="b">
            <a:noAutofit/>
          </a:bodyPr>
          <a:lstStyle/>
          <a:p>
            <a:pPr algn="ctr">
              <a:spcBef>
                <a:spcPct val="0"/>
              </a:spcBef>
              <a:spcAft>
                <a:spcPct val="0"/>
              </a:spcAft>
            </a:pPr>
            <a:r>
              <a:rPr lang="zh-CN" altLang="en-US" sz="2400" b="1" dirty="0">
                <a:gradFill>
                  <a:gsLst>
                    <a:gs pos="18000">
                      <a:schemeClr val="accent1">
                        <a:lumMod val="60000"/>
                        <a:lumOff val="40000"/>
                        <a:alpha val="100000"/>
                      </a:schemeClr>
                    </a:gs>
                    <a:gs pos="98000">
                      <a:schemeClr val="accent1">
                        <a:lumMod val="75000"/>
                        <a:alpha val="100000"/>
                      </a:schemeClr>
                    </a:gs>
                    <a:gs pos="78000">
                      <a:schemeClr val="accent1">
                        <a:alpha val="100000"/>
                      </a:schemeClr>
                    </a:gs>
                  </a:gsLst>
                  <a:lin ang="2700000" scaled="0"/>
                </a:gradFill>
                <a:latin typeface="+mn-ea"/>
                <a:cs typeface="+mn-ea"/>
                <a:sym typeface="+mn-ea"/>
              </a:rPr>
              <a:t>技术路径</a:t>
            </a:r>
            <a:endParaRPr lang="zh-CN" altLang="en-US" sz="2400" b="1" dirty="0">
              <a:gradFill>
                <a:gsLst>
                  <a:gs pos="18000">
                    <a:schemeClr val="accent1">
                      <a:lumMod val="60000"/>
                      <a:lumOff val="40000"/>
                      <a:alpha val="100000"/>
                    </a:schemeClr>
                  </a:gs>
                  <a:gs pos="98000">
                    <a:schemeClr val="accent1">
                      <a:lumMod val="75000"/>
                      <a:alpha val="100000"/>
                    </a:schemeClr>
                  </a:gs>
                  <a:gs pos="78000">
                    <a:schemeClr val="accent1">
                      <a:alpha val="100000"/>
                    </a:schemeClr>
                  </a:gs>
                </a:gsLst>
                <a:lin ang="2700000" scaled="0"/>
              </a:gradFill>
              <a:latin typeface="+mn-ea"/>
              <a:cs typeface="+mn-ea"/>
              <a:sym typeface="+mn-ea"/>
            </a:endParaRPr>
          </a:p>
        </p:txBody>
      </p:sp>
      <p:sp>
        <p:nvSpPr>
          <p:cNvPr id="60" name="标题"/>
          <p:cNvSpPr txBox="1"/>
          <p:nvPr>
            <p:custDataLst>
              <p:tags r:id="rId18"/>
            </p:custDataLst>
          </p:nvPr>
        </p:nvSpPr>
        <p:spPr>
          <a:xfrm>
            <a:off x="6738620" y="4196842"/>
            <a:ext cx="4529455" cy="393700"/>
          </a:xfrm>
          <a:prstGeom prst="rect">
            <a:avLst/>
          </a:prstGeom>
          <a:noFill/>
        </p:spPr>
        <p:txBody>
          <a:bodyPr wrap="square" lIns="0" tIns="0" rIns="0" bIns="0" rtlCol="0" anchor="b">
            <a:noAutofit/>
          </a:bodyPr>
          <a:lstStyle/>
          <a:p>
            <a:pPr algn="ctr">
              <a:spcBef>
                <a:spcPct val="0"/>
              </a:spcBef>
              <a:spcAft>
                <a:spcPct val="0"/>
              </a:spcAft>
            </a:pPr>
            <a:r>
              <a:rPr lang="zh-CN" altLang="en-US" sz="2400" b="1" dirty="0">
                <a:gradFill>
                  <a:gsLst>
                    <a:gs pos="18000">
                      <a:schemeClr val="accent2">
                        <a:lumMod val="60000"/>
                        <a:lumOff val="40000"/>
                        <a:alpha val="100000"/>
                      </a:schemeClr>
                    </a:gs>
                    <a:gs pos="98000">
                      <a:schemeClr val="accent2">
                        <a:lumMod val="75000"/>
                        <a:alpha val="100000"/>
                      </a:schemeClr>
                    </a:gs>
                    <a:gs pos="78000">
                      <a:schemeClr val="accent2">
                        <a:alpha val="100000"/>
                      </a:schemeClr>
                    </a:gs>
                  </a:gsLst>
                  <a:lin ang="2700000" scaled="0"/>
                </a:gradFill>
                <a:latin typeface="+mn-ea"/>
                <a:cs typeface="+mn-ea"/>
                <a:sym typeface="+mn-ea"/>
              </a:rPr>
              <a:t>工程体系</a:t>
            </a:r>
            <a:endParaRPr lang="zh-CN" altLang="en-US" sz="2400" b="1" dirty="0">
              <a:gradFill>
                <a:gsLst>
                  <a:gs pos="18000">
                    <a:schemeClr val="accent2">
                      <a:lumMod val="60000"/>
                      <a:lumOff val="40000"/>
                      <a:alpha val="100000"/>
                    </a:schemeClr>
                  </a:gs>
                  <a:gs pos="98000">
                    <a:schemeClr val="accent2">
                      <a:lumMod val="75000"/>
                      <a:alpha val="100000"/>
                    </a:schemeClr>
                  </a:gs>
                  <a:gs pos="78000">
                    <a:schemeClr val="accent2">
                      <a:alpha val="100000"/>
                    </a:schemeClr>
                  </a:gs>
                </a:gsLst>
                <a:lin ang="2700000" scaled="0"/>
              </a:gradFill>
              <a:latin typeface="+mn-ea"/>
              <a:cs typeface="+mn-ea"/>
              <a:sym typeface="+mn-ea"/>
            </a:endParaRPr>
          </a:p>
        </p:txBody>
      </p:sp>
      <p:sp>
        <p:nvSpPr>
          <p:cNvPr id="34" name="梯形 33"/>
          <p:cNvSpPr/>
          <p:nvPr>
            <p:custDataLst>
              <p:tags r:id="rId19"/>
            </p:custDataLst>
          </p:nvPr>
        </p:nvSpPr>
        <p:spPr>
          <a:xfrm rot="13500000" flipV="1">
            <a:off x="5529580" y="1806702"/>
            <a:ext cx="396875" cy="103505"/>
          </a:xfrm>
          <a:prstGeom prst="trapezoid">
            <a:avLst>
              <a:gd name="adj" fmla="val 100306"/>
            </a:avLst>
          </a:prstGeom>
          <a:solidFill>
            <a:schemeClr val="accent1">
              <a:alpha val="7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13" name="梯形 12"/>
          <p:cNvSpPr/>
          <p:nvPr>
            <p:custDataLst>
              <p:tags r:id="rId20"/>
            </p:custDataLst>
          </p:nvPr>
        </p:nvSpPr>
        <p:spPr>
          <a:xfrm rot="13500000" flipV="1">
            <a:off x="11238230" y="1775587"/>
            <a:ext cx="396875" cy="103505"/>
          </a:xfrm>
          <a:prstGeom prst="trapezoid">
            <a:avLst>
              <a:gd name="adj" fmla="val 100306"/>
            </a:avLst>
          </a:prstGeom>
          <a:solidFill>
            <a:schemeClr val="accent2">
              <a:alpha val="7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4" name="文本框 3"/>
          <p:cNvSpPr txBox="1"/>
          <p:nvPr/>
        </p:nvSpPr>
        <p:spPr>
          <a:xfrm>
            <a:off x="745490" y="909761"/>
            <a:ext cx="10666222" cy="759632"/>
          </a:xfrm>
          <a:prstGeom prst="rect">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a:spAutoFit/>
          </a:bodyPr>
          <a:lstStyle/>
          <a:p>
            <a:pPr indent="266700" algn="just">
              <a:lnSpc>
                <a:spcPts val="2760"/>
              </a:lnSpc>
              <a:spcBef>
                <a:spcPts val="500"/>
              </a:spcBef>
              <a:spcAft>
                <a:spcPts val="500"/>
              </a:spcAft>
              <a:buNone/>
            </a:pPr>
            <a:r>
              <a:rPr lang="zh-CN" altLang="en-US" sz="1800" b="1" kern="0" dirty="0">
                <a:effectLst/>
                <a:latin typeface="宋体" panose="02010600030101010101" pitchFamily="2" charset="-122"/>
                <a:ea typeface="宋体" panose="02010600030101010101" pitchFamily="2" charset="-122"/>
              </a:rPr>
              <a:t>总体目标：在保证模型效果与稳定性的前提下，系统提升大语言模型在新硬件条件下的端到端训练效率与工程可控性，支撑蚂蚁自研与典型开源模型的规模化、可持续迭代。</a:t>
            </a:r>
            <a:endParaRPr lang="zh-CN" altLang="en-US" sz="1800" dirty="0">
              <a:effectLst/>
              <a:latin typeface="宋体" panose="02010600030101010101" pitchFamily="2" charset="-122"/>
              <a:ea typeface="宋体" panose="02010600030101010101" pitchFamily="2" charset="-122"/>
            </a:endParaRPr>
          </a:p>
        </p:txBody>
      </p:sp>
    </p:spTree>
    <p:custDataLst>
      <p:tags r:id="rId2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00706" y="2550858"/>
            <a:ext cx="7168514" cy="1568450"/>
            <a:chOff x="2277534" y="2395918"/>
            <a:chExt cx="6620974" cy="1568450"/>
          </a:xfrm>
        </p:grpSpPr>
        <p:sp>
          <p:nvSpPr>
            <p:cNvPr id="10" name="文本框 9"/>
            <p:cNvSpPr txBox="1"/>
            <p:nvPr/>
          </p:nvSpPr>
          <p:spPr>
            <a:xfrm>
              <a:off x="2277534" y="2395918"/>
              <a:ext cx="2504016" cy="1568450"/>
            </a:xfrm>
            <a:prstGeom prst="rect">
              <a:avLst/>
            </a:prstGeom>
            <a:noFill/>
          </p:spPr>
          <p:txBody>
            <a:bodyPr wrap="square" rtlCol="0">
              <a:spAutoFit/>
            </a:bodyPr>
            <a:lstStyle>
              <a:lvl1pPr algn="ctr">
                <a:defRPr sz="13800" b="1">
                  <a:ln>
                    <a:solidFill>
                      <a:schemeClr val="bg1">
                        <a:alpha val="70000"/>
                      </a:schemeClr>
                    </a:solidFill>
                  </a:ln>
                  <a:noFill/>
                  <a:latin typeface="Tahoma" panose="020B0604030504040204" pitchFamily="34" charset="0"/>
                  <a:ea typeface="Tahoma" panose="020B0604030504040204" pitchFamily="34" charset="0"/>
                  <a:cs typeface="Tahoma" panose="020B0604030504040204" pitchFamily="34" charset="0"/>
                </a:defRPr>
              </a:lvl1pPr>
            </a:lstStyle>
            <a:p>
              <a:r>
                <a:rPr lang="en-US" altLang="zh-CN" sz="9600" dirty="0">
                  <a:ln>
                    <a:solidFill>
                      <a:schemeClr val="bg1">
                        <a:alpha val="80000"/>
                      </a:schemeClr>
                    </a:solidFill>
                  </a:ln>
                  <a:latin typeface="Calibri" panose="020F0502020204030204" charset="0"/>
                  <a:ea typeface="宋体" panose="02010600030101010101" pitchFamily="2" charset="-122"/>
                </a:rPr>
                <a:t>04</a:t>
              </a:r>
              <a:endParaRPr lang="en-US" altLang="zh-CN" sz="9600" dirty="0">
                <a:ln>
                  <a:solidFill>
                    <a:schemeClr val="bg1">
                      <a:alpha val="80000"/>
                    </a:schemeClr>
                  </a:solidFill>
                </a:ln>
                <a:latin typeface="Calibri" panose="020F0502020204030204" charset="0"/>
                <a:ea typeface="宋体" panose="02010600030101010101" pitchFamily="2" charset="-122"/>
              </a:endParaRPr>
            </a:p>
          </p:txBody>
        </p:sp>
        <p:sp>
          <p:nvSpPr>
            <p:cNvPr id="11" name="文本框 10"/>
            <p:cNvSpPr txBox="1"/>
            <p:nvPr/>
          </p:nvSpPr>
          <p:spPr>
            <a:xfrm>
              <a:off x="4943753" y="2813113"/>
              <a:ext cx="3954755" cy="922020"/>
            </a:xfrm>
            <a:prstGeom prst="rect">
              <a:avLst/>
            </a:prstGeom>
            <a:noFill/>
          </p:spPr>
          <p:txBody>
            <a:bodyPr wrap="square" rtlCol="0">
              <a:spAutoFit/>
            </a:bodyPr>
            <a:lstStyle>
              <a:defPPr>
                <a:defRPr lang="en-US"/>
              </a:defPPr>
              <a:lvl1pPr>
                <a:defRPr b="1">
                  <a:latin typeface="微软雅黑" panose="020B0503020204020204" pitchFamily="34" charset="-122"/>
                  <a:ea typeface="微软雅黑" panose="020B0503020204020204" pitchFamily="34" charset="-122"/>
                </a:defRPr>
              </a:lvl1pPr>
            </a:lstStyle>
            <a:p>
              <a:pPr algn="dist"/>
              <a:r>
                <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rPr>
                <a:t>研究计划</a:t>
              </a:r>
              <a:endPar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endParaRPr>
            </a:p>
          </p:txBody>
        </p:sp>
        <p:cxnSp>
          <p:nvCxnSpPr>
            <p:cNvPr id="16" name="直接连接符 15"/>
            <p:cNvCxnSpPr/>
            <p:nvPr/>
          </p:nvCxnSpPr>
          <p:spPr>
            <a:xfrm>
              <a:off x="4711700" y="2698750"/>
              <a:ext cx="0" cy="107632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411854" y="6355972"/>
            <a:ext cx="2780146" cy="492792"/>
          </a:xfrm>
          <a:prstGeom prst="rect">
            <a:avLst/>
          </a:prstGeom>
        </p:spPr>
      </p:pic>
      <p:cxnSp>
        <p:nvCxnSpPr>
          <p:cNvPr id="45" name="直接连接符 44"/>
          <p:cNvCxnSpPr/>
          <p:nvPr>
            <p:custDataLst>
              <p:tags r:id="rId2"/>
            </p:custDataLst>
          </p:nvPr>
        </p:nvCxnSpPr>
        <p:spPr>
          <a:xfrm>
            <a:off x="9083479" y="1660320"/>
            <a:ext cx="541534" cy="0"/>
          </a:xfrm>
          <a:prstGeom prst="line">
            <a:avLst/>
          </a:prstGeom>
          <a:ln>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custDataLst>
              <p:tags r:id="rId3"/>
            </p:custDataLst>
          </p:nvPr>
        </p:nvCxnSpPr>
        <p:spPr>
          <a:xfrm>
            <a:off x="7760685" y="2840636"/>
            <a:ext cx="1078706" cy="0"/>
          </a:xfrm>
          <a:prstGeom prst="line">
            <a:avLst/>
          </a:prstGeom>
          <a:ln>
            <a:solidFill>
              <a:schemeClr val="accent3"/>
            </a:solidFill>
            <a:headEnd type="ova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custDataLst>
              <p:tags r:id="rId4"/>
            </p:custDataLst>
          </p:nvPr>
        </p:nvCxnSpPr>
        <p:spPr>
          <a:xfrm>
            <a:off x="6419158" y="4282209"/>
            <a:ext cx="1078706" cy="0"/>
          </a:xfrm>
          <a:prstGeom prst="line">
            <a:avLst/>
          </a:prstGeom>
          <a:ln>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5"/>
            </p:custDataLst>
          </p:nvPr>
        </p:nvCxnSpPr>
        <p:spPr>
          <a:xfrm>
            <a:off x="5051191" y="5460683"/>
            <a:ext cx="1078706" cy="0"/>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
        <p:nvSpPr>
          <p:cNvPr id="38" name="文本框 37"/>
          <p:cNvSpPr txBox="1"/>
          <p:nvPr>
            <p:custDataLst>
              <p:tags r:id="rId6"/>
            </p:custDataLst>
          </p:nvPr>
        </p:nvSpPr>
        <p:spPr>
          <a:xfrm>
            <a:off x="3855350" y="3857184"/>
            <a:ext cx="2485719" cy="1440000"/>
          </a:xfrm>
          <a:prstGeom prst="rect">
            <a:avLst/>
          </a:prstGeom>
          <a:noFill/>
        </p:spPr>
        <p:txBody>
          <a:bodyPr wrap="square" lIns="0" tIns="0" rIns="0" bIns="0">
            <a:noAutofit/>
          </a:bodyPr>
          <a:lstStyle/>
          <a:p>
            <a:pPr>
              <a:lnSpc>
                <a:spcPct val="150000"/>
              </a:lnSpc>
            </a:pPr>
            <a:r>
              <a:rPr lang="zh-CN" altLang="en-US" sz="1200" kern="0" spc="0" dirty="0">
                <a:ln>
                  <a:noFill/>
                  <a:prstDash val="sysDot"/>
                </a:ln>
                <a:solidFill>
                  <a:schemeClr val="tx1">
                    <a:lumMod val="85000"/>
                    <a:lumOff val="15000"/>
                  </a:schemeClr>
                </a:solidFill>
                <a:latin typeface="+mn-ea"/>
                <a:ea typeface="+mn-ea"/>
                <a:sym typeface="+mn-ea"/>
              </a:rPr>
              <a:t>建立标准化基线，完成针对节点规模、异构计算及并行策略的</a:t>
            </a:r>
            <a:r>
              <a:rPr lang="en-US" altLang="zh-CN" sz="1200" kern="0" spc="0" dirty="0">
                <a:ln>
                  <a:noFill/>
                  <a:prstDash val="sysDot"/>
                </a:ln>
                <a:solidFill>
                  <a:schemeClr val="tx1">
                    <a:lumMod val="85000"/>
                    <a:lumOff val="15000"/>
                  </a:schemeClr>
                </a:solidFill>
                <a:latin typeface="+mn-ea"/>
                <a:ea typeface="+mn-ea"/>
                <a:sym typeface="+mn-ea"/>
              </a:rPr>
              <a:t> MFU </a:t>
            </a:r>
            <a:r>
              <a:rPr lang="zh-CN" altLang="en-US" sz="1200" kern="0" spc="0" dirty="0">
                <a:ln>
                  <a:noFill/>
                  <a:prstDash val="sysDot"/>
                </a:ln>
                <a:solidFill>
                  <a:schemeClr val="tx1">
                    <a:lumMod val="85000"/>
                    <a:lumOff val="15000"/>
                  </a:schemeClr>
                </a:solidFill>
                <a:latin typeface="+mn-ea"/>
                <a:ea typeface="+mn-ea"/>
                <a:sym typeface="+mn-ea"/>
              </a:rPr>
              <a:t>性能对比测试，产出第二阶段验收报告。</a:t>
            </a:r>
            <a:endParaRPr lang="zh-CN" altLang="en-US" sz="1200" kern="0" spc="0" dirty="0">
              <a:ln>
                <a:noFill/>
                <a:prstDash val="sysDot"/>
              </a:ln>
              <a:solidFill>
                <a:schemeClr val="tx1">
                  <a:lumMod val="85000"/>
                  <a:lumOff val="15000"/>
                </a:schemeClr>
              </a:solidFill>
              <a:latin typeface="+mn-ea"/>
              <a:ea typeface="+mn-ea"/>
              <a:sym typeface="+mn-ea"/>
            </a:endParaRPr>
          </a:p>
        </p:txBody>
      </p:sp>
      <p:sp>
        <p:nvSpPr>
          <p:cNvPr id="39" name="矩形 38"/>
          <p:cNvSpPr/>
          <p:nvPr>
            <p:custDataLst>
              <p:tags r:id="rId7"/>
            </p:custDataLst>
          </p:nvPr>
        </p:nvSpPr>
        <p:spPr>
          <a:xfrm>
            <a:off x="2757805" y="3853180"/>
            <a:ext cx="787400" cy="5784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2"/>
                </a:solidFill>
                <a:cs typeface="+mn-lt"/>
              </a:rPr>
              <a:t>第二</a:t>
            </a:r>
            <a:r>
              <a:rPr lang="en-US" altLang="zh-CN" sz="2400" b="1" kern="0" dirty="0">
                <a:solidFill>
                  <a:schemeClr val="accent2"/>
                </a:solidFill>
                <a:cs typeface="+mn-lt"/>
              </a:rPr>
              <a:t> </a:t>
            </a:r>
            <a:r>
              <a:rPr lang="zh-CN" altLang="en-US" sz="2400" b="1" kern="0" dirty="0">
                <a:solidFill>
                  <a:schemeClr val="accent2"/>
                </a:solidFill>
                <a:cs typeface="+mn-lt"/>
              </a:rPr>
              <a:t>阶段</a:t>
            </a:r>
            <a:endParaRPr lang="zh-CN" altLang="en-US" sz="2400" b="1" kern="0" dirty="0">
              <a:solidFill>
                <a:schemeClr val="accent2"/>
              </a:solidFill>
              <a:cs typeface="+mn-lt"/>
            </a:endParaRPr>
          </a:p>
        </p:txBody>
      </p:sp>
      <p:sp>
        <p:nvSpPr>
          <p:cNvPr id="43" name="矩形 42"/>
          <p:cNvSpPr/>
          <p:nvPr>
            <p:custDataLst>
              <p:tags r:id="rId8"/>
            </p:custDataLst>
          </p:nvPr>
        </p:nvSpPr>
        <p:spPr>
          <a:xfrm>
            <a:off x="3617629" y="3931951"/>
            <a:ext cx="66421" cy="494532"/>
          </a:xfrm>
          <a:prstGeom prst="rect">
            <a:avLst/>
          </a:prstGeom>
          <a:gradFill>
            <a:gsLst>
              <a:gs pos="100000">
                <a:schemeClr val="accent2">
                  <a:lumMod val="40000"/>
                  <a:lumOff val="60000"/>
                  <a:alpha val="100000"/>
                </a:schemeClr>
              </a:gs>
              <a:gs pos="0">
                <a:schemeClr val="accent2">
                  <a:lumMod val="85000"/>
                  <a:lumOff val="15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0" name="文本框 39"/>
          <p:cNvSpPr txBox="1"/>
          <p:nvPr>
            <p:custDataLst>
              <p:tags r:id="rId9"/>
            </p:custDataLst>
          </p:nvPr>
        </p:nvSpPr>
        <p:spPr>
          <a:xfrm>
            <a:off x="2501177" y="5316189"/>
            <a:ext cx="2485719" cy="1440000"/>
          </a:xfrm>
          <a:prstGeom prst="rect">
            <a:avLst/>
          </a:prstGeom>
          <a:noFill/>
        </p:spPr>
        <p:txBody>
          <a:bodyPr wrap="square" lIns="0" tIns="0" rIns="0" bIns="0">
            <a:noAutofit/>
          </a:bodyPr>
          <a:lstStyle/>
          <a:p>
            <a:pPr>
              <a:lnSpc>
                <a:spcPct val="150000"/>
              </a:lnSpc>
            </a:pPr>
            <a:r>
              <a:rPr lang="zh-CN" altLang="en-US" sz="1200" kern="0" spc="0" dirty="0">
                <a:ln>
                  <a:noFill/>
                  <a:prstDash val="sysDot"/>
                </a:ln>
                <a:solidFill>
                  <a:schemeClr val="tx1">
                    <a:lumMod val="85000"/>
                    <a:lumOff val="15000"/>
                  </a:schemeClr>
                </a:solidFill>
                <a:latin typeface="+mn-ea"/>
                <a:ea typeface="+mn-ea"/>
                <a:sym typeface="+mn-ea"/>
              </a:rPr>
              <a:t>进行相关前沿技术调研</a:t>
            </a:r>
            <a:r>
              <a:rPr lang="en-US" altLang="zh-CN" sz="1200" kern="0" spc="0" dirty="0">
                <a:ln>
                  <a:noFill/>
                  <a:prstDash val="sysDot"/>
                </a:ln>
                <a:solidFill>
                  <a:schemeClr val="tx1">
                    <a:lumMod val="85000"/>
                    <a:lumOff val="15000"/>
                  </a:schemeClr>
                </a:solidFill>
                <a:latin typeface="+mn-ea"/>
                <a:ea typeface="+mn-ea"/>
                <a:sym typeface="+mn-ea"/>
              </a:rPr>
              <a:t>,</a:t>
            </a:r>
            <a:r>
              <a:rPr lang="zh-CN" altLang="en-US" sz="1200" kern="0" spc="0" dirty="0">
                <a:ln>
                  <a:noFill/>
                  <a:prstDash val="sysDot"/>
                </a:ln>
                <a:solidFill>
                  <a:schemeClr val="tx1">
                    <a:lumMod val="85000"/>
                    <a:lumOff val="15000"/>
                  </a:schemeClr>
                </a:solidFill>
                <a:latin typeface="+mn-ea"/>
                <a:ea typeface="+mn-ea"/>
                <a:sym typeface="+mn-ea"/>
              </a:rPr>
              <a:t>分析并确定可行的优化方向，提交调研报告。</a:t>
            </a:r>
            <a:endParaRPr lang="zh-CN" altLang="en-US" sz="1200" kern="0" spc="0" dirty="0">
              <a:ln>
                <a:noFill/>
                <a:prstDash val="sysDot"/>
              </a:ln>
              <a:solidFill>
                <a:schemeClr val="tx1">
                  <a:lumMod val="85000"/>
                  <a:lumOff val="15000"/>
                </a:schemeClr>
              </a:solidFill>
              <a:latin typeface="+mn-ea"/>
              <a:ea typeface="+mn-ea"/>
              <a:sym typeface="+mn-ea"/>
            </a:endParaRPr>
          </a:p>
        </p:txBody>
      </p:sp>
      <p:sp>
        <p:nvSpPr>
          <p:cNvPr id="41" name="矩形 40"/>
          <p:cNvSpPr/>
          <p:nvPr>
            <p:custDataLst>
              <p:tags r:id="rId10"/>
            </p:custDataLst>
          </p:nvPr>
        </p:nvSpPr>
        <p:spPr>
          <a:xfrm>
            <a:off x="1380490" y="5308600"/>
            <a:ext cx="787400" cy="5784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1"/>
                </a:solidFill>
                <a:cs typeface="+mn-lt"/>
              </a:rPr>
              <a:t>第一阶段</a:t>
            </a:r>
            <a:endParaRPr lang="zh-CN" altLang="en-US" sz="2400" b="1" kern="0" dirty="0">
              <a:solidFill>
                <a:schemeClr val="accent1"/>
              </a:solidFill>
              <a:cs typeface="+mn-lt"/>
            </a:endParaRPr>
          </a:p>
        </p:txBody>
      </p:sp>
      <p:sp>
        <p:nvSpPr>
          <p:cNvPr id="44" name="矩形 43"/>
          <p:cNvSpPr/>
          <p:nvPr>
            <p:custDataLst>
              <p:tags r:id="rId11"/>
            </p:custDataLst>
          </p:nvPr>
        </p:nvSpPr>
        <p:spPr>
          <a:xfrm>
            <a:off x="2256213" y="5387391"/>
            <a:ext cx="66421" cy="494532"/>
          </a:xfrm>
          <a:prstGeom prst="rect">
            <a:avLst/>
          </a:prstGeom>
          <a:gradFill>
            <a:gsLst>
              <a:gs pos="100000">
                <a:schemeClr val="accent1">
                  <a:lumMod val="40000"/>
                  <a:lumOff val="60000"/>
                  <a:alpha val="100000"/>
                </a:schemeClr>
              </a:gs>
              <a:gs pos="0">
                <a:schemeClr val="accent1">
                  <a:lumMod val="85000"/>
                  <a:lumOff val="15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7" name="文本框 36"/>
          <p:cNvSpPr txBox="1"/>
          <p:nvPr>
            <p:custDataLst>
              <p:tags r:id="rId12"/>
            </p:custDataLst>
          </p:nvPr>
        </p:nvSpPr>
        <p:spPr>
          <a:xfrm>
            <a:off x="5204575" y="2401742"/>
            <a:ext cx="2485719" cy="1440000"/>
          </a:xfrm>
          <a:prstGeom prst="rect">
            <a:avLst/>
          </a:prstGeom>
          <a:noFill/>
        </p:spPr>
        <p:txBody>
          <a:bodyPr wrap="square" lIns="0" tIns="0" rIns="0" bIns="0">
            <a:noAutofit/>
          </a:bodyPr>
          <a:lstStyle/>
          <a:p>
            <a:pPr>
              <a:lnSpc>
                <a:spcPct val="150000"/>
              </a:lnSpc>
            </a:pPr>
            <a:r>
              <a:rPr lang="zh-CN" altLang="en-US" sz="1200" kern="0" spc="0" dirty="0">
                <a:ln>
                  <a:noFill/>
                  <a:prstDash val="sysDot"/>
                </a:ln>
                <a:solidFill>
                  <a:schemeClr val="tx1">
                    <a:lumMod val="85000"/>
                    <a:lumOff val="15000"/>
                  </a:schemeClr>
                </a:solidFill>
                <a:latin typeface="+mn-ea"/>
                <a:ea typeface="+mn-ea"/>
                <a:sym typeface="+mn-ea"/>
              </a:rPr>
              <a:t>围绕并行布局、通信机制与检查点策略实施多维协同优化，构建一套通用可复用的技术方案；完成中期验收报告，并将技术创新点转化为</a:t>
            </a:r>
            <a:r>
              <a:rPr lang="en-US" altLang="zh-CN" sz="1200" kern="0" spc="0" dirty="0">
                <a:ln>
                  <a:noFill/>
                  <a:prstDash val="sysDot"/>
                </a:ln>
                <a:solidFill>
                  <a:schemeClr val="tx1">
                    <a:lumMod val="85000"/>
                    <a:lumOff val="15000"/>
                  </a:schemeClr>
                </a:solidFill>
                <a:latin typeface="+mn-ea"/>
                <a:ea typeface="+mn-ea"/>
                <a:sym typeface="+mn-ea"/>
              </a:rPr>
              <a:t> 1 </a:t>
            </a:r>
            <a:r>
              <a:rPr lang="zh-CN" altLang="en-US" sz="1200" kern="0" spc="0" dirty="0">
                <a:ln>
                  <a:noFill/>
                  <a:prstDash val="sysDot"/>
                </a:ln>
                <a:solidFill>
                  <a:schemeClr val="tx1">
                    <a:lumMod val="85000"/>
                    <a:lumOff val="15000"/>
                  </a:schemeClr>
                </a:solidFill>
                <a:latin typeface="+mn-ea"/>
                <a:ea typeface="+mn-ea"/>
                <a:sym typeface="+mn-ea"/>
              </a:rPr>
              <a:t>篇高质量论文及</a:t>
            </a:r>
            <a:r>
              <a:rPr lang="en-US" altLang="zh-CN" sz="1200" kern="0" spc="0" dirty="0">
                <a:ln>
                  <a:noFill/>
                  <a:prstDash val="sysDot"/>
                </a:ln>
                <a:solidFill>
                  <a:schemeClr val="tx1">
                    <a:lumMod val="85000"/>
                    <a:lumOff val="15000"/>
                  </a:schemeClr>
                </a:solidFill>
                <a:latin typeface="+mn-ea"/>
                <a:ea typeface="+mn-ea"/>
                <a:sym typeface="+mn-ea"/>
              </a:rPr>
              <a:t> 1 </a:t>
            </a:r>
            <a:r>
              <a:rPr lang="zh-CN" altLang="en-US" sz="1200" kern="0" spc="0" dirty="0">
                <a:ln>
                  <a:noFill/>
                  <a:prstDash val="sysDot"/>
                </a:ln>
                <a:solidFill>
                  <a:schemeClr val="tx1">
                    <a:lumMod val="85000"/>
                    <a:lumOff val="15000"/>
                  </a:schemeClr>
                </a:solidFill>
                <a:latin typeface="+mn-ea"/>
                <a:ea typeface="+mn-ea"/>
                <a:sym typeface="+mn-ea"/>
              </a:rPr>
              <a:t>项发明专利交底书。</a:t>
            </a:r>
            <a:endParaRPr lang="zh-CN" altLang="en-US" sz="1200" kern="0" spc="0" dirty="0">
              <a:ln>
                <a:noFill/>
                <a:prstDash val="sysDot"/>
              </a:ln>
              <a:solidFill>
                <a:schemeClr val="tx1">
                  <a:lumMod val="85000"/>
                  <a:lumOff val="15000"/>
                </a:schemeClr>
              </a:solidFill>
              <a:latin typeface="+mn-ea"/>
              <a:ea typeface="+mn-ea"/>
              <a:sym typeface="+mn-ea"/>
            </a:endParaRPr>
          </a:p>
        </p:txBody>
      </p:sp>
      <p:sp>
        <p:nvSpPr>
          <p:cNvPr id="42" name="矩形 41"/>
          <p:cNvSpPr/>
          <p:nvPr>
            <p:custDataLst>
              <p:tags r:id="rId13"/>
            </p:custDataLst>
          </p:nvPr>
        </p:nvSpPr>
        <p:spPr>
          <a:xfrm>
            <a:off x="4964078" y="2474944"/>
            <a:ext cx="66421" cy="494532"/>
          </a:xfrm>
          <a:prstGeom prst="rect">
            <a:avLst/>
          </a:prstGeom>
          <a:gradFill>
            <a:gsLst>
              <a:gs pos="100000">
                <a:schemeClr val="accent3">
                  <a:lumMod val="40000"/>
                  <a:lumOff val="60000"/>
                  <a:alpha val="100000"/>
                </a:schemeClr>
              </a:gs>
              <a:gs pos="0">
                <a:schemeClr val="accent3">
                  <a:lumMod val="85000"/>
                  <a:lumOff val="15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7" name="矩形 46"/>
          <p:cNvSpPr/>
          <p:nvPr>
            <p:custDataLst>
              <p:tags r:id="rId14"/>
            </p:custDataLst>
          </p:nvPr>
        </p:nvSpPr>
        <p:spPr>
          <a:xfrm>
            <a:off x="4084320" y="2392045"/>
            <a:ext cx="787400" cy="5784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3"/>
                </a:solidFill>
                <a:cs typeface="+mn-lt"/>
              </a:rPr>
              <a:t>第三阶段</a:t>
            </a:r>
            <a:endParaRPr lang="zh-CN" altLang="en-US" sz="2400" b="1" kern="0" dirty="0">
              <a:solidFill>
                <a:schemeClr val="accent3"/>
              </a:solidFill>
              <a:cs typeface="+mn-lt"/>
            </a:endParaRPr>
          </a:p>
        </p:txBody>
      </p:sp>
      <p:sp>
        <p:nvSpPr>
          <p:cNvPr id="25" name="任意多边形: 形状 24"/>
          <p:cNvSpPr/>
          <p:nvPr>
            <p:custDataLst>
              <p:tags r:id="rId15"/>
            </p:custDataLst>
          </p:nvPr>
        </p:nvSpPr>
        <p:spPr>
          <a:xfrm>
            <a:off x="5838572" y="4907864"/>
            <a:ext cx="2164708" cy="1138566"/>
          </a:xfrm>
          <a:custGeom>
            <a:avLst/>
            <a:gdLst>
              <a:gd name="connsiteX0" fmla="*/ 1334340 w 2668680"/>
              <a:gd name="connsiteY0" fmla="*/ 1534736 h 1534735"/>
              <a:gd name="connsiteX1" fmla="*/ 0 w 2668680"/>
              <a:gd name="connsiteY1" fmla="*/ 757593 h 1534735"/>
              <a:gd name="connsiteX2" fmla="*/ 1334340 w 2668680"/>
              <a:gd name="connsiteY2" fmla="*/ 0 h 1534735"/>
              <a:gd name="connsiteX3" fmla="*/ 2668681 w 2668680"/>
              <a:gd name="connsiteY3" fmla="*/ 762480 h 1534735"/>
            </a:gdLst>
            <a:ahLst/>
            <a:cxnLst>
              <a:cxn ang="0">
                <a:pos x="connsiteX0" y="connsiteY0"/>
              </a:cxn>
              <a:cxn ang="0">
                <a:pos x="connsiteX1" y="connsiteY1"/>
              </a:cxn>
              <a:cxn ang="0">
                <a:pos x="connsiteX2" y="connsiteY2"/>
              </a:cxn>
              <a:cxn ang="0">
                <a:pos x="connsiteX3" y="connsiteY3"/>
              </a:cxn>
            </a:cxnLst>
            <a:rect l="l" t="t" r="r" b="b"/>
            <a:pathLst>
              <a:path w="2668680" h="1534735">
                <a:moveTo>
                  <a:pt x="1334340" y="1534736"/>
                </a:moveTo>
                <a:lnTo>
                  <a:pt x="0" y="757593"/>
                </a:lnTo>
                <a:lnTo>
                  <a:pt x="1334340" y="0"/>
                </a:lnTo>
                <a:lnTo>
                  <a:pt x="2668681" y="762480"/>
                </a:lnTo>
                <a:close/>
              </a:path>
            </a:pathLst>
          </a:custGeom>
          <a:gradFill>
            <a:gsLst>
              <a:gs pos="100000">
                <a:schemeClr val="accent1">
                  <a:lumMod val="60000"/>
                  <a:lumOff val="40000"/>
                  <a:alpha val="100000"/>
                </a:schemeClr>
              </a:gs>
              <a:gs pos="35000">
                <a:schemeClr val="accent1">
                  <a:lumMod val="85000"/>
                  <a:lumOff val="15000"/>
                  <a:alpha val="100000"/>
                </a:schemeClr>
              </a:gs>
            </a:gsLst>
            <a:lin ang="10800000" scaled="0"/>
          </a:gradFill>
          <a:ln w="16291" cap="flat">
            <a:noFill/>
            <a:prstDash val="solid"/>
            <a:miter/>
          </a:ln>
        </p:spPr>
        <p:txBody>
          <a:bodyPr rtlCol="0" anchor="ctr"/>
          <a:lstStyle/>
          <a:p>
            <a:endParaRPr lang="zh-CN" altLang="en-US">
              <a:solidFill>
                <a:schemeClr val="tx1"/>
              </a:solidFill>
            </a:endParaRPr>
          </a:p>
        </p:txBody>
      </p:sp>
      <p:sp>
        <p:nvSpPr>
          <p:cNvPr id="26" name="任意多边形: 形状 25"/>
          <p:cNvSpPr/>
          <p:nvPr>
            <p:custDataLst>
              <p:tags r:id="rId16"/>
            </p:custDataLst>
          </p:nvPr>
        </p:nvSpPr>
        <p:spPr>
          <a:xfrm>
            <a:off x="6253540" y="5124215"/>
            <a:ext cx="1334771" cy="705863"/>
          </a:xfrm>
          <a:custGeom>
            <a:avLst/>
            <a:gdLst>
              <a:gd name="connsiteX0" fmla="*/ 826020 w 1645523"/>
              <a:gd name="connsiteY0" fmla="*/ 951471 h 951471"/>
              <a:gd name="connsiteX1" fmla="*/ 0 w 1645523"/>
              <a:gd name="connsiteY1" fmla="*/ 457814 h 951471"/>
              <a:gd name="connsiteX2" fmla="*/ 817874 w 1645523"/>
              <a:gd name="connsiteY2" fmla="*/ 0 h 951471"/>
              <a:gd name="connsiteX3" fmla="*/ 1645523 w 1645523"/>
              <a:gd name="connsiteY3" fmla="*/ 469219 h 951471"/>
            </a:gdLst>
            <a:ahLst/>
            <a:cxnLst>
              <a:cxn ang="0">
                <a:pos x="connsiteX0" y="connsiteY0"/>
              </a:cxn>
              <a:cxn ang="0">
                <a:pos x="connsiteX1" y="connsiteY1"/>
              </a:cxn>
              <a:cxn ang="0">
                <a:pos x="connsiteX2" y="connsiteY2"/>
              </a:cxn>
              <a:cxn ang="0">
                <a:pos x="connsiteX3" y="connsiteY3"/>
              </a:cxn>
            </a:cxnLst>
            <a:rect l="l" t="t" r="r" b="b"/>
            <a:pathLst>
              <a:path w="1645523" h="951471">
                <a:moveTo>
                  <a:pt x="826020" y="951471"/>
                </a:moveTo>
                <a:lnTo>
                  <a:pt x="0" y="457814"/>
                </a:lnTo>
                <a:lnTo>
                  <a:pt x="817874" y="0"/>
                </a:lnTo>
                <a:lnTo>
                  <a:pt x="1645523" y="469219"/>
                </a:lnTo>
                <a:close/>
              </a:path>
            </a:pathLst>
          </a:custGeom>
          <a:solidFill>
            <a:srgbClr val="FFFFFF"/>
          </a:solidFill>
          <a:ln w="16291" cap="flat">
            <a:noFill/>
            <a:prstDash val="solid"/>
            <a:miter/>
          </a:ln>
        </p:spPr>
        <p:txBody>
          <a:bodyPr rtlCol="0" anchor="ctr"/>
          <a:lstStyle/>
          <a:p>
            <a:endParaRPr lang="zh-CN" altLang="en-US">
              <a:solidFill>
                <a:schemeClr val="tx1"/>
              </a:solidFill>
            </a:endParaRPr>
          </a:p>
        </p:txBody>
      </p:sp>
      <p:sp>
        <p:nvSpPr>
          <p:cNvPr id="27" name="任意多边形: 形状 26"/>
          <p:cNvSpPr/>
          <p:nvPr>
            <p:custDataLst>
              <p:tags r:id="rId17"/>
            </p:custDataLst>
          </p:nvPr>
        </p:nvSpPr>
        <p:spPr>
          <a:xfrm>
            <a:off x="6920926" y="3730619"/>
            <a:ext cx="2163386" cy="1138566"/>
          </a:xfrm>
          <a:custGeom>
            <a:avLst/>
            <a:gdLst>
              <a:gd name="connsiteX0" fmla="*/ 1334340 w 2667051"/>
              <a:gd name="connsiteY0" fmla="*/ 1534736 h 1534735"/>
              <a:gd name="connsiteX1" fmla="*/ 0 w 2667051"/>
              <a:gd name="connsiteY1" fmla="*/ 757592 h 1534735"/>
              <a:gd name="connsiteX2" fmla="*/ 1334340 w 2667051"/>
              <a:gd name="connsiteY2" fmla="*/ 0 h 1534735"/>
              <a:gd name="connsiteX3" fmla="*/ 2667052 w 2667051"/>
              <a:gd name="connsiteY3" fmla="*/ 764110 h 1534735"/>
            </a:gdLst>
            <a:ahLst/>
            <a:cxnLst>
              <a:cxn ang="0">
                <a:pos x="connsiteX0" y="connsiteY0"/>
              </a:cxn>
              <a:cxn ang="0">
                <a:pos x="connsiteX1" y="connsiteY1"/>
              </a:cxn>
              <a:cxn ang="0">
                <a:pos x="connsiteX2" y="connsiteY2"/>
              </a:cxn>
              <a:cxn ang="0">
                <a:pos x="connsiteX3" y="connsiteY3"/>
              </a:cxn>
            </a:cxnLst>
            <a:rect l="l" t="t" r="r" b="b"/>
            <a:pathLst>
              <a:path w="2667051" h="1534735">
                <a:moveTo>
                  <a:pt x="1334340" y="1534736"/>
                </a:moveTo>
                <a:lnTo>
                  <a:pt x="0" y="757592"/>
                </a:lnTo>
                <a:lnTo>
                  <a:pt x="1334340" y="0"/>
                </a:lnTo>
                <a:lnTo>
                  <a:pt x="2667052" y="764110"/>
                </a:lnTo>
                <a:close/>
              </a:path>
            </a:pathLst>
          </a:custGeom>
          <a:gradFill>
            <a:gsLst>
              <a:gs pos="100000">
                <a:schemeClr val="accent2">
                  <a:lumMod val="60000"/>
                  <a:lumOff val="40000"/>
                  <a:alpha val="100000"/>
                </a:schemeClr>
              </a:gs>
              <a:gs pos="35000">
                <a:schemeClr val="accent2">
                  <a:lumMod val="85000"/>
                  <a:lumOff val="15000"/>
                  <a:alpha val="100000"/>
                </a:schemeClr>
              </a:gs>
            </a:gsLst>
            <a:lin ang="10800000" scaled="0"/>
          </a:gradFill>
          <a:ln w="16291" cap="flat">
            <a:noFill/>
            <a:prstDash val="solid"/>
            <a:miter/>
          </a:ln>
        </p:spPr>
        <p:txBody>
          <a:bodyPr rtlCol="0" anchor="ctr"/>
          <a:lstStyle/>
          <a:p>
            <a:endParaRPr lang="zh-CN" altLang="en-US">
              <a:solidFill>
                <a:schemeClr val="tx1"/>
              </a:solidFill>
            </a:endParaRPr>
          </a:p>
        </p:txBody>
      </p:sp>
      <p:sp>
        <p:nvSpPr>
          <p:cNvPr id="28" name="任意多边形: 形状 27"/>
          <p:cNvSpPr/>
          <p:nvPr>
            <p:custDataLst>
              <p:tags r:id="rId18"/>
            </p:custDataLst>
          </p:nvPr>
        </p:nvSpPr>
        <p:spPr>
          <a:xfrm>
            <a:off x="7335894" y="3946971"/>
            <a:ext cx="1334771" cy="705862"/>
          </a:xfrm>
          <a:custGeom>
            <a:avLst/>
            <a:gdLst>
              <a:gd name="connsiteX0" fmla="*/ 826020 w 1645523"/>
              <a:gd name="connsiteY0" fmla="*/ 951471 h 951470"/>
              <a:gd name="connsiteX1" fmla="*/ 0 w 1645523"/>
              <a:gd name="connsiteY1" fmla="*/ 459443 h 951470"/>
              <a:gd name="connsiteX2" fmla="*/ 817874 w 1645523"/>
              <a:gd name="connsiteY2" fmla="*/ 0 h 951470"/>
              <a:gd name="connsiteX3" fmla="*/ 1645523 w 1645523"/>
              <a:gd name="connsiteY3" fmla="*/ 470848 h 951470"/>
            </a:gdLst>
            <a:ahLst/>
            <a:cxnLst>
              <a:cxn ang="0">
                <a:pos x="connsiteX0" y="connsiteY0"/>
              </a:cxn>
              <a:cxn ang="0">
                <a:pos x="connsiteX1" y="connsiteY1"/>
              </a:cxn>
              <a:cxn ang="0">
                <a:pos x="connsiteX2" y="connsiteY2"/>
              </a:cxn>
              <a:cxn ang="0">
                <a:pos x="connsiteX3" y="connsiteY3"/>
              </a:cxn>
            </a:cxnLst>
            <a:rect l="l" t="t" r="r" b="b"/>
            <a:pathLst>
              <a:path w="1645523" h="951470">
                <a:moveTo>
                  <a:pt x="826020" y="951471"/>
                </a:moveTo>
                <a:lnTo>
                  <a:pt x="0" y="459443"/>
                </a:lnTo>
                <a:lnTo>
                  <a:pt x="817874" y="0"/>
                </a:lnTo>
                <a:lnTo>
                  <a:pt x="1645523" y="470848"/>
                </a:lnTo>
                <a:close/>
              </a:path>
            </a:pathLst>
          </a:custGeom>
          <a:solidFill>
            <a:srgbClr val="FFFFFF"/>
          </a:solidFill>
          <a:ln w="16291" cap="flat">
            <a:noFill/>
            <a:prstDash val="solid"/>
            <a:miter/>
          </a:ln>
        </p:spPr>
        <p:txBody>
          <a:bodyPr rtlCol="0" anchor="ctr"/>
          <a:lstStyle/>
          <a:p>
            <a:endParaRPr lang="zh-CN" altLang="en-US">
              <a:solidFill>
                <a:schemeClr val="tx1"/>
              </a:solidFill>
            </a:endParaRPr>
          </a:p>
        </p:txBody>
      </p:sp>
      <p:sp>
        <p:nvSpPr>
          <p:cNvPr id="29" name="任意多边形: 形状 28"/>
          <p:cNvSpPr/>
          <p:nvPr>
            <p:custDataLst>
              <p:tags r:id="rId19"/>
            </p:custDataLst>
          </p:nvPr>
        </p:nvSpPr>
        <p:spPr>
          <a:xfrm>
            <a:off x="8003280" y="2553375"/>
            <a:ext cx="2163386" cy="1138566"/>
          </a:xfrm>
          <a:custGeom>
            <a:avLst/>
            <a:gdLst>
              <a:gd name="connsiteX0" fmla="*/ 1332711 w 2667051"/>
              <a:gd name="connsiteY0" fmla="*/ 1534736 h 1534735"/>
              <a:gd name="connsiteX1" fmla="*/ 0 w 2667051"/>
              <a:gd name="connsiteY1" fmla="*/ 759222 h 1534735"/>
              <a:gd name="connsiteX2" fmla="*/ 1332711 w 2667051"/>
              <a:gd name="connsiteY2" fmla="*/ 0 h 1534735"/>
              <a:gd name="connsiteX3" fmla="*/ 2667051 w 2667051"/>
              <a:gd name="connsiteY3" fmla="*/ 764110 h 1534735"/>
            </a:gdLst>
            <a:ahLst/>
            <a:cxnLst>
              <a:cxn ang="0">
                <a:pos x="connsiteX0" y="connsiteY0"/>
              </a:cxn>
              <a:cxn ang="0">
                <a:pos x="connsiteX1" y="connsiteY1"/>
              </a:cxn>
              <a:cxn ang="0">
                <a:pos x="connsiteX2" y="connsiteY2"/>
              </a:cxn>
              <a:cxn ang="0">
                <a:pos x="connsiteX3" y="connsiteY3"/>
              </a:cxn>
            </a:cxnLst>
            <a:rect l="l" t="t" r="r" b="b"/>
            <a:pathLst>
              <a:path w="2667051" h="1534735">
                <a:moveTo>
                  <a:pt x="1332711" y="1534736"/>
                </a:moveTo>
                <a:lnTo>
                  <a:pt x="0" y="759222"/>
                </a:lnTo>
                <a:lnTo>
                  <a:pt x="1332711" y="0"/>
                </a:lnTo>
                <a:lnTo>
                  <a:pt x="2667051" y="764110"/>
                </a:lnTo>
                <a:close/>
              </a:path>
            </a:pathLst>
          </a:custGeom>
          <a:gradFill>
            <a:gsLst>
              <a:gs pos="100000">
                <a:schemeClr val="accent3">
                  <a:lumMod val="60000"/>
                  <a:lumOff val="40000"/>
                  <a:alpha val="100000"/>
                </a:schemeClr>
              </a:gs>
              <a:gs pos="35000">
                <a:schemeClr val="accent3">
                  <a:lumMod val="85000"/>
                  <a:lumOff val="15000"/>
                  <a:alpha val="100000"/>
                </a:schemeClr>
              </a:gs>
            </a:gsLst>
            <a:lin ang="10800000" scaled="0"/>
          </a:gradFill>
          <a:ln w="16291" cap="flat">
            <a:noFill/>
            <a:prstDash val="solid"/>
            <a:miter/>
          </a:ln>
        </p:spPr>
        <p:txBody>
          <a:bodyPr rtlCol="0" anchor="ctr"/>
          <a:lstStyle/>
          <a:p>
            <a:endParaRPr lang="zh-CN" altLang="en-US">
              <a:solidFill>
                <a:schemeClr val="tx1"/>
              </a:solidFill>
            </a:endParaRPr>
          </a:p>
        </p:txBody>
      </p:sp>
      <p:sp>
        <p:nvSpPr>
          <p:cNvPr id="30" name="任意多边形: 形状 29"/>
          <p:cNvSpPr/>
          <p:nvPr>
            <p:custDataLst>
              <p:tags r:id="rId20"/>
            </p:custDataLst>
          </p:nvPr>
        </p:nvSpPr>
        <p:spPr>
          <a:xfrm>
            <a:off x="8416927" y="2769727"/>
            <a:ext cx="1336093" cy="705863"/>
          </a:xfrm>
          <a:custGeom>
            <a:avLst/>
            <a:gdLst>
              <a:gd name="connsiteX0" fmla="*/ 827649 w 1647152"/>
              <a:gd name="connsiteY0" fmla="*/ 951471 h 951471"/>
              <a:gd name="connsiteX1" fmla="*/ 0 w 1647152"/>
              <a:gd name="connsiteY1" fmla="*/ 459443 h 951471"/>
              <a:gd name="connsiteX2" fmla="*/ 819503 w 1647152"/>
              <a:gd name="connsiteY2" fmla="*/ 0 h 951471"/>
              <a:gd name="connsiteX3" fmla="*/ 1647153 w 1647152"/>
              <a:gd name="connsiteY3" fmla="*/ 470848 h 951471"/>
            </a:gdLst>
            <a:ahLst/>
            <a:cxnLst>
              <a:cxn ang="0">
                <a:pos x="connsiteX0" y="connsiteY0"/>
              </a:cxn>
              <a:cxn ang="0">
                <a:pos x="connsiteX1" y="connsiteY1"/>
              </a:cxn>
              <a:cxn ang="0">
                <a:pos x="connsiteX2" y="connsiteY2"/>
              </a:cxn>
              <a:cxn ang="0">
                <a:pos x="connsiteX3" y="connsiteY3"/>
              </a:cxn>
            </a:cxnLst>
            <a:rect l="l" t="t" r="r" b="b"/>
            <a:pathLst>
              <a:path w="1647152" h="951471">
                <a:moveTo>
                  <a:pt x="827649" y="951471"/>
                </a:moveTo>
                <a:lnTo>
                  <a:pt x="0" y="459443"/>
                </a:lnTo>
                <a:lnTo>
                  <a:pt x="819503" y="0"/>
                </a:lnTo>
                <a:lnTo>
                  <a:pt x="1647153" y="470848"/>
                </a:lnTo>
                <a:close/>
              </a:path>
            </a:pathLst>
          </a:custGeom>
          <a:solidFill>
            <a:srgbClr val="FFFFFF"/>
          </a:solidFill>
          <a:ln w="16291" cap="flat">
            <a:noFill/>
            <a:prstDash val="solid"/>
            <a:miter/>
          </a:ln>
        </p:spPr>
        <p:txBody>
          <a:bodyPr rtlCol="0" anchor="ctr"/>
          <a:lstStyle/>
          <a:p>
            <a:endParaRPr lang="zh-CN" altLang="en-US">
              <a:solidFill>
                <a:schemeClr val="tx1"/>
              </a:solidFill>
            </a:endParaRPr>
          </a:p>
        </p:txBody>
      </p:sp>
      <p:sp>
        <p:nvSpPr>
          <p:cNvPr id="31" name="任意多边形: 形状 30"/>
          <p:cNvSpPr/>
          <p:nvPr>
            <p:custDataLst>
              <p:tags r:id="rId21"/>
            </p:custDataLst>
          </p:nvPr>
        </p:nvSpPr>
        <p:spPr>
          <a:xfrm>
            <a:off x="6920926" y="4292650"/>
            <a:ext cx="1082354" cy="1180871"/>
          </a:xfrm>
          <a:custGeom>
            <a:avLst/>
            <a:gdLst>
              <a:gd name="connsiteX0" fmla="*/ 0 w 1334340"/>
              <a:gd name="connsiteY0" fmla="*/ 0 h 1591759"/>
              <a:gd name="connsiteX1" fmla="*/ 0 w 1334340"/>
              <a:gd name="connsiteY1" fmla="*/ 829279 h 1591759"/>
              <a:gd name="connsiteX2" fmla="*/ 1334340 w 1334340"/>
              <a:gd name="connsiteY2" fmla="*/ 1591759 h 1591759"/>
              <a:gd name="connsiteX3" fmla="*/ 1334340 w 1334340"/>
              <a:gd name="connsiteY3" fmla="*/ 777144 h 1591759"/>
            </a:gdLst>
            <a:ahLst/>
            <a:cxnLst>
              <a:cxn ang="0">
                <a:pos x="connsiteX0" y="connsiteY0"/>
              </a:cxn>
              <a:cxn ang="0">
                <a:pos x="connsiteX1" y="connsiteY1"/>
              </a:cxn>
              <a:cxn ang="0">
                <a:pos x="connsiteX2" y="connsiteY2"/>
              </a:cxn>
              <a:cxn ang="0">
                <a:pos x="connsiteX3" y="connsiteY3"/>
              </a:cxn>
            </a:cxnLst>
            <a:rect l="l" t="t" r="r" b="b"/>
            <a:pathLst>
              <a:path w="1334340" h="1591759">
                <a:moveTo>
                  <a:pt x="0" y="0"/>
                </a:moveTo>
                <a:lnTo>
                  <a:pt x="0" y="829279"/>
                </a:lnTo>
                <a:lnTo>
                  <a:pt x="1334340" y="1591759"/>
                </a:lnTo>
                <a:lnTo>
                  <a:pt x="1334340" y="777144"/>
                </a:lnTo>
                <a:close/>
              </a:path>
            </a:pathLst>
          </a:custGeom>
          <a:solidFill>
            <a:schemeClr val="tx1">
              <a:lumMod val="25000"/>
              <a:lumOff val="75000"/>
              <a:alpha val="25000"/>
            </a:schemeClr>
          </a:solidFill>
          <a:ln w="16291" cap="flat">
            <a:noFill/>
            <a:prstDash val="solid"/>
            <a:miter/>
          </a:ln>
        </p:spPr>
        <p:txBody>
          <a:bodyPr rtlCol="0" anchor="ctr"/>
          <a:lstStyle/>
          <a:p>
            <a:endParaRPr lang="zh-CN" altLang="en-US">
              <a:solidFill>
                <a:schemeClr val="tx1"/>
              </a:solidFill>
            </a:endParaRPr>
          </a:p>
        </p:txBody>
      </p:sp>
      <p:pic>
        <p:nvPicPr>
          <p:cNvPr id="46" name="图片 12" descr="343439383331313b343532303032383bbfcdbba7b9dcc0ed"/>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6722925" y="5243146"/>
            <a:ext cx="396000" cy="396000"/>
          </a:xfrm>
          <a:prstGeom prst="rect">
            <a:avLst/>
          </a:prstGeom>
        </p:spPr>
      </p:pic>
      <p:pic>
        <p:nvPicPr>
          <p:cNvPr id="51" name="图片 19" descr="343439383331313b343532303033353bc4dcd0a7b7fecef1"/>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7808879" y="4065902"/>
            <a:ext cx="388800" cy="388800"/>
          </a:xfrm>
          <a:prstGeom prst="rect">
            <a:avLst/>
          </a:prstGeom>
        </p:spPr>
      </p:pic>
      <p:pic>
        <p:nvPicPr>
          <p:cNvPr id="52" name="图片 5" descr="343439383331313b343532303032323bb2fac6b7d5b9cabe"/>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8886973" y="2888658"/>
            <a:ext cx="396000" cy="396000"/>
          </a:xfrm>
          <a:prstGeom prst="rect">
            <a:avLst/>
          </a:prstGeom>
        </p:spPr>
      </p:pic>
      <p:sp>
        <p:nvSpPr>
          <p:cNvPr id="32" name="任意多边形: 形状 31"/>
          <p:cNvSpPr/>
          <p:nvPr>
            <p:custDataLst>
              <p:tags r:id="rId31"/>
            </p:custDataLst>
          </p:nvPr>
        </p:nvSpPr>
        <p:spPr>
          <a:xfrm>
            <a:off x="8003280" y="3116615"/>
            <a:ext cx="1081032" cy="1180870"/>
          </a:xfrm>
          <a:custGeom>
            <a:avLst/>
            <a:gdLst>
              <a:gd name="connsiteX0" fmla="*/ 0 w 1332711"/>
              <a:gd name="connsiteY0" fmla="*/ 0 h 1591758"/>
              <a:gd name="connsiteX1" fmla="*/ 0 w 1332711"/>
              <a:gd name="connsiteY1" fmla="*/ 827650 h 1591758"/>
              <a:gd name="connsiteX2" fmla="*/ 1332711 w 1332711"/>
              <a:gd name="connsiteY2" fmla="*/ 1591759 h 1591758"/>
              <a:gd name="connsiteX3" fmla="*/ 1332711 w 1332711"/>
              <a:gd name="connsiteY3" fmla="*/ 775514 h 1591758"/>
            </a:gdLst>
            <a:ahLst/>
            <a:cxnLst>
              <a:cxn ang="0">
                <a:pos x="connsiteX0" y="connsiteY0"/>
              </a:cxn>
              <a:cxn ang="0">
                <a:pos x="connsiteX1" y="connsiteY1"/>
              </a:cxn>
              <a:cxn ang="0">
                <a:pos x="connsiteX2" y="connsiteY2"/>
              </a:cxn>
              <a:cxn ang="0">
                <a:pos x="connsiteX3" y="connsiteY3"/>
              </a:cxn>
            </a:cxnLst>
            <a:rect l="l" t="t" r="r" b="b"/>
            <a:pathLst>
              <a:path w="1332711" h="1591758">
                <a:moveTo>
                  <a:pt x="0" y="0"/>
                </a:moveTo>
                <a:lnTo>
                  <a:pt x="0" y="827650"/>
                </a:lnTo>
                <a:lnTo>
                  <a:pt x="1332711" y="1591759"/>
                </a:lnTo>
                <a:lnTo>
                  <a:pt x="1332711" y="775514"/>
                </a:lnTo>
                <a:close/>
              </a:path>
            </a:pathLst>
          </a:custGeom>
          <a:solidFill>
            <a:schemeClr val="tx1">
              <a:lumMod val="25000"/>
              <a:lumOff val="75000"/>
              <a:alpha val="25000"/>
            </a:schemeClr>
          </a:solidFill>
          <a:ln w="16291" cap="flat">
            <a:noFill/>
            <a:prstDash val="solid"/>
            <a:miter/>
          </a:ln>
        </p:spPr>
        <p:txBody>
          <a:bodyPr rtlCol="0" anchor="ctr"/>
          <a:lstStyle/>
          <a:p>
            <a:endParaRPr lang="zh-CN" altLang="en-US">
              <a:solidFill>
                <a:schemeClr val="tx1"/>
              </a:solidFill>
            </a:endParaRPr>
          </a:p>
        </p:txBody>
      </p:sp>
      <p:sp>
        <p:nvSpPr>
          <p:cNvPr id="48" name="任意多边形: 形状 47"/>
          <p:cNvSpPr/>
          <p:nvPr>
            <p:custDataLst>
              <p:tags r:id="rId32"/>
            </p:custDataLst>
          </p:nvPr>
        </p:nvSpPr>
        <p:spPr>
          <a:xfrm>
            <a:off x="9083479" y="1377945"/>
            <a:ext cx="2163386" cy="1138566"/>
          </a:xfrm>
          <a:custGeom>
            <a:avLst/>
            <a:gdLst>
              <a:gd name="connsiteX0" fmla="*/ 1332711 w 2667051"/>
              <a:gd name="connsiteY0" fmla="*/ 1534736 h 1534735"/>
              <a:gd name="connsiteX1" fmla="*/ 0 w 2667051"/>
              <a:gd name="connsiteY1" fmla="*/ 759222 h 1534735"/>
              <a:gd name="connsiteX2" fmla="*/ 1332711 w 2667051"/>
              <a:gd name="connsiteY2" fmla="*/ 0 h 1534735"/>
              <a:gd name="connsiteX3" fmla="*/ 2667051 w 2667051"/>
              <a:gd name="connsiteY3" fmla="*/ 764110 h 1534735"/>
            </a:gdLst>
            <a:ahLst/>
            <a:cxnLst>
              <a:cxn ang="0">
                <a:pos x="connsiteX0" y="connsiteY0"/>
              </a:cxn>
              <a:cxn ang="0">
                <a:pos x="connsiteX1" y="connsiteY1"/>
              </a:cxn>
              <a:cxn ang="0">
                <a:pos x="connsiteX2" y="connsiteY2"/>
              </a:cxn>
              <a:cxn ang="0">
                <a:pos x="connsiteX3" y="connsiteY3"/>
              </a:cxn>
            </a:cxnLst>
            <a:rect l="l" t="t" r="r" b="b"/>
            <a:pathLst>
              <a:path w="2667051" h="1534735">
                <a:moveTo>
                  <a:pt x="1332711" y="1534736"/>
                </a:moveTo>
                <a:lnTo>
                  <a:pt x="0" y="759222"/>
                </a:lnTo>
                <a:lnTo>
                  <a:pt x="1332711" y="0"/>
                </a:lnTo>
                <a:lnTo>
                  <a:pt x="2667051" y="764110"/>
                </a:lnTo>
                <a:close/>
              </a:path>
            </a:pathLst>
          </a:custGeom>
          <a:gradFill>
            <a:gsLst>
              <a:gs pos="100000">
                <a:schemeClr val="accent4">
                  <a:lumMod val="60000"/>
                  <a:lumOff val="40000"/>
                  <a:alpha val="100000"/>
                </a:schemeClr>
              </a:gs>
              <a:gs pos="35000">
                <a:schemeClr val="accent4">
                  <a:lumMod val="85000"/>
                  <a:lumOff val="15000"/>
                  <a:alpha val="100000"/>
                </a:schemeClr>
              </a:gs>
            </a:gsLst>
            <a:lin ang="10800000" scaled="0"/>
          </a:gradFill>
          <a:ln w="16291" cap="flat">
            <a:noFill/>
            <a:prstDash val="solid"/>
            <a:miter/>
          </a:ln>
        </p:spPr>
        <p:txBody>
          <a:bodyPr rtlCol="0" anchor="ctr"/>
          <a:lstStyle/>
          <a:p>
            <a:endParaRPr lang="zh-CN" altLang="en-US">
              <a:solidFill>
                <a:schemeClr val="tx1"/>
              </a:solidFill>
            </a:endParaRPr>
          </a:p>
        </p:txBody>
      </p:sp>
      <p:sp>
        <p:nvSpPr>
          <p:cNvPr id="49" name="任意多边形: 形状 48"/>
          <p:cNvSpPr/>
          <p:nvPr>
            <p:custDataLst>
              <p:tags r:id="rId33"/>
            </p:custDataLst>
          </p:nvPr>
        </p:nvSpPr>
        <p:spPr>
          <a:xfrm>
            <a:off x="9497125" y="1594297"/>
            <a:ext cx="1336093" cy="705863"/>
          </a:xfrm>
          <a:custGeom>
            <a:avLst/>
            <a:gdLst>
              <a:gd name="connsiteX0" fmla="*/ 827649 w 1647152"/>
              <a:gd name="connsiteY0" fmla="*/ 951471 h 951471"/>
              <a:gd name="connsiteX1" fmla="*/ 0 w 1647152"/>
              <a:gd name="connsiteY1" fmla="*/ 459443 h 951471"/>
              <a:gd name="connsiteX2" fmla="*/ 819503 w 1647152"/>
              <a:gd name="connsiteY2" fmla="*/ 0 h 951471"/>
              <a:gd name="connsiteX3" fmla="*/ 1647153 w 1647152"/>
              <a:gd name="connsiteY3" fmla="*/ 470848 h 951471"/>
            </a:gdLst>
            <a:ahLst/>
            <a:cxnLst>
              <a:cxn ang="0">
                <a:pos x="connsiteX0" y="connsiteY0"/>
              </a:cxn>
              <a:cxn ang="0">
                <a:pos x="connsiteX1" y="connsiteY1"/>
              </a:cxn>
              <a:cxn ang="0">
                <a:pos x="connsiteX2" y="connsiteY2"/>
              </a:cxn>
              <a:cxn ang="0">
                <a:pos x="connsiteX3" y="connsiteY3"/>
              </a:cxn>
            </a:cxnLst>
            <a:rect l="l" t="t" r="r" b="b"/>
            <a:pathLst>
              <a:path w="1647152" h="951471">
                <a:moveTo>
                  <a:pt x="827649" y="951471"/>
                </a:moveTo>
                <a:lnTo>
                  <a:pt x="0" y="459443"/>
                </a:lnTo>
                <a:lnTo>
                  <a:pt x="819503" y="0"/>
                </a:lnTo>
                <a:lnTo>
                  <a:pt x="1647153" y="470848"/>
                </a:lnTo>
                <a:close/>
              </a:path>
            </a:pathLst>
          </a:custGeom>
          <a:solidFill>
            <a:srgbClr val="FFFFFF"/>
          </a:solidFill>
          <a:ln w="16291" cap="flat">
            <a:noFill/>
            <a:prstDash val="solid"/>
            <a:miter/>
          </a:ln>
        </p:spPr>
        <p:txBody>
          <a:bodyPr rtlCol="0" anchor="ctr"/>
          <a:lstStyle/>
          <a:p>
            <a:endParaRPr lang="zh-CN" altLang="en-US">
              <a:solidFill>
                <a:schemeClr val="tx1"/>
              </a:solidFill>
            </a:endParaRPr>
          </a:p>
        </p:txBody>
      </p:sp>
      <p:sp>
        <p:nvSpPr>
          <p:cNvPr id="50" name="任意多边形: 形状 49"/>
          <p:cNvSpPr/>
          <p:nvPr>
            <p:custDataLst>
              <p:tags r:id="rId34"/>
            </p:custDataLst>
          </p:nvPr>
        </p:nvSpPr>
        <p:spPr>
          <a:xfrm>
            <a:off x="9083479" y="1941185"/>
            <a:ext cx="1081032" cy="1180870"/>
          </a:xfrm>
          <a:custGeom>
            <a:avLst/>
            <a:gdLst>
              <a:gd name="connsiteX0" fmla="*/ 0 w 1332711"/>
              <a:gd name="connsiteY0" fmla="*/ 0 h 1591758"/>
              <a:gd name="connsiteX1" fmla="*/ 0 w 1332711"/>
              <a:gd name="connsiteY1" fmla="*/ 827650 h 1591758"/>
              <a:gd name="connsiteX2" fmla="*/ 1332711 w 1332711"/>
              <a:gd name="connsiteY2" fmla="*/ 1591759 h 1591758"/>
              <a:gd name="connsiteX3" fmla="*/ 1332711 w 1332711"/>
              <a:gd name="connsiteY3" fmla="*/ 775514 h 1591758"/>
            </a:gdLst>
            <a:ahLst/>
            <a:cxnLst>
              <a:cxn ang="0">
                <a:pos x="connsiteX0" y="connsiteY0"/>
              </a:cxn>
              <a:cxn ang="0">
                <a:pos x="connsiteX1" y="connsiteY1"/>
              </a:cxn>
              <a:cxn ang="0">
                <a:pos x="connsiteX2" y="connsiteY2"/>
              </a:cxn>
              <a:cxn ang="0">
                <a:pos x="connsiteX3" y="connsiteY3"/>
              </a:cxn>
            </a:cxnLst>
            <a:rect l="l" t="t" r="r" b="b"/>
            <a:pathLst>
              <a:path w="1332711" h="1591758">
                <a:moveTo>
                  <a:pt x="0" y="0"/>
                </a:moveTo>
                <a:lnTo>
                  <a:pt x="0" y="827650"/>
                </a:lnTo>
                <a:lnTo>
                  <a:pt x="1332711" y="1591759"/>
                </a:lnTo>
                <a:lnTo>
                  <a:pt x="1332711" y="775514"/>
                </a:lnTo>
                <a:close/>
              </a:path>
            </a:pathLst>
          </a:custGeom>
          <a:solidFill>
            <a:schemeClr val="tx1">
              <a:lumMod val="25000"/>
              <a:lumOff val="75000"/>
              <a:alpha val="25000"/>
            </a:schemeClr>
          </a:solidFill>
          <a:ln w="16291" cap="flat">
            <a:noFill/>
            <a:prstDash val="solid"/>
            <a:miter/>
          </a:ln>
        </p:spPr>
        <p:txBody>
          <a:bodyPr rtlCol="0" anchor="ctr"/>
          <a:lstStyle/>
          <a:p>
            <a:endParaRPr lang="zh-CN" altLang="en-US">
              <a:solidFill>
                <a:schemeClr val="tx1"/>
              </a:solidFill>
            </a:endParaRPr>
          </a:p>
        </p:txBody>
      </p:sp>
      <p:sp>
        <p:nvSpPr>
          <p:cNvPr id="55" name="任意多边形: 形状 54"/>
          <p:cNvSpPr/>
          <p:nvPr>
            <p:custDataLst>
              <p:tags r:id="rId35"/>
            </p:custDataLst>
          </p:nvPr>
        </p:nvSpPr>
        <p:spPr>
          <a:xfrm>
            <a:off x="6920926" y="1941185"/>
            <a:ext cx="4328097" cy="4255120"/>
          </a:xfrm>
          <a:custGeom>
            <a:avLst/>
            <a:gdLst>
              <a:gd name="connsiteX0" fmla="*/ 1362480 w 1362480"/>
              <a:gd name="connsiteY0" fmla="*/ 0 h 1660183"/>
              <a:gd name="connsiteX1" fmla="*/ 1362480 w 1362480"/>
              <a:gd name="connsiteY1" fmla="*/ 177660 h 1660183"/>
              <a:gd name="connsiteX2" fmla="*/ 163757 w 1362480"/>
              <a:gd name="connsiteY2" fmla="*/ 804785 h 1660183"/>
              <a:gd name="connsiteX3" fmla="*/ 163757 w 1362480"/>
              <a:gd name="connsiteY3" fmla="*/ 1573125 h 1660183"/>
              <a:gd name="connsiteX4" fmla="*/ 0 w 1362480"/>
              <a:gd name="connsiteY4" fmla="*/ 1660183 h 1660183"/>
              <a:gd name="connsiteX5" fmla="*/ 0 w 1362480"/>
              <a:gd name="connsiteY5" fmla="*/ 1480414 h 1660183"/>
              <a:gd name="connsiteX6" fmla="*/ 2711 w 1362480"/>
              <a:gd name="connsiteY6" fmla="*/ 1478980 h 1660183"/>
              <a:gd name="connsiteX7" fmla="*/ 2711 w 1362480"/>
              <a:gd name="connsiteY7" fmla="*/ 719751 h 16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6" h="6701">
                <a:moveTo>
                  <a:pt x="6816" y="0"/>
                </a:moveTo>
                <a:lnTo>
                  <a:pt x="6816" y="223"/>
                </a:lnTo>
                <a:lnTo>
                  <a:pt x="5313" y="1009"/>
                </a:lnTo>
                <a:lnTo>
                  <a:pt x="5313" y="1972"/>
                </a:lnTo>
                <a:lnTo>
                  <a:pt x="5111" y="2079"/>
                </a:lnTo>
                <a:lnTo>
                  <a:pt x="5111" y="2079"/>
                </a:lnTo>
                <a:lnTo>
                  <a:pt x="3609" y="2866"/>
                </a:lnTo>
                <a:lnTo>
                  <a:pt x="3609" y="3829"/>
                </a:lnTo>
                <a:lnTo>
                  <a:pt x="1919" y="4727"/>
                </a:lnTo>
                <a:lnTo>
                  <a:pt x="1919" y="5681"/>
                </a:lnTo>
                <a:lnTo>
                  <a:pt x="0" y="6701"/>
                </a:lnTo>
                <a:lnTo>
                  <a:pt x="0" y="6465"/>
                </a:lnTo>
                <a:lnTo>
                  <a:pt x="1704" y="5563"/>
                </a:lnTo>
                <a:lnTo>
                  <a:pt x="1704" y="4611"/>
                </a:lnTo>
                <a:lnTo>
                  <a:pt x="3407" y="3711"/>
                </a:lnTo>
                <a:lnTo>
                  <a:pt x="3407" y="2759"/>
                </a:lnTo>
                <a:lnTo>
                  <a:pt x="5108" y="1859"/>
                </a:lnTo>
                <a:lnTo>
                  <a:pt x="5108" y="1856"/>
                </a:lnTo>
                <a:lnTo>
                  <a:pt x="5111" y="1854"/>
                </a:lnTo>
                <a:lnTo>
                  <a:pt x="5111" y="902"/>
                </a:lnTo>
                <a:lnTo>
                  <a:pt x="6816" y="0"/>
                </a:lnTo>
                <a:close/>
              </a:path>
            </a:pathLst>
          </a:custGeom>
          <a:solidFill>
            <a:schemeClr val="tx1">
              <a:lumMod val="35000"/>
              <a:lumOff val="65000"/>
              <a:alpha val="35000"/>
            </a:schemeClr>
          </a:solidFill>
          <a:ln w="16291" cap="flat">
            <a:noFill/>
            <a:prstDash val="solid"/>
            <a:miter/>
          </a:ln>
        </p:spPr>
        <p:txBody>
          <a:bodyPr wrap="square" rtlCol="0" anchor="ctr">
            <a:noAutofit/>
          </a:bodyPr>
          <a:lstStyle/>
          <a:p>
            <a:endParaRPr lang="zh-CN" altLang="en-US">
              <a:solidFill>
                <a:schemeClr val="tx1"/>
              </a:solidFill>
            </a:endParaRPr>
          </a:p>
        </p:txBody>
      </p:sp>
      <p:sp>
        <p:nvSpPr>
          <p:cNvPr id="56" name="任意多边形: 形状 55"/>
          <p:cNvSpPr/>
          <p:nvPr>
            <p:custDataLst>
              <p:tags r:id="rId36"/>
            </p:custDataLst>
          </p:nvPr>
        </p:nvSpPr>
        <p:spPr>
          <a:xfrm>
            <a:off x="5838572" y="5468269"/>
            <a:ext cx="1082354" cy="726410"/>
          </a:xfrm>
          <a:custGeom>
            <a:avLst/>
            <a:gdLst>
              <a:gd name="connsiteX0" fmla="*/ 1334340 w 1334340"/>
              <a:gd name="connsiteY0" fmla="*/ 777143 h 979167"/>
              <a:gd name="connsiteX1" fmla="*/ 0 w 1334340"/>
              <a:gd name="connsiteY1" fmla="*/ 0 h 979167"/>
              <a:gd name="connsiteX2" fmla="*/ 0 w 1334340"/>
              <a:gd name="connsiteY2" fmla="*/ 215058 h 979167"/>
              <a:gd name="connsiteX3" fmla="*/ 1334340 w 1334340"/>
              <a:gd name="connsiteY3" fmla="*/ 979168 h 979167"/>
            </a:gdLst>
            <a:ahLst/>
            <a:cxnLst>
              <a:cxn ang="0">
                <a:pos x="connsiteX0" y="connsiteY0"/>
              </a:cxn>
              <a:cxn ang="0">
                <a:pos x="connsiteX1" y="connsiteY1"/>
              </a:cxn>
              <a:cxn ang="0">
                <a:pos x="connsiteX2" y="connsiteY2"/>
              </a:cxn>
              <a:cxn ang="0">
                <a:pos x="connsiteX3" y="connsiteY3"/>
              </a:cxn>
            </a:cxnLst>
            <a:rect l="l" t="t" r="r" b="b"/>
            <a:pathLst>
              <a:path w="1334340" h="979167">
                <a:moveTo>
                  <a:pt x="1334340" y="777143"/>
                </a:moveTo>
                <a:lnTo>
                  <a:pt x="0" y="0"/>
                </a:lnTo>
                <a:lnTo>
                  <a:pt x="0" y="215058"/>
                </a:lnTo>
                <a:lnTo>
                  <a:pt x="1334340" y="979168"/>
                </a:lnTo>
                <a:close/>
              </a:path>
            </a:pathLst>
          </a:custGeom>
          <a:solidFill>
            <a:schemeClr val="tx1">
              <a:lumMod val="25000"/>
              <a:lumOff val="75000"/>
              <a:alpha val="25000"/>
            </a:schemeClr>
          </a:solidFill>
          <a:ln w="1629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64" name="文本框 63"/>
          <p:cNvSpPr txBox="1"/>
          <p:nvPr>
            <p:custDataLst>
              <p:tags r:id="rId37"/>
            </p:custDataLst>
          </p:nvPr>
        </p:nvSpPr>
        <p:spPr>
          <a:xfrm>
            <a:off x="6542687" y="940320"/>
            <a:ext cx="2485719" cy="1440000"/>
          </a:xfrm>
          <a:prstGeom prst="rect">
            <a:avLst/>
          </a:prstGeom>
          <a:noFill/>
        </p:spPr>
        <p:txBody>
          <a:bodyPr wrap="square" lIns="0" tIns="0" rIns="0" bIns="0">
            <a:noAutofit/>
          </a:bodyPr>
          <a:lstStyle/>
          <a:p>
            <a:pPr>
              <a:lnSpc>
                <a:spcPct val="150000"/>
              </a:lnSpc>
            </a:pPr>
            <a:r>
              <a:rPr lang="zh-CN" altLang="en-US" sz="1200" kern="0" spc="0" dirty="0">
                <a:ln>
                  <a:noFill/>
                  <a:prstDash val="sysDot"/>
                </a:ln>
                <a:solidFill>
                  <a:schemeClr val="tx1">
                    <a:lumMod val="85000"/>
                    <a:lumOff val="15000"/>
                  </a:schemeClr>
                </a:solidFill>
                <a:latin typeface="+mn-ea"/>
                <a:ea typeface="+mn-ea"/>
                <a:sym typeface="+mn-ea"/>
              </a:rPr>
              <a:t>通过深度优化平台训练框架性能，实现训练</a:t>
            </a:r>
            <a:r>
              <a:rPr lang="en-US" altLang="zh-CN" sz="1200" kern="0" spc="0" dirty="0">
                <a:ln>
                  <a:noFill/>
                  <a:prstDash val="sysDot"/>
                </a:ln>
                <a:solidFill>
                  <a:schemeClr val="tx1">
                    <a:lumMod val="85000"/>
                    <a:lumOff val="15000"/>
                  </a:schemeClr>
                </a:solidFill>
                <a:latin typeface="+mn-ea"/>
                <a:ea typeface="+mn-ea"/>
                <a:sym typeface="+mn-ea"/>
              </a:rPr>
              <a:t> MFU </a:t>
            </a:r>
            <a:r>
              <a:rPr lang="zh-CN" altLang="en-US" sz="1200" kern="0" spc="0" dirty="0">
                <a:ln>
                  <a:noFill/>
                  <a:prstDash val="sysDot"/>
                </a:ln>
                <a:solidFill>
                  <a:schemeClr val="tx1">
                    <a:lumMod val="85000"/>
                    <a:lumOff val="15000"/>
                  </a:schemeClr>
                </a:solidFill>
                <a:latin typeface="+mn-ea"/>
                <a:ea typeface="+mn-ea"/>
                <a:sym typeface="+mn-ea"/>
              </a:rPr>
              <a:t>提升</a:t>
            </a:r>
            <a:r>
              <a:rPr lang="en-US" altLang="zh-CN" sz="1200" kern="0" spc="0" dirty="0">
                <a:ln>
                  <a:noFill/>
                  <a:prstDash val="sysDot"/>
                </a:ln>
                <a:solidFill>
                  <a:schemeClr val="tx1">
                    <a:lumMod val="85000"/>
                    <a:lumOff val="15000"/>
                  </a:schemeClr>
                </a:solidFill>
                <a:latin typeface="+mn-ea"/>
                <a:ea typeface="+mn-ea"/>
                <a:sym typeface="+mn-ea"/>
              </a:rPr>
              <a:t> ≥20% </a:t>
            </a:r>
            <a:r>
              <a:rPr lang="zh-CN" altLang="en-US" sz="1200" kern="0" spc="0" dirty="0">
                <a:ln>
                  <a:noFill/>
                  <a:prstDash val="sysDot"/>
                </a:ln>
                <a:solidFill>
                  <a:schemeClr val="tx1">
                    <a:lumMod val="85000"/>
                    <a:lumOff val="15000"/>
                  </a:schemeClr>
                </a:solidFill>
                <a:latin typeface="+mn-ea"/>
                <a:ea typeface="+mn-ea"/>
                <a:sym typeface="+mn-ea"/>
              </a:rPr>
              <a:t>的关键技术指标；基于研究成果，完成</a:t>
            </a:r>
            <a:r>
              <a:rPr lang="en-US" altLang="zh-CN" sz="1200" kern="0" spc="0" dirty="0">
                <a:ln>
                  <a:noFill/>
                  <a:prstDash val="sysDot"/>
                </a:ln>
                <a:solidFill>
                  <a:schemeClr val="tx1">
                    <a:lumMod val="85000"/>
                    <a:lumOff val="15000"/>
                  </a:schemeClr>
                </a:solidFill>
                <a:latin typeface="+mn-ea"/>
                <a:ea typeface="+mn-ea"/>
                <a:sym typeface="+mn-ea"/>
              </a:rPr>
              <a:t> 1 </a:t>
            </a:r>
            <a:r>
              <a:rPr lang="zh-CN" altLang="en-US" sz="1200" kern="0" spc="0" dirty="0">
                <a:ln>
                  <a:noFill/>
                  <a:prstDash val="sysDot"/>
                </a:ln>
                <a:solidFill>
                  <a:schemeClr val="tx1">
                    <a:lumMod val="85000"/>
                    <a:lumOff val="15000"/>
                  </a:schemeClr>
                </a:solidFill>
                <a:latin typeface="+mn-ea"/>
                <a:ea typeface="+mn-ea"/>
                <a:sym typeface="+mn-ea"/>
              </a:rPr>
              <a:t>篇学术论文投稿及</a:t>
            </a:r>
            <a:r>
              <a:rPr lang="en-US" altLang="zh-CN" sz="1200" kern="0" spc="0" dirty="0">
                <a:ln>
                  <a:noFill/>
                  <a:prstDash val="sysDot"/>
                </a:ln>
                <a:solidFill>
                  <a:schemeClr val="tx1">
                    <a:lumMod val="85000"/>
                    <a:lumOff val="15000"/>
                  </a:schemeClr>
                </a:solidFill>
                <a:latin typeface="+mn-ea"/>
                <a:ea typeface="+mn-ea"/>
                <a:sym typeface="+mn-ea"/>
              </a:rPr>
              <a:t> 1 </a:t>
            </a:r>
            <a:r>
              <a:rPr lang="zh-CN" altLang="en-US" sz="1200" kern="0" spc="0" dirty="0">
                <a:ln>
                  <a:noFill/>
                  <a:prstDash val="sysDot"/>
                </a:ln>
                <a:solidFill>
                  <a:schemeClr val="tx1">
                    <a:lumMod val="85000"/>
                    <a:lumOff val="15000"/>
                  </a:schemeClr>
                </a:solidFill>
                <a:latin typeface="+mn-ea"/>
                <a:ea typeface="+mn-ea"/>
                <a:sym typeface="+mn-ea"/>
              </a:rPr>
              <a:t>项发明专利申请。</a:t>
            </a:r>
            <a:endParaRPr lang="zh-CN" altLang="en-US" sz="1200" kern="0" spc="0" dirty="0">
              <a:ln>
                <a:noFill/>
                <a:prstDash val="sysDot"/>
              </a:ln>
              <a:solidFill>
                <a:schemeClr val="tx1">
                  <a:lumMod val="85000"/>
                  <a:lumOff val="15000"/>
                </a:schemeClr>
              </a:solidFill>
              <a:latin typeface="+mn-ea"/>
              <a:ea typeface="+mn-ea"/>
              <a:sym typeface="+mn-ea"/>
            </a:endParaRPr>
          </a:p>
        </p:txBody>
      </p:sp>
      <p:sp>
        <p:nvSpPr>
          <p:cNvPr id="65" name="矩形 64"/>
          <p:cNvSpPr/>
          <p:nvPr>
            <p:custDataLst>
              <p:tags r:id="rId38"/>
            </p:custDataLst>
          </p:nvPr>
        </p:nvSpPr>
        <p:spPr>
          <a:xfrm>
            <a:off x="6302190" y="1013522"/>
            <a:ext cx="66421" cy="494532"/>
          </a:xfrm>
          <a:prstGeom prst="rect">
            <a:avLst/>
          </a:prstGeom>
          <a:gradFill>
            <a:gsLst>
              <a:gs pos="100000">
                <a:schemeClr val="accent4">
                  <a:lumMod val="40000"/>
                  <a:lumOff val="60000"/>
                  <a:alpha val="100000"/>
                </a:schemeClr>
              </a:gs>
              <a:gs pos="0">
                <a:schemeClr val="accent4">
                  <a:lumMod val="85000"/>
                  <a:lumOff val="15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6" name="矩形 65"/>
          <p:cNvSpPr/>
          <p:nvPr>
            <p:custDataLst>
              <p:tags r:id="rId39"/>
            </p:custDataLst>
          </p:nvPr>
        </p:nvSpPr>
        <p:spPr>
          <a:xfrm>
            <a:off x="5422265" y="930275"/>
            <a:ext cx="787400" cy="5784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4"/>
                </a:solidFill>
                <a:cs typeface="+mn-lt"/>
              </a:rPr>
              <a:t>第四阶段</a:t>
            </a:r>
            <a:endParaRPr lang="zh-CN" altLang="en-US" sz="2400" b="1" kern="0" dirty="0">
              <a:solidFill>
                <a:schemeClr val="accent4"/>
              </a:solidFill>
              <a:cs typeface="+mn-lt"/>
            </a:endParaRPr>
          </a:p>
        </p:txBody>
      </p:sp>
      <p:pic>
        <p:nvPicPr>
          <p:cNvPr id="53" name="图片 23" descr="333639373138363b343435303830323bb9a4d7f7d7f7b7e7"/>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tretch>
            <a:fillRect/>
          </a:stretch>
        </p:blipFill>
        <p:spPr>
          <a:xfrm>
            <a:off x="9967171" y="1713228"/>
            <a:ext cx="396000" cy="396000"/>
          </a:xfrm>
          <a:prstGeom prst="rect">
            <a:avLst/>
          </a:prstGeom>
        </p:spPr>
      </p:pic>
      <p:sp>
        <p:nvSpPr>
          <p:cNvPr id="5" name="标题 4"/>
          <p:cNvSpPr>
            <a:spLocks noGrp="1"/>
          </p:cNvSpPr>
          <p:nvPr>
            <p:ph type="title"/>
            <p:custDataLst>
              <p:tags r:id="rId43"/>
            </p:custDataLst>
          </p:nvPr>
        </p:nvSpPr>
        <p:spPr/>
        <p:txBody>
          <a:bodyPr/>
          <a:lstStyle/>
          <a:p>
            <a:r>
              <a:rPr lang="zh-CN" altLang="en-US"/>
              <a:t>研究计划</a:t>
            </a:r>
            <a:endParaRPr lang="zh-CN" altLang="en-US"/>
          </a:p>
        </p:txBody>
      </p:sp>
    </p:spTree>
    <p:custDataLst>
      <p:tags r:id="rId4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00706" y="2550858"/>
            <a:ext cx="7168514" cy="1568450"/>
            <a:chOff x="2277534" y="2395918"/>
            <a:chExt cx="6620974" cy="1568450"/>
          </a:xfrm>
        </p:grpSpPr>
        <p:sp>
          <p:nvSpPr>
            <p:cNvPr id="10" name="文本框 9"/>
            <p:cNvSpPr txBox="1"/>
            <p:nvPr/>
          </p:nvSpPr>
          <p:spPr>
            <a:xfrm>
              <a:off x="2277534" y="2395918"/>
              <a:ext cx="2504016" cy="1568450"/>
            </a:xfrm>
            <a:prstGeom prst="rect">
              <a:avLst/>
            </a:prstGeom>
            <a:noFill/>
          </p:spPr>
          <p:txBody>
            <a:bodyPr wrap="square" rtlCol="0">
              <a:spAutoFit/>
            </a:bodyPr>
            <a:lstStyle>
              <a:lvl1pPr algn="ctr">
                <a:defRPr sz="13800" b="1">
                  <a:ln>
                    <a:solidFill>
                      <a:schemeClr val="bg1">
                        <a:alpha val="70000"/>
                      </a:schemeClr>
                    </a:solidFill>
                  </a:ln>
                  <a:noFill/>
                  <a:latin typeface="Tahoma" panose="020B0604030504040204" pitchFamily="34" charset="0"/>
                  <a:ea typeface="Tahoma" panose="020B0604030504040204" pitchFamily="34" charset="0"/>
                  <a:cs typeface="Tahoma" panose="020B0604030504040204" pitchFamily="34" charset="0"/>
                </a:defRPr>
              </a:lvl1pPr>
            </a:lstStyle>
            <a:p>
              <a:r>
                <a:rPr lang="en-US" altLang="zh-CN" sz="9600" dirty="0">
                  <a:ln>
                    <a:solidFill>
                      <a:schemeClr val="bg1">
                        <a:alpha val="80000"/>
                      </a:schemeClr>
                    </a:solidFill>
                  </a:ln>
                  <a:latin typeface="Calibri" panose="020F0502020204030204" charset="0"/>
                  <a:ea typeface="宋体" panose="02010600030101010101" pitchFamily="2" charset="-122"/>
                </a:rPr>
                <a:t>05</a:t>
              </a:r>
              <a:endParaRPr lang="en-US" altLang="zh-CN" sz="9600" dirty="0">
                <a:ln>
                  <a:solidFill>
                    <a:schemeClr val="bg1">
                      <a:alpha val="80000"/>
                    </a:schemeClr>
                  </a:solidFill>
                </a:ln>
                <a:latin typeface="Calibri" panose="020F0502020204030204" charset="0"/>
                <a:ea typeface="宋体" panose="02010600030101010101" pitchFamily="2" charset="-122"/>
              </a:endParaRPr>
            </a:p>
          </p:txBody>
        </p:sp>
        <p:sp>
          <p:nvSpPr>
            <p:cNvPr id="11" name="文本框 10"/>
            <p:cNvSpPr txBox="1"/>
            <p:nvPr/>
          </p:nvSpPr>
          <p:spPr>
            <a:xfrm>
              <a:off x="4943753" y="2813113"/>
              <a:ext cx="3954755" cy="922020"/>
            </a:xfrm>
            <a:prstGeom prst="rect">
              <a:avLst/>
            </a:prstGeom>
            <a:noFill/>
          </p:spPr>
          <p:txBody>
            <a:bodyPr wrap="square" rtlCol="0">
              <a:spAutoFit/>
            </a:bodyPr>
            <a:lstStyle>
              <a:defPPr>
                <a:defRPr lang="en-US"/>
              </a:defPPr>
              <a:lvl1pPr>
                <a:defRPr b="1">
                  <a:latin typeface="微软雅黑" panose="020B0503020204020204" pitchFamily="34" charset="-122"/>
                  <a:ea typeface="微软雅黑" panose="020B0503020204020204" pitchFamily="34" charset="-122"/>
                </a:defRPr>
              </a:lvl1pPr>
            </a:lstStyle>
            <a:p>
              <a:pPr algn="dist"/>
              <a:r>
                <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rPr>
                <a:t>参与人员</a:t>
              </a:r>
              <a:endParaRPr lang="zh-CN" altLang="en-US" sz="5400" dirty="0">
                <a:solidFill>
                  <a:schemeClr val="bg1"/>
                </a:solidFill>
                <a:latin typeface="Calibri Light" panose="020F0302020204030204" charset="0"/>
                <a:ea typeface="宋体" panose="02010600030101010101" pitchFamily="2" charset="-122"/>
                <a:cs typeface="阿里巴巴普惠体 B" panose="00020600040101010101" pitchFamily="18" charset="-122"/>
              </a:endParaRPr>
            </a:p>
          </p:txBody>
        </p:sp>
        <p:cxnSp>
          <p:nvCxnSpPr>
            <p:cNvPr id="16" name="直接连接符 15"/>
            <p:cNvCxnSpPr/>
            <p:nvPr/>
          </p:nvCxnSpPr>
          <p:spPr>
            <a:xfrm>
              <a:off x="4711700" y="2698750"/>
              <a:ext cx="0" cy="107632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参与人员</a:t>
            </a:r>
            <a:endParaRPr lang="zh-CN" altLang="en-US" dirty="0"/>
          </a:p>
        </p:txBody>
      </p:sp>
      <p:pic>
        <p:nvPicPr>
          <p:cNvPr id="3" name="图片 2"/>
          <p:cNvPicPr>
            <a:picLocks noChangeAspect="1"/>
          </p:cNvPicPr>
          <p:nvPr/>
        </p:nvPicPr>
        <p:blipFill>
          <a:blip r:embed="rId1"/>
          <a:stretch>
            <a:fillRect/>
          </a:stretch>
        </p:blipFill>
        <p:spPr>
          <a:xfrm>
            <a:off x="9411854" y="6355972"/>
            <a:ext cx="2780146" cy="492792"/>
          </a:xfrm>
          <a:prstGeom prst="rect">
            <a:avLst/>
          </a:prstGeom>
        </p:spPr>
      </p:pic>
      <p:graphicFrame>
        <p:nvGraphicFramePr>
          <p:cNvPr id="4" name="表格 3"/>
          <p:cNvGraphicFramePr>
            <a:graphicFrameLocks noGrp="1"/>
          </p:cNvGraphicFramePr>
          <p:nvPr/>
        </p:nvGraphicFramePr>
        <p:xfrm>
          <a:off x="1212870" y="1702122"/>
          <a:ext cx="9978313" cy="3160993"/>
        </p:xfrm>
        <a:graphic>
          <a:graphicData uri="http://schemas.openxmlformats.org/drawingml/2006/table">
            <a:tbl>
              <a:tblPr firstRow="1" bandRow="1">
                <a:tableStyleId>{5C22544A-7EE6-4342-B048-85BDC9FD1C3A}</a:tableStyleId>
              </a:tblPr>
              <a:tblGrid>
                <a:gridCol w="1482496"/>
                <a:gridCol w="2581504"/>
                <a:gridCol w="3392567"/>
                <a:gridCol w="2521746"/>
              </a:tblGrid>
              <a:tr h="370840">
                <a:tc>
                  <a:txBody>
                    <a:bodyPr/>
                    <a:lstStyle/>
                    <a:p>
                      <a:r>
                        <a:rPr lang="zh-CN" altLang="en-US" b="1" dirty="0"/>
                        <a:t>姓名</a:t>
                      </a:r>
                      <a:endParaRPr lang="zh-CN" altLang="en-US" b="1" dirty="0"/>
                    </a:p>
                  </a:txBody>
                  <a:tcPr/>
                </a:tc>
                <a:tc>
                  <a:txBody>
                    <a:bodyPr/>
                    <a:lstStyle/>
                    <a:p>
                      <a:r>
                        <a:rPr lang="zh-CN" altLang="en-US" b="1" dirty="0"/>
                        <a:t>职务</a:t>
                      </a:r>
                      <a:endParaRPr lang="zh-CN" altLang="en-US" b="1" dirty="0"/>
                    </a:p>
                  </a:txBody>
                  <a:tcPr/>
                </a:tc>
                <a:tc>
                  <a:txBody>
                    <a:bodyPr/>
                    <a:lstStyle/>
                    <a:p>
                      <a:r>
                        <a:rPr lang="zh-CN" altLang="en-US" b="1" dirty="0"/>
                        <a:t>承担职责</a:t>
                      </a:r>
                      <a:endParaRPr lang="zh-CN" altLang="en-US" b="1" dirty="0"/>
                    </a:p>
                  </a:txBody>
                  <a:tcPr/>
                </a:tc>
                <a:tc>
                  <a:txBody>
                    <a:bodyPr/>
                    <a:lstStyle/>
                    <a:p>
                      <a:r>
                        <a:rPr lang="zh-CN" altLang="en-US" b="1" dirty="0"/>
                        <a:t>参与项目时间（人月）</a:t>
                      </a:r>
                      <a:endParaRPr lang="zh-CN" altLang="en-US" b="1" dirty="0"/>
                    </a:p>
                  </a:txBody>
                  <a:tcPr/>
                </a:tc>
              </a:tr>
              <a:tr h="595593">
                <a:tc>
                  <a:txBody>
                    <a:bodyPr/>
                    <a:lstStyle/>
                    <a:p>
                      <a:r>
                        <a:rPr lang="zh-CN" altLang="en-US" dirty="0"/>
                        <a:t>程冠杰</a:t>
                      </a:r>
                      <a:endParaRPr lang="zh-CN" altLang="en-US" dirty="0"/>
                    </a:p>
                  </a:txBody>
                  <a:tcPr/>
                </a:tc>
                <a:tc>
                  <a:txBody>
                    <a:bodyPr/>
                    <a:lstStyle/>
                    <a:p>
                      <a:r>
                        <a:rPr lang="zh-CN" altLang="en-US" dirty="0"/>
                        <a:t>研究员</a:t>
                      </a:r>
                      <a:endParaRPr lang="zh-CN" altLang="en-US" dirty="0"/>
                    </a:p>
                  </a:txBody>
                  <a:tcPr/>
                </a:tc>
                <a:tc>
                  <a:txBody>
                    <a:bodyPr/>
                    <a:lstStyle/>
                    <a:p>
                      <a:r>
                        <a:rPr lang="zh-CN" altLang="en-US" dirty="0"/>
                        <a:t>总体技术架构设计</a:t>
                      </a:r>
                      <a:endParaRPr lang="zh-CN" altLang="en-US" dirty="0"/>
                    </a:p>
                  </a:txBody>
                  <a:tcPr/>
                </a:tc>
                <a:tc>
                  <a:txBody>
                    <a:bodyPr/>
                    <a:lstStyle/>
                    <a:p>
                      <a:r>
                        <a:rPr lang="en-US" altLang="zh-CN" dirty="0"/>
                        <a:t>10</a:t>
                      </a:r>
                      <a:endParaRPr lang="zh-CN" altLang="en-US" dirty="0"/>
                    </a:p>
                  </a:txBody>
                  <a:tcPr/>
                </a:tc>
              </a:tr>
              <a:tr h="370840">
                <a:tc>
                  <a:txBody>
                    <a:bodyPr/>
                    <a:lstStyle/>
                    <a:p>
                      <a:r>
                        <a:rPr lang="zh-CN" altLang="en-US" dirty="0"/>
                        <a:t>杨孟臻</a:t>
                      </a:r>
                      <a:endParaRPr lang="zh-CN" altLang="en-US" dirty="0"/>
                    </a:p>
                  </a:txBody>
                  <a:tcPr/>
                </a:tc>
                <a:tc>
                  <a:txBody>
                    <a:bodyPr/>
                    <a:lstStyle/>
                    <a:p>
                      <a:r>
                        <a:rPr lang="zh-CN" altLang="en-US" dirty="0"/>
                        <a:t>硕士研究生</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dk1"/>
                          </a:solidFill>
                          <a:effectLst/>
                          <a:latin typeface="+mn-lt"/>
                          <a:ea typeface="+mn-ea"/>
                          <a:cs typeface="+mn-cs"/>
                        </a:rPr>
                        <a:t>最小化</a:t>
                      </a:r>
                      <a:r>
                        <a:rPr lang="en-US" altLang="zh-CN" sz="1800" kern="1200" dirty="0">
                          <a:solidFill>
                            <a:schemeClr val="dk1"/>
                          </a:solidFill>
                          <a:effectLst/>
                          <a:latin typeface="+mn-lt"/>
                          <a:ea typeface="+mn-ea"/>
                          <a:cs typeface="+mn-cs"/>
                        </a:rPr>
                        <a:t>A/B</a:t>
                      </a:r>
                      <a:r>
                        <a:rPr lang="zh-CN" altLang="en-US" sz="1800" kern="1200" dirty="0">
                          <a:solidFill>
                            <a:schemeClr val="dk1"/>
                          </a:solidFill>
                          <a:effectLst/>
                          <a:latin typeface="+mn-lt"/>
                          <a:ea typeface="+mn-ea"/>
                          <a:cs typeface="+mn-cs"/>
                        </a:rPr>
                        <a:t>对比实验环境搭建</a:t>
                      </a:r>
                      <a:endParaRPr lang="zh-CN" altLang="en-US" sz="1800" kern="1200" dirty="0">
                        <a:solidFill>
                          <a:schemeClr val="dk1"/>
                        </a:solidFill>
                        <a:effectLst/>
                        <a:latin typeface="+mn-lt"/>
                        <a:ea typeface="+mn-ea"/>
                        <a:cs typeface="+mn-cs"/>
                      </a:endParaRPr>
                    </a:p>
                    <a:p>
                      <a:endParaRPr lang="zh-CN" altLang="en-US" dirty="0"/>
                    </a:p>
                  </a:txBody>
                  <a:tcPr/>
                </a:tc>
                <a:tc>
                  <a:txBody>
                    <a:bodyPr/>
                    <a:lstStyle/>
                    <a:p>
                      <a:r>
                        <a:rPr lang="en-US" altLang="zh-CN" dirty="0"/>
                        <a:t>10</a:t>
                      </a:r>
                      <a:endParaRPr lang="zh-CN" altLang="en-US" dirty="0"/>
                    </a:p>
                  </a:txBody>
                  <a:tcPr/>
                </a:tc>
              </a:tr>
              <a:tr h="370840">
                <a:tc>
                  <a:txBody>
                    <a:bodyPr/>
                    <a:lstStyle/>
                    <a:p>
                      <a:r>
                        <a:rPr lang="zh-CN" altLang="en-US" dirty="0"/>
                        <a:t>钟冬松</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硕士研究生</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dk1"/>
                          </a:solidFill>
                          <a:effectLst/>
                          <a:latin typeface="+mn-lt"/>
                          <a:ea typeface="+mn-ea"/>
                          <a:cs typeface="+mn-cs"/>
                        </a:rPr>
                        <a:t>进行并行布局、长上下文与低比特训练、通信与检查点策略的集成优化</a:t>
                      </a:r>
                      <a:endParaRPr lang="zh-CN" altLang="en-US" sz="1800" kern="1200" dirty="0">
                        <a:solidFill>
                          <a:schemeClr val="dk1"/>
                        </a:solidFill>
                        <a:effectLst/>
                        <a:latin typeface="+mn-lt"/>
                        <a:ea typeface="+mn-ea"/>
                        <a:cs typeface="+mn-cs"/>
                      </a:endParaRPr>
                    </a:p>
                  </a:txBody>
                  <a:tcPr/>
                </a:tc>
                <a:tc>
                  <a:txBody>
                    <a:bodyPr/>
                    <a:lstStyle/>
                    <a:p>
                      <a:r>
                        <a:rPr lang="en-US" altLang="zh-CN" dirty="0"/>
                        <a:t>12</a:t>
                      </a:r>
                      <a:endParaRPr lang="zh-CN" altLang="en-US" dirty="0"/>
                    </a:p>
                  </a:txBody>
                  <a:tcPr/>
                </a:tc>
              </a:tr>
              <a:tr h="370840">
                <a:tc>
                  <a:txBody>
                    <a:bodyPr/>
                    <a:lstStyle/>
                    <a:p>
                      <a:r>
                        <a:rPr lang="zh-CN" altLang="en-US" dirty="0"/>
                        <a:t>王睿昊</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硕士研究生</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dk1"/>
                          </a:solidFill>
                          <a:effectLst/>
                          <a:latin typeface="+mn-lt"/>
                          <a:ea typeface="+mn-ea"/>
                          <a:cs typeface="+mn-cs"/>
                        </a:rPr>
                        <a:t>研究以 </a:t>
                      </a:r>
                      <a:r>
                        <a:rPr lang="en-US" altLang="zh-CN" sz="1800" kern="1200" dirty="0">
                          <a:solidFill>
                            <a:schemeClr val="dk1"/>
                          </a:solidFill>
                          <a:effectLst/>
                          <a:latin typeface="+mn-lt"/>
                          <a:ea typeface="+mn-ea"/>
                          <a:cs typeface="+mn-cs"/>
                        </a:rPr>
                        <a:t>MFU </a:t>
                      </a:r>
                      <a:r>
                        <a:rPr lang="zh-CN" altLang="en-US" sz="1800" kern="1200" dirty="0">
                          <a:solidFill>
                            <a:schemeClr val="dk1"/>
                          </a:solidFill>
                          <a:effectLst/>
                          <a:latin typeface="+mn-lt"/>
                          <a:ea typeface="+mn-ea"/>
                          <a:cs typeface="+mn-cs"/>
                        </a:rPr>
                        <a:t>为牵引的性能建模与闭环优化</a:t>
                      </a:r>
                      <a:endParaRPr lang="zh-CN" altLang="en-US" sz="1800" kern="1200" dirty="0">
                        <a:solidFill>
                          <a:schemeClr val="dk1"/>
                        </a:solidFill>
                        <a:effectLst/>
                        <a:latin typeface="+mn-lt"/>
                        <a:ea typeface="+mn-ea"/>
                        <a:cs typeface="+mn-cs"/>
                      </a:endParaRPr>
                    </a:p>
                  </a:txBody>
                  <a:tcPr/>
                </a:tc>
                <a:tc>
                  <a:txBody>
                    <a:bodyPr/>
                    <a:lstStyle/>
                    <a:p>
                      <a:r>
                        <a:rPr lang="en-US" altLang="zh-CN" dirty="0"/>
                        <a:t>12</a:t>
                      </a:r>
                      <a:endParaRPr lang="zh-CN" altLang="en-US" dirty="0"/>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10391"/>
            <a:ext cx="12192000" cy="6868391"/>
          </a:xfrm>
          <a:prstGeom prst="rect">
            <a:avLst/>
          </a:prstGeom>
          <a:solidFill>
            <a:srgbClr val="1921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1491095"/>
            <a:ext cx="12192000" cy="3418610"/>
          </a:xfrm>
          <a:prstGeom prst="rect">
            <a:avLst/>
          </a:prstGeom>
          <a:solidFill>
            <a:srgbClr val="6E74E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524000" y="2187286"/>
            <a:ext cx="9144000" cy="2103360"/>
          </a:xfrm>
        </p:spPr>
        <p:txBody>
          <a:bodyPr>
            <a:noAutofit/>
          </a:bodyPr>
          <a:lstStyle/>
          <a:p>
            <a:pPr>
              <a:lnSpc>
                <a:spcPct val="150000"/>
              </a:lnSpc>
            </a:pPr>
            <a:r>
              <a:rPr lang="zh-CN" altLang="en-US" sz="5400" b="1" dirty="0">
                <a:solidFill>
                  <a:schemeClr val="bg1"/>
                </a:solidFill>
                <a:latin typeface="Calibri Light" panose="020F0302020204030204" charset="0"/>
                <a:ea typeface="宋体" panose="02010600030101010101" pitchFamily="2" charset="-122"/>
              </a:rPr>
              <a:t>感 谢 聆听</a:t>
            </a:r>
            <a:br>
              <a:rPr lang="en-US" altLang="zh-CN" sz="5400" b="1" dirty="0">
                <a:solidFill>
                  <a:schemeClr val="bg1"/>
                </a:solidFill>
                <a:latin typeface="Calibri Light" panose="020F0302020204030204" charset="0"/>
                <a:ea typeface="宋体" panose="02010600030101010101" pitchFamily="2" charset="-122"/>
              </a:rPr>
            </a:br>
            <a:r>
              <a:rPr lang="zh-CN" altLang="en-US" sz="5400" b="1" dirty="0">
                <a:solidFill>
                  <a:schemeClr val="bg1"/>
                </a:solidFill>
                <a:latin typeface="Calibri Light" panose="020F0302020204030204" charset="0"/>
                <a:ea typeface="宋体" panose="02010600030101010101" pitchFamily="2" charset="-122"/>
              </a:rPr>
              <a:t>敬请批评指正！</a:t>
            </a:r>
            <a:endParaRPr lang="zh-CN" altLang="en-US" sz="3600" b="1" dirty="0">
              <a:solidFill>
                <a:schemeClr val="bg1"/>
              </a:solidFill>
              <a:latin typeface="Calibri Light" panose="020F030202020403020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0" y="-10391"/>
            <a:ext cx="3244546" cy="575109"/>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2_3*a*1"/>
  <p:tag name="KSO_WM_TEMPLATE_CATEGORY" val="diagram"/>
  <p:tag name="KSO_WM_TEMPLATE_INDEX" val="20235162"/>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2_2*l_h_i*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UNIT_LINE_FILL_TYPE" val="2"/>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6"/>
  <p:tag name="KSO_WM_TEMPLATE_CATEGORY" val="diagram"/>
  <p:tag name="KSO_WM_TEMPLATE_INDEX" val="20235162"/>
  <p:tag name="KSO_WM_UNIT_LAYERLEVEL" val="1_1_1"/>
  <p:tag name="KSO_WM_TAG_VERSION" val="3.0"/>
  <p:tag name="KSO_WM_UNIT_TYPE" val="l_h_i"/>
  <p:tag name="KSO_WM_UNIT_INDEX" val="1_1_6"/>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5"/>
  <p:tag name="KSO_WM_TEMPLATE_CATEGORY" val="diagram"/>
  <p:tag name="KSO_WM_TEMPLATE_INDEX" val="20235162"/>
  <p:tag name="KSO_WM_UNIT_LAYERLEVEL" val="1_1_1"/>
  <p:tag name="KSO_WM_TAG_VERSION" val="3.0"/>
  <p:tag name="KSO_WM_UNIT_TYPE" val="l_h_i"/>
  <p:tag name="KSO_WM_UNIT_INDEX" val="1_1_5"/>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2"/>
  <p:tag name="KSO_WM_TEMPLATE_CATEGORY" val="diagram"/>
  <p:tag name="KSO_WM_TEMPLATE_INDEX" val="20235162"/>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DIAGRAM_VIRTUALLY_FRAME" val="{&quot;height&quot;:388.6000787401575,&quot;left&quot;:55.19999999999999,&quot;top&quot;:113.57496062992125,&quot;width&quot;:849.95}"/>
  <p:tag name="KSO_WM_UNIT_HIGHLIGHT" val="0"/>
  <p:tag name="KSO_WM_UNIT_COMPATIBLE" val="0"/>
  <p:tag name="KSO_WM_UNIT_DIAGRAM_ISNUMVISUAL" val="0"/>
  <p:tag name="KSO_WM_UNIT_DIAGRAM_ISREFERUNIT" val="0"/>
  <p:tag name="KSO_WM_DIAGRAM_GROUP_CODE" val="l1-1"/>
  <p:tag name="KSO_WM_UNIT_ID" val="diagram20235162_2*l_h_i*1_1_3"/>
  <p:tag name="KSO_WM_TEMPLATE_CATEGORY" val="diagram"/>
  <p:tag name="KSO_WM_TEMPLATE_INDEX" val="20235162"/>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2_2*l_h_f*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1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2*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4"/>
  <p:tag name="KSO_WM_TEMPLATE_CATEGORY" val="diagram"/>
  <p:tag name="KSO_WM_TEMPLATE_INDEX" val="20235162"/>
  <p:tag name="KSO_WM_UNIT_LAYERLEVEL" val="1_1_1"/>
  <p:tag name="KSO_WM_TAG_VERSION" val="3.0"/>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162_2*l_h_i*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7"/>
  <p:tag name="KSO_WM_UNIT_LINE_FILL_TYPE" val="2"/>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6"/>
  <p:tag name="KSO_WM_TEMPLATE_CATEGORY" val="diagram"/>
  <p:tag name="KSO_WM_TEMPLATE_INDEX" val="20235162"/>
  <p:tag name="KSO_WM_UNIT_LAYERLEVEL" val="1_1_1"/>
  <p:tag name="KSO_WM_TAG_VERSION" val="3.0"/>
  <p:tag name="KSO_WM_UNIT_TYPE" val="l_h_i"/>
  <p:tag name="KSO_WM_UNIT_INDEX" val="1_3_6"/>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5"/>
  <p:tag name="KSO_WM_TEMPLATE_CATEGORY" val="diagram"/>
  <p:tag name="KSO_WM_TEMPLATE_INDEX" val="20235162"/>
  <p:tag name="KSO_WM_UNIT_LAYERLEVEL" val="1_1_1"/>
  <p:tag name="KSO_WM_TAG_VERSION" val="3.0"/>
  <p:tag name="KSO_WM_UNIT_TYPE" val="l_h_i"/>
  <p:tag name="KSO_WM_UNIT_INDEX" val="1_3_5"/>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2"/>
  <p:tag name="KSO_WM_TEMPLATE_CATEGORY" val="diagram"/>
  <p:tag name="KSO_WM_TEMPLATE_INDEX" val="20235162"/>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18.xml><?xml version="1.0" encoding="utf-8"?>
<p:tagLst xmlns:p="http://schemas.openxmlformats.org/presentationml/2006/main">
  <p:tag name="KSO_WM_DIAGRAM_VIRTUALLY_FRAME" val="{&quot;height&quot;:388.6000787401575,&quot;left&quot;:55.19999999999999,&quot;top&quot;:113.57496062992125,&quot;width&quot;:849.95}"/>
  <p:tag name="KSO_WM_UNIT_HIGHLIGHT" val="0"/>
  <p:tag name="KSO_WM_UNIT_COMPATIBLE" val="0"/>
  <p:tag name="KSO_WM_UNIT_DIAGRAM_ISNUMVISUAL" val="0"/>
  <p:tag name="KSO_WM_UNIT_DIAGRAM_ISREFERUNIT" val="0"/>
  <p:tag name="KSO_WM_DIAGRAM_GROUP_CODE" val="l1-1"/>
  <p:tag name="KSO_WM_UNIT_ID" val="diagram20235162_2*l_h_i*1_3_3"/>
  <p:tag name="KSO_WM_TEMPLATE_CATEGORY" val="diagram"/>
  <p:tag name="KSO_WM_TEMPLATE_INDEX" val="20235162"/>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1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62_2*l_h_f*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2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5162_2*l_h_a*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4"/>
  <p:tag name="KSO_WM_TEMPLATE_CATEGORY" val="diagram"/>
  <p:tag name="KSO_WM_TEMPLATE_INDEX" val="20235162"/>
  <p:tag name="KSO_WM_UNIT_LAYERLEVEL" val="1_1_1"/>
  <p:tag name="KSO_WM_TAG_VERSION" val="3.0"/>
  <p:tag name="KSO_WM_UNIT_TYPE" val="l_h_i"/>
  <p:tag name="KSO_WM_UNIT_INDEX" val="1_3_4"/>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SHADOW_SCHEMECOLOR_INDEX" val="7"/>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2_2*l_h_i*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6"/>
  <p:tag name="KSO_WM_UNIT_LINE_FILL_TYPE" val="2"/>
  <p:tag name="KSO_WM_UNIT_TEXT_FILL_FORE_SCHEMECOLOR_INDEX" val="2"/>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6"/>
  <p:tag name="KSO_WM_TEMPLATE_CATEGORY" val="diagram"/>
  <p:tag name="KSO_WM_TEMPLATE_INDEX" val="20235162"/>
  <p:tag name="KSO_WM_UNIT_LAYERLEVEL" val="1_1_1"/>
  <p:tag name="KSO_WM_TAG_VERSION" val="3.0"/>
  <p:tag name="KSO_WM_UNIT_TYPE" val="l_h_i"/>
  <p:tag name="KSO_WM_UNIT_INDEX" val="1_2_6"/>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5"/>
  <p:tag name="KSO_WM_TEMPLATE_CATEGORY" val="diagram"/>
  <p:tag name="KSO_WM_TEMPLATE_INDEX" val="20235162"/>
  <p:tag name="KSO_WM_UNIT_LAYERLEVEL" val="1_1_1"/>
  <p:tag name="KSO_WM_TAG_VERSION" val="3.0"/>
  <p:tag name="KSO_WM_UNIT_TYPE" val="l_h_i"/>
  <p:tag name="KSO_WM_UNIT_INDEX" val="1_2_5"/>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2"/>
  <p:tag name="KSO_WM_TEMPLATE_CATEGORY" val="diagram"/>
  <p:tag name="KSO_WM_TEMPLATE_INDEX" val="20235162"/>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26.xml><?xml version="1.0" encoding="utf-8"?>
<p:tagLst xmlns:p="http://schemas.openxmlformats.org/presentationml/2006/main">
  <p:tag name="KSO_WM_DIAGRAM_VIRTUALLY_FRAME" val="{&quot;height&quot;:388.6000787401575,&quot;left&quot;:55.19999999999999,&quot;top&quot;:113.57496062992125,&quot;width&quot;:849.95}"/>
  <p:tag name="KSO_WM_UNIT_HIGHLIGHT" val="0"/>
  <p:tag name="KSO_WM_UNIT_COMPATIBLE" val="0"/>
  <p:tag name="KSO_WM_UNIT_DIAGRAM_ISNUMVISUAL" val="0"/>
  <p:tag name="KSO_WM_UNIT_DIAGRAM_ISREFERUNIT" val="0"/>
  <p:tag name="KSO_WM_DIAGRAM_GROUP_CODE" val="l1-1"/>
  <p:tag name="KSO_WM_UNIT_ID" val="diagram20235162_2*l_h_i*1_2_3"/>
  <p:tag name="KSO_WM_TEMPLATE_CATEGORY" val="diagram"/>
  <p:tag name="KSO_WM_TEMPLATE_INDEX" val="20235162"/>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2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2_2*l_h_f*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2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162_2*l_h_a*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4"/>
  <p:tag name="KSO_WM_TEMPLATE_CATEGORY" val="diagram"/>
  <p:tag name="KSO_WM_TEMPLATE_INDEX" val="20235162"/>
  <p:tag name="KSO_WM_UNIT_LAYERLEVEL" val="1_1_1"/>
  <p:tag name="KSO_WM_TAG_VERSION" val="3.0"/>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SHADOW_SCHEMECOLOR_INDEX" val="6"/>
  <p:tag name="KSO_WM_UNIT_USESOURCEFORMAT_APPLY" val="1"/>
</p:tagLst>
</file>

<file path=ppt/tags/tag30.xml><?xml version="1.0" encoding="utf-8"?>
<p:tagLst xmlns:p="http://schemas.openxmlformats.org/presentationml/2006/main">
  <p:tag name="KSO_WM_UNIT_PLACING_PICTURE_USER_VIEWPORT" val="{&quot;height&quot;:3197,&quot;width&quot;:5316}"/>
</p:tagLst>
</file>

<file path=ppt/tags/tag31.xml><?xml version="1.0" encoding="utf-8"?>
<p:tagLst xmlns:p="http://schemas.openxmlformats.org/presentationml/2006/main">
  <p:tag name="KSO_WM_SLIDE_ID" val="diagram2023516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2"/>
  <p:tag name="KSO_WM_SLIDE_TYPE" val="text"/>
  <p:tag name="KSO_WM_SLIDE_SUBTYPE" val="diag"/>
  <p:tag name="KSO_WM_SLIDE_SIZE" val="849.95*388.35"/>
  <p:tag name="KSO_WM_SLIDE_POSITION" val="55.2*113.7"/>
  <p:tag name="KSO_WM_SLIDE_LAYOUT" val="a_l"/>
  <p:tag name="KSO_WM_SLIDE_LAYOUT_CNT" val="1_1"/>
  <p:tag name="KSO_WM_SPECIAL_SOURCE" val="bdnull"/>
  <p:tag name="KSO_WM_DIAGRAM_GROUP_CODE" val="l1-1"/>
  <p:tag name="KSO_WM_SLIDE_DIAGTYPE" val="l"/>
</p:tagLst>
</file>

<file path=ppt/tags/tag32.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03_2*a*1"/>
  <p:tag name="KSO_WM_TEMPLATE_CATEGORY" val="diagram"/>
  <p:tag name="KSO_WM_TEMPLATE_INDEX" val="20234803"/>
  <p:tag name="KSO_WM_UNIT_LAYERLEVEL" val="1"/>
  <p:tag name="KSO_WM_TAG_VERSION" val="3.0"/>
  <p:tag name="KSO_WM_BEAUTIFY_FLAG" val="#wm#"/>
  <p:tag name="KSO_WM_DIAGRAM_GROUP_CODE" val="l1-1"/>
  <p:tag name="KSO_WM_UNIT_TEXT_FILL_FORE_SCHEMECOLOR_INDEX" val="13"/>
  <p:tag name="KSO_WM_UNIT_TEXT_FILL_TYPE" val="1"/>
  <p:tag name="KSO_WM_UNIT_USESOURCEFORMAT_APPLY"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d*1_3_1"/>
  <p:tag name="KSO_WM_TEMPLATE_CATEGORY" val="diagram"/>
  <p:tag name="KSO_WM_TEMPLATE_INDEX" val="20234803"/>
  <p:tag name="KSO_WM_UNIT_LAYERLEVEL" val="1_1_1"/>
  <p:tag name="KSO_WM_TAG_VERSION" val="3.0"/>
  <p:tag name="KSO_WM_DIAGRAM_GROUP_CODE" val="l1-1"/>
  <p:tag name="KSO_WM_UNIT_TYPE" val="l_h_d"/>
  <p:tag name="KSO_WM_UNIT_INDEX" val="1_3_1"/>
  <p:tag name="KSO_WM_DIAGRAM_VERSION" val="3"/>
  <p:tag name="KSO_WM_DIAGRAM_COLOR_TRICK" val="1"/>
  <p:tag name="KSO_WM_DIAGRAM_COLOR_TEXT_CAN_REMOVE" val="n"/>
  <p:tag name="KSO_WM_UNIT_VALUE" val="684*995"/>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FORE_SCHEMECOLOR_INDEX" val="7"/>
  <p:tag name="KSO_WM_UNIT_FILL_TYPE" val="1"/>
  <p:tag name="KSO_WM_UNIT_LINE_FORE_SCHEMECOLOR_INDEX" val="7"/>
  <p:tag name="KSO_WM_UNIT_USESOURCEFORMAT_APPLY"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d*1_2_1"/>
  <p:tag name="KSO_WM_TEMPLATE_CATEGORY" val="diagram"/>
  <p:tag name="KSO_WM_TEMPLATE_INDEX" val="20234803"/>
  <p:tag name="KSO_WM_UNIT_LAYERLEVEL" val="1_1_1"/>
  <p:tag name="KSO_WM_TAG_VERSION" val="3.0"/>
  <p:tag name="KSO_WM_DIAGRAM_GROUP_CODE" val="l1-1"/>
  <p:tag name="KSO_WM_UNIT_TYPE" val="l_h_d"/>
  <p:tag name="KSO_WM_UNIT_INDEX" val="1_2_1"/>
  <p:tag name="KSO_WM_DIAGRAM_VERSION" val="3"/>
  <p:tag name="KSO_WM_DIAGRAM_COLOR_TRICK" val="1"/>
  <p:tag name="KSO_WM_DIAGRAM_COLOR_TEXT_CAN_REMOVE" val="n"/>
  <p:tag name="KSO_WM_UNIT_VALUE" val="684*995"/>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FORE_SCHEMECOLOR_INDEX" val="6"/>
  <p:tag name="KSO_WM_UNIT_FILL_TYPE" val="1"/>
  <p:tag name="KSO_WM_UNIT_LINE_FORE_SCHEMECOLOR_INDEX" val="6"/>
  <p:tag name="KSO_WM_UNIT_USESOURCEFORMAT_APPLY"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d*1_1_1"/>
  <p:tag name="KSO_WM_TEMPLATE_CATEGORY" val="diagram"/>
  <p:tag name="KSO_WM_TEMPLATE_INDEX" val="20234803"/>
  <p:tag name="KSO_WM_UNIT_LAYERLEVEL" val="1_1_1"/>
  <p:tag name="KSO_WM_TAG_VERSION" val="3.0"/>
  <p:tag name="KSO_WM_DIAGRAM_GROUP_CODE" val="l1-1"/>
  <p:tag name="KSO_WM_UNIT_TYPE" val="l_h_d"/>
  <p:tag name="KSO_WM_UNIT_INDEX" val="1_1_1"/>
  <p:tag name="KSO_WM_DIAGRAM_VERSION" val="3"/>
  <p:tag name="KSO_WM_DIAGRAM_COLOR_TRICK" val="1"/>
  <p:tag name="KSO_WM_DIAGRAM_COLOR_TEXT_CAN_REMOVE" val="n"/>
  <p:tag name="KSO_WM_UNIT_VALUE" val="684*995"/>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FORE_SCHEMECOLOR_INDEX" val="5"/>
  <p:tag name="KSO_WM_UNIT_FILL_TYPE" val="1"/>
  <p:tag name="KSO_WM_UNIT_LINE_FORE_SCHEMECOLOR_INDEX" val="5"/>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f*1_2_1"/>
  <p:tag name="KSO_WM_TEMPLATE_CATEGORY" val="diagram"/>
  <p:tag name="KSO_WM_TEMPLATE_INDEX" val="20234803"/>
  <p:tag name="KSO_WM_UNIT_LAYERLEVEL" val="1_1_1"/>
  <p:tag name="KSO_WM_TAG_VERSION" val="3.0"/>
  <p:tag name="KSO_WM_UNIT_SUBTYPE" val="a"/>
  <p:tag name="KSO_WM_UNIT_NOCLEAR" val="0"/>
  <p:tag name="KSO_WM_UNIT_VALUE" val="56"/>
  <p:tag name="KSO_WM_DIAGRAM_GROUP_CODE" val="l1-1"/>
  <p:tag name="KSO_WM_UNIT_TYPE" val="l_h_f"/>
  <p:tag name="KSO_WM_UNIT_INDEX" val="1_2_1"/>
  <p:tag name="KSO_WM_DIAGRAM_VERSION" val="3"/>
  <p:tag name="KSO_WM_DIAGRAM_COLOR_TRICK" val="1"/>
  <p:tag name="KSO_WM_DIAGRAM_COLOR_TEXT_CAN_REMOVE" val="n"/>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USESOURCEFORMAT_APPLY"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f*1_1_1"/>
  <p:tag name="KSO_WM_TEMPLATE_CATEGORY" val="diagram"/>
  <p:tag name="KSO_WM_TEMPLATE_INDEX" val="20234803"/>
  <p:tag name="KSO_WM_UNIT_LAYERLEVEL" val="1_1_1"/>
  <p:tag name="KSO_WM_TAG_VERSION" val="3.0"/>
  <p:tag name="KSO_WM_UNIT_SUBTYPE" val="a"/>
  <p:tag name="KSO_WM_UNIT_NOCLEAR" val="0"/>
  <p:tag name="KSO_WM_UNIT_VALUE" val="56"/>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添加文本内容，简明扼要地阐述您的观点。根据需要可酌情增减文字，单击此处添加文本具体内容。"/>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USESOURCEFORMAT_APPLY"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f*1_3_1"/>
  <p:tag name="KSO_WM_TEMPLATE_CATEGORY" val="diagram"/>
  <p:tag name="KSO_WM_TEMPLATE_INDEX" val="20234803"/>
  <p:tag name="KSO_WM_UNIT_LAYERLEVEL" val="1_1_1"/>
  <p:tag name="KSO_WM_TAG_VERSION" val="3.0"/>
  <p:tag name="KSO_WM_UNIT_SUBTYPE" val="a"/>
  <p:tag name="KSO_WM_UNIT_NOCLEAR" val="0"/>
  <p:tag name="KSO_WM_UNIT_VALUE" val="56"/>
  <p:tag name="KSO_WM_DIAGRAM_GROUP_CODE" val="l1-1"/>
  <p:tag name="KSO_WM_UNIT_TYPE" val="l_h_f"/>
  <p:tag name="KSO_WM_UNIT_INDEX" val="1_3_1"/>
  <p:tag name="KSO_WM_DIAGRAM_VERSION" val="3"/>
  <p:tag name="KSO_WM_DIAGRAM_COLOR_TRICK" val="1"/>
  <p:tag name="KSO_WM_DIAGRAM_COLOR_TEXT_CAN_REMOVE" val="n"/>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USESOURCEFORMAT_APPLY"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a*1_1_1"/>
  <p:tag name="KSO_WM_TEMPLATE_CATEGORY" val="diagram"/>
  <p:tag name="KSO_WM_TEMPLATE_INDEX" val="20234803"/>
  <p:tag name="KSO_WM_UNIT_LAYERLEVEL" val="1_1_1"/>
  <p:tag name="KSO_WM_TAG_VERSION" val="3.0"/>
  <p:tag name="KSO_WM_UNIT_ISCONTENTSTITLE" val="0"/>
  <p:tag name="KSO_WM_UNIT_ISNUMDGMTITLE" val="0"/>
  <p:tag name="KSO_WM_UNIT_NOCLEAR" val="0"/>
  <p:tag name="KSO_WM_UNIT_VALUE" val="8"/>
  <p:tag name="KSO_WM_DIAGRAM_GROUP_CODE" val="l1-1"/>
  <p:tag name="KSO_WM_UNIT_TYPE" val="l_h_a"/>
  <p:tag name="KSO_WM_UNIT_INDEX" val="1_1_1"/>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USESOURCEFORMAT_APPLY"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a*1_3_1"/>
  <p:tag name="KSO_WM_TEMPLATE_CATEGORY" val="diagram"/>
  <p:tag name="KSO_WM_TEMPLATE_INDEX" val="20234803"/>
  <p:tag name="KSO_WM_UNIT_LAYERLEVEL" val="1_1_1"/>
  <p:tag name="KSO_WM_TAG_VERSION" val="3.0"/>
  <p:tag name="KSO_WM_UNIT_ISCONTENTSTITLE" val="0"/>
  <p:tag name="KSO_WM_UNIT_ISNUMDGMTITLE" val="0"/>
  <p:tag name="KSO_WM_UNIT_NOCLEAR" val="0"/>
  <p:tag name="KSO_WM_UNIT_VALUE" val="8"/>
  <p:tag name="KSO_WM_DIAGRAM_GROUP_CODE" val="l1-1"/>
  <p:tag name="KSO_WM_UNIT_TYPE" val="l_h_a"/>
  <p:tag name="KSO_WM_UNIT_INDEX" val="1_3_1"/>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a*1_2_1"/>
  <p:tag name="KSO_WM_TEMPLATE_CATEGORY" val="diagram"/>
  <p:tag name="KSO_WM_TEMPLATE_INDEX" val="20234803"/>
  <p:tag name="KSO_WM_UNIT_LAYERLEVEL" val="1_1_1"/>
  <p:tag name="KSO_WM_TAG_VERSION" val="3.0"/>
  <p:tag name="KSO_WM_UNIT_ISCONTENTSTITLE" val="0"/>
  <p:tag name="KSO_WM_UNIT_ISNUMDGMTITLE" val="0"/>
  <p:tag name="KSO_WM_UNIT_NOCLEAR" val="0"/>
  <p:tag name="KSO_WM_UNIT_VALUE" val="8"/>
  <p:tag name="KSO_WM_DIAGRAM_GROUP_CODE" val="l1-1"/>
  <p:tag name="KSO_WM_UNIT_TYPE" val="l_h_a"/>
  <p:tag name="KSO_WM_UNIT_INDEX" val="1_2_1"/>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USESOURCEFORMAT_APPLY"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1_1"/>
  <p:tag name="KSO_WM_TEMPLATE_CATEGORY" val="diagram"/>
  <p:tag name="KSO_WM_TEMPLATE_INDEX" val="20234803"/>
  <p:tag name="KSO_WM_UNIT_LAYERLEVEL" val="1_1_1"/>
  <p:tag name="KSO_WM_TAG_VERSION" val="3.0"/>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3_1"/>
  <p:tag name="KSO_WM_TEMPLATE_CATEGORY" val="diagram"/>
  <p:tag name="KSO_WM_TEMPLATE_INDEX" val="20234803"/>
  <p:tag name="KSO_WM_UNIT_LAYERLEVEL" val="1_1_1"/>
  <p:tag name="KSO_WM_TAG_VERSION" val="3.0"/>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2_1"/>
  <p:tag name="KSO_WM_TEMPLATE_CATEGORY" val="diagram"/>
  <p:tag name="KSO_WM_TEMPLATE_INDEX" val="20234803"/>
  <p:tag name="KSO_WM_UNIT_LAYERLEVEL" val="1_1_1"/>
  <p:tag name="KSO_WM_TAG_VERSION" val="3.0"/>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UNIT_TEXT_FILL_FORE_SCHEMECOLOR_INDEX" val="1"/>
  <p:tag name="KSO_WM_UNIT_TEXT_FILL_TYPE" val="1"/>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1_2"/>
  <p:tag name="KSO_WM_TEMPLATE_CATEGORY" val="diagram"/>
  <p:tag name="KSO_WM_TEMPLATE_INDEX" val="20234803"/>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2_2"/>
  <p:tag name="KSO_WM_TEMPLATE_CATEGORY" val="diagram"/>
  <p:tag name="KSO_WM_TEMPLATE_INDEX" val="20234803"/>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TEXT_FILL_FORE_SCHEMECOLOR_INDEX" val="2"/>
  <p:tag name="KSO_WM_UNIT_TEXT_FILL_TYPE" val="1"/>
  <p:tag name="KSO_WM_UNIT_USESOURCEFORMAT_APPLY"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03_2*l_h_i*1_3_2"/>
  <p:tag name="KSO_WM_TEMPLATE_CATEGORY" val="diagram"/>
  <p:tag name="KSO_WM_TEMPLATE_INDEX" val="20234803"/>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389.61599731445307,&quot;left&quot;:56.079345703125,&quot;top&quot;:112.01692260261594,&quot;width&quot;:850.8413085937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48.xml><?xml version="1.0" encoding="utf-8"?>
<p:tagLst xmlns:p="http://schemas.openxmlformats.org/presentationml/2006/main">
  <p:tag name="KSO_WM_SLIDE_ID" val="diagram202348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4803"/>
  <p:tag name="KSO_WM_SLIDE_TYPE" val="text"/>
  <p:tag name="KSO_WM_SLIDE_SUBTYPE" val="diag"/>
  <p:tag name="KSO_WM_SLIDE_SIZE" val="849.3*388.489"/>
  <p:tag name="KSO_WM_SLIDE_POSITION" val="56.85*112.58"/>
  <p:tag name="KSO_WM_SLIDE_LAYOUT" val="a_l"/>
  <p:tag name="KSO_WM_SLIDE_LAYOUT_CNT" val="1_1"/>
  <p:tag name="KSO_WM_SPECIAL_SOURCE" val="bdnull"/>
  <p:tag name="KSO_WM_DIAGRAM_GROUP_CODE" val="l1-1"/>
  <p:tag name="KSO_WM_SLIDE_DIAGTYPE" val="l"/>
</p:tagLst>
</file>

<file path=ppt/tags/tag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1197_1*a*1"/>
  <p:tag name="KSO_WM_TEMPLATE_CATEGORY" val="custom"/>
  <p:tag name="KSO_WM_TEMPLATE_INDEX" val="20231197"/>
  <p:tag name="KSO_WM_UNIT_LAYERLEVEL" val="1"/>
  <p:tag name="KSO_WM_TAG_VERSION" val="3.0"/>
  <p:tag name="KSO_WM_BEAUTIFY_FLAG" val="#wm#"/>
  <p:tag name="KSO_WM_DIAGRAM_GROUP_CODE" val="l1-1"/>
  <p:tag name="KSO_WM_UNIT_TEXT_TYPE" val="1"/>
  <p:tag name="KSO_WM_UNIT_VALUE" val="11"/>
  <p:tag name="KSO_WM_UNIT_TEXT_FILL_FORE_SCHEMECOLOR_INDEX" val="5"/>
  <p:tag name="KSO_WM_UNIT_TEXT_FILL_TYPE" val="1"/>
  <p:tag name="KSO_WM_UNIT_USESOURCEFORMAT_APPLY" val="1"/>
  <p:tag name="KSO_WM_UNIT_PRESET_TEXT" val="单击此处添加标题"/>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f*1_2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2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BEAUTIFY_FLAG" val="#wm#"/>
  <p:tag name="KSO_WM_DIAGRAM_VERSION" val="3"/>
  <p:tag name="KSO_WM_UNIT_PRESET_TEXT" val="单击此处添加文本内容"/>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f*1_3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3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BEAUTIFY_FLAG" val="#wm#"/>
  <p:tag name="KSO_WM_DIAGRAM_VERSION" val="3"/>
  <p:tag name="KSO_WM_UNIT_PRESET_TEXT" val="单击此处添加文本"/>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f*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1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BEAUTIFY_FLAG" val="#wm#"/>
  <p:tag name="KSO_WM_DIAGRAM_VERSION" val="3"/>
  <p:tag name="KSO_WM_UNIT_PRESET_TEXT" val="单击此处添加文本"/>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f*1_4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4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BEAUTIFY_FLAG" val="#wm#"/>
  <p:tag name="KSO_WM_DIAGRAM_VERSION" val="3"/>
  <p:tag name="KSO_WM_UNIT_PRESET_TEXT" val="单击此处添加文本内容"/>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x*1_2_1"/>
  <p:tag name="KSO_WM_TEMPLATE_CATEGORY" val="diagram"/>
  <p:tag name="KSO_WM_TEMPLATE_INDEX" val="20235601"/>
  <p:tag name="KSO_WM_UNIT_LAYERLEVEL" val="1_1_1"/>
  <p:tag name="KSO_WM_TAG_VERSION" val="3.0"/>
  <p:tag name="KSO_WM_DIAGRAM_COLOR_TRICK" val="1"/>
  <p:tag name="KSO_WM_DIAGRAM_COLOR_TEXT_CAN_REMOVE" val="n"/>
  <p:tag name="KSO_WM_UNIT_VALUE" val="65*65"/>
  <p:tag name="KSO_WM_DIAGRAM_GROUP_CODE" val="l1-1"/>
  <p:tag name="KSO_WM_UNIT_TYPE" val="l_h_x"/>
  <p:tag name="KSO_WM_UNIT_INDEX" val="1_2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0"/>
  <p:tag name="KSO_WM_UNIT_FILL_GRADIENT_ANGLE" val="0"/>
  <p:tag name="KSO_WM_UNIT_FILL_GRADIENT_DIRECTION" val="3"/>
  <p:tag name="KSO_WM_UNIT_USESOURCEFORMAT_APPLY" val="1"/>
  <p:tag name="KSO_WM_BEAUTIFY_FLAG" val="#wm#"/>
  <p:tag name="KSO_WM_DIAGRAM_VERSION" val="3"/>
  <p:tag name="MH_SHAPE_GUID" val="21"/>
  <p:tag name="KSO_WM_DIAGRAM_USE_COLOR_VALUE" val="{&quot;color_scheme&quot;:1,&quot;color_type&quot;:1,&quot;theme_color_indexes&quot;:[5,6,7,8,9,10]}"/>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x*1_3_1"/>
  <p:tag name="KSO_WM_TEMPLATE_CATEGORY" val="diagram"/>
  <p:tag name="KSO_WM_TEMPLATE_INDEX" val="20235601"/>
  <p:tag name="KSO_WM_UNIT_LAYERLEVEL" val="1_1_1"/>
  <p:tag name="KSO_WM_TAG_VERSION" val="3.0"/>
  <p:tag name="KSO_WM_DIAGRAM_COLOR_TRICK" val="1"/>
  <p:tag name="KSO_WM_DIAGRAM_COLOR_TEXT_CAN_REMOVE" val="n"/>
  <p:tag name="KSO_WM_UNIT_VALUE" val="62*62"/>
  <p:tag name="KSO_WM_DIAGRAM_GROUP_CODE" val="l1-1"/>
  <p:tag name="KSO_WM_UNIT_TYPE" val="l_h_x"/>
  <p:tag name="KSO_WM_UNIT_INDEX" val="1_3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0"/>
  <p:tag name="KSO_WM_UNIT_FILL_GRADIENT_ANGLE" val="0"/>
  <p:tag name="KSO_WM_UNIT_FILL_GRADIENT_DIRECTION" val="3"/>
  <p:tag name="KSO_WM_UNIT_USESOURCEFORMAT_APPLY" val="1"/>
  <p:tag name="KSO_WM_BEAUTIFY_FLAG" val="#wm#"/>
  <p:tag name="KSO_WM_DIAGRAM_VERSION" val="3"/>
  <p:tag name="MH_SHAPE_GUID" val="19"/>
  <p:tag name="KSO_WM_DIAGRAM_USE_COLOR_VALUE" val="{&quot;color_scheme&quot;:1,&quot;color_type&quot;:1,&quot;theme_color_indexes&quot;:[5,6,7,8,9,1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x*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VALUE" val="68*68"/>
  <p:tag name="KSO_WM_DIAGRAM_GROUP_CODE" val="l1-1"/>
  <p:tag name="KSO_WM_UNIT_TYPE" val="l_h_x"/>
  <p:tag name="KSO_WM_UNIT_INDEX" val="1_1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0"/>
  <p:tag name="KSO_WM_UNIT_FILL_GRADIENT_ANGLE" val="0"/>
  <p:tag name="KSO_WM_UNIT_FILL_GRADIENT_DIRECTION" val="3"/>
  <p:tag name="KSO_WM_UNIT_USESOURCEFORMAT_APPLY" val="1"/>
  <p:tag name="KSO_WM_BEAUTIFY_FLAG" val="#wm#"/>
  <p:tag name="KSO_WM_DIAGRAM_VERSION" val="3"/>
  <p:tag name="MH_SHAPE_GUID" val="18"/>
  <p:tag name="KSO_WM_DIAGRAM_USE_COLOR_VALUE" val="{&quot;color_scheme&quot;:1,&quot;color_type&quot;:1,&quot;theme_color_indexes&quot;:[5,6,7,8,9,10]}"/>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3*l_h_x*1_4_1"/>
  <p:tag name="KSO_WM_TEMPLATE_CATEGORY" val="diagram"/>
  <p:tag name="KSO_WM_TEMPLATE_INDEX" val="20235601"/>
  <p:tag name="KSO_WM_UNIT_LAYERLEVEL" val="1_1_1"/>
  <p:tag name="KSO_WM_TAG_VERSION" val="3.0"/>
  <p:tag name="KSO_WM_DIAGRAM_COLOR_TRICK" val="1"/>
  <p:tag name="KSO_WM_DIAGRAM_COLOR_TEXT_CAN_REMOVE" val="n"/>
  <p:tag name="KSO_WM_UNIT_VALUE" val="65*65"/>
  <p:tag name="KSO_WM_DIAGRAM_GROUP_CODE" val="l1-1"/>
  <p:tag name="KSO_WM_UNIT_TYPE" val="l_h_x"/>
  <p:tag name="KSO_WM_UNIT_INDEX" val="1_4_1"/>
  <p:tag name="KSO_WM_DIAGRAM_MAX_ITEMCNT" val="5"/>
  <p:tag name="KSO_WM_DIAGRAM_MIN_ITEMCNT" val="2"/>
  <p:tag name="KSO_WM_DIAGRAM_VIRTUALLY_FRAME" val="{&quot;height&quot;:360.2,&quot;left&quot;:48.00551164281649,&quot;top&quot;:131.8,&quot;width&quot;:264.19448852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0"/>
  <p:tag name="KSO_WM_UNIT_FILL_GRADIENT_ANGLE" val="0"/>
  <p:tag name="KSO_WM_UNIT_FILL_GRADIENT_DIRECTION" val="3"/>
  <p:tag name="KSO_WM_UNIT_USESOURCEFORMAT_APPLY" val="1"/>
  <p:tag name="KSO_WM_BEAUTIFY_FLAG" val="#wm#"/>
  <p:tag name="KSO_WM_DIAGRAM_VERSION" val="3"/>
  <p:tag name="MH_SHAPE_GUID" val="23"/>
  <p:tag name="KSO_WM_DIAGRAM_USE_COLOR_VALUE" val="{&quot;color_scheme&quot;:1,&quot;color_type&quot;:1,&quot;theme_color_indexes&quot;:[5,6,7,8,9,10]}"/>
</p:tagLst>
</file>

<file path=ppt/tags/tag58.xml><?xml version="1.0" encoding="utf-8"?>
<p:tagLst xmlns:p="http://schemas.openxmlformats.org/presentationml/2006/main">
  <p:tag name="KSO_WM_BEAUTIFY_FLAG" val="#wm#"/>
  <p:tag name="KSO_WM_TEMPLATE_CATEGORY" val="custom"/>
  <p:tag name="KSO_WM_TEMPLATE_INDEX" val="20231197"/>
  <p:tag name="KSO_WM_SLIDE_ID" val="custom20231197_1"/>
  <p:tag name="KSO_WM_TEMPLATE_SUBCATEGORY" val="0"/>
  <p:tag name="KSO_WM_TEMPLATE_MASTER_TYPE" val="0"/>
  <p:tag name="KSO_WM_TEMPLATE_COLOR_TYPE" val="0"/>
  <p:tag name="KSO_WM_SLIDE_TYPE" val="text"/>
  <p:tag name="KSO_WM_SLIDE_SUBTYPE" val="picTxt"/>
  <p:tag name="KSO_WM_SLIDE_ITEM_CNT" val="4"/>
  <p:tag name="KSO_WM_SLIDE_INDEX" val="1"/>
  <p:tag name="KSO_WM_SLIDE_SIZE" val="264.194*360.15"/>
  <p:tag name="KSO_WM_SLIDE_POSITION" val="48.0055*131.8"/>
  <p:tag name="KSO_WM_TAG_VERSION" val="3.0"/>
  <p:tag name="KSO_WM_SLIDE_LAYOUT" val="a_d_l"/>
  <p:tag name="KSO_WM_SLIDE_LAYOUT_CNT" val="1_2_1"/>
  <p:tag name="KSO_WM_DIAGRAM_GROUP_CODE" val="l1-1"/>
  <p:tag name="KSO_WM_SLIDE_DIAGTYPE" val="l"/>
  <p:tag name="RESOURCE_RECORD_KEY" val="{&quot;65&quot;:[20231197],&quot;70&quot;:[3405563]}"/>
</p:tagLst>
</file>

<file path=ppt/tags/tag5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057_1*a*1"/>
  <p:tag name="KSO_WM_TEMPLATE_CATEGORY" val="diagram"/>
  <p:tag name="KSO_WM_TEMPLATE_INDEX" val="20231057"/>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057_1*l_h_i*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15000000596046448,&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6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3"/>
  <p:tag name="KSO_WM_UNIT_ID" val="diagram20231057_1*l_h_i*1_1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5"/>
  <p:tag name="KSO_WM_UNIT_LINE_FILL_TYPE" val="2"/>
  <p:tag name="KSO_WM_UNIT_USESOURCEFORMAT_APPLY" val="1"/>
</p:tagLst>
</file>

<file path=ppt/tags/tag6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1057_1*l_h_f*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 name="KSO_WM_UNIT_USESOURCEFORMAT_APPLY" val="1"/>
</p:tagLst>
</file>

<file path=ppt/tags/tag6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2"/>
  <p:tag name="KSO_WM_UNIT_ID" val="diagram20231057_1*l_h_i*1_1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64.xml><?xml version="1.0" encoding="utf-8"?>
<p:tagLst xmlns:p="http://schemas.openxmlformats.org/presentationml/2006/main">
  <p:tag name="KSO_WM_UNIT_VALUE" val="56*58"/>
  <p:tag name="KSO_WM_UNIT_HIGHLIGHT" val="0"/>
  <p:tag name="KSO_WM_UNIT_COMPATIBLE" val="0"/>
  <p:tag name="KSO_WM_UNIT_DIAGRAM_ISNUMVISUAL" val="0"/>
  <p:tag name="KSO_WM_UNIT_DIAGRAM_ISREFERUNIT" val="0"/>
  <p:tag name="KSO_WM_UNIT_TYPE" val="l_h_x"/>
  <p:tag name="KSO_WM_UNIT_INDEX" val="1_1_1"/>
  <p:tag name="KSO_WM_UNIT_ID" val="diagram20231057_1*l_h_x*1_1_1"/>
  <p:tag name="KSO_WM_TEMPLATE_CATEGORY" val="diagram"/>
  <p:tag name="KSO_WM_TEMPLATE_INDEX" val="20231057"/>
  <p:tag name="KSO_WM_UNIT_LAYERLEVEL" val="1_1_1"/>
  <p:tag name="KSO_WM_TAG_VERSION" val="3.0"/>
  <p:tag name="KSO_WM_BEAUTIFY_FLAG" val="#wm#"/>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KSO_WM_UNIT_USESOURCEFORMAT_APPLY" val="1"/>
</p:tagLst>
</file>

<file path=ppt/tags/tag6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057_1*l_h_a*1_1_1"/>
  <p:tag name="KSO_WM_TEMPLATE_CATEGORY" val="diagram"/>
  <p:tag name="KSO_WM_TEMPLATE_INDEX" val="20231057"/>
  <p:tag name="KSO_WM_UNIT_LAYERLEVEL" val="1_1_1"/>
  <p:tag name="KSO_WM_TAG_VERSION" val="3.0"/>
  <p:tag name="KSO_WM_BEAUTIFY_FLAG" val="#wm#"/>
  <p:tag name="KSO_WM_UNIT_VALUE" val="26"/>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30000001192092896,&quot;colorType&quot;:1,&quot;foreColorIndex&quot;:5,&quot;pos&quot;:0.800000011920929,&quot;transparency&quot;:0},{&quot;brightness&quot;:0,&quot;colorType&quot;:1,&quot;foreColorIndex&quot;:5,&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6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057_1*l_h_i*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25,&quot;colorType&quot;:1,&quot;foreColorIndex&quot;:6,&quot;pos&quot;:0,&quot;transparency&quot;:0},{&quot;brightness&quot;:-0.10000000149011612,&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3"/>
  <p:tag name="KSO_WM_UNIT_ID" val="diagram20231057_1*l_h_i*1_2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solidLine&quot;:{&quot;brightness&quot;:0.4000000059604645,&quot;colorType&quot;:1,&quot;foreColorIndex&quot;:6,&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6"/>
  <p:tag name="KSO_WM_UNIT_LINE_FILL_TYPE" val="2"/>
  <p:tag name="KSO_WM_UNIT_USESOURCEFORMAT_APPLY" val="1"/>
</p:tagLst>
</file>

<file path=ppt/tags/tag6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1057_1*l_h_f*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 name="KSO_WM_UNIT_USESOURCEFORMAT_APPLY" val="1"/>
</p:tagLst>
</file>

<file path=ppt/tags/tag6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1057_1*l_h_a*1_2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30000001192092896,&quot;colorType&quot;:1,&quot;foreColorIndex&quot;:6,&quot;pos&quot;:0.800000011920929,&quot;transparency&quot;:0},{&quot;brightness&quot;:0,&quot;colorType&quot;:1,&quot;foreColorIndex&quot;:6,&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2"/>
  <p:tag name="KSO_WM_UNIT_ID" val="diagram20231057_1*l_h_i*1_2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25,&quot;colorType&quot;:1,&quot;foreColorIndex&quot;:6,&quot;pos&quot;:0,&quot;transparency&quot;:0},{&quot;brightness&quot;:0.15000000596046448,&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71.xml><?xml version="1.0" encoding="utf-8"?>
<p:tagLst xmlns:p="http://schemas.openxmlformats.org/presentationml/2006/main">
  <p:tag name="KSO_WM_UNIT_VALUE" val="53*48"/>
  <p:tag name="KSO_WM_UNIT_HIGHLIGHT" val="0"/>
  <p:tag name="KSO_WM_UNIT_COMPATIBLE" val="0"/>
  <p:tag name="KSO_WM_UNIT_DIAGRAM_ISNUMVISUAL" val="0"/>
  <p:tag name="KSO_WM_UNIT_DIAGRAM_ISREFERUNIT" val="0"/>
  <p:tag name="KSO_WM_UNIT_TYPE" val="l_h_x"/>
  <p:tag name="KSO_WM_UNIT_INDEX" val="1_2_1"/>
  <p:tag name="KSO_WM_UNIT_ID" val="diagram20231057_1*l_h_x*1_2_1"/>
  <p:tag name="KSO_WM_TEMPLATE_CATEGORY" val="diagram"/>
  <p:tag name="KSO_WM_TEMPLATE_INDEX" val="20231057"/>
  <p:tag name="KSO_WM_UNIT_LAYERLEVEL" val="1_1_1"/>
  <p:tag name="KSO_WM_TAG_VERSION" val="3.0"/>
  <p:tag name="KSO_WM_BEAUTIFY_FLAG" val="#wm#"/>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KSO_WM_UNIT_USESOURCEFORMAT_APPLY" val="1"/>
</p:tagLst>
</file>

<file path=ppt/tags/tag7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1"/>
  <p:tag name="KSO_WM_UNIT_ID" val="diagram20231057_1*l_h_i*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15000000596046448,&quot;colorType&quot;:1,&quot;foreColorIndex&quot;:7,&quot;pos&quot;:0,&quot;transparency&quot;:0},{&quot;brightness&quot;:0,&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3"/>
  <p:tag name="KSO_WM_UNIT_ID" val="diagram20231057_1*l_h_i*1_3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solidLine&quot;:{&quot;brightness&quot;:0.4000000059604645,&quot;colorType&quot;:1,&quot;foreColorIndex&quot;:7,&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7"/>
  <p:tag name="KSO_WM_UNIT_LINE_FILL_TYPE" val="2"/>
  <p:tag name="KSO_WM_UNIT_USESOURCEFORMAT_APPLY" val="1"/>
</p:tagLst>
</file>

<file path=ppt/tags/tag7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1057_1*l_h_f*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内容，简明扼要地阐述您的观点"/>
  <p:tag name="KSO_WM_UNIT_TEXT_FILL_FORE_SCHEMECOLOR_INDEX" val="1"/>
  <p:tag name="KSO_WM_UNIT_TEXT_FILL_TYPE" val="1"/>
  <p:tag name="KSO_WM_UNIT_USESOURCEFORMAT_APPLY" val="1"/>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2"/>
  <p:tag name="KSO_WM_UNIT_ID" val="diagram20231057_1*l_h_i*1_3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1"/>
</p:tagLst>
</file>

<file path=ppt/tags/tag76.xml><?xml version="1.0" encoding="utf-8"?>
<p:tagLst xmlns:p="http://schemas.openxmlformats.org/presentationml/2006/main">
  <p:tag name="KSO_WM_UNIT_VALUE" val="56*58"/>
  <p:tag name="KSO_WM_UNIT_HIGHLIGHT" val="0"/>
  <p:tag name="KSO_WM_UNIT_COMPATIBLE" val="0"/>
  <p:tag name="KSO_WM_UNIT_DIAGRAM_ISNUMVISUAL" val="0"/>
  <p:tag name="KSO_WM_UNIT_DIAGRAM_ISREFERUNIT" val="0"/>
  <p:tag name="KSO_WM_UNIT_TYPE" val="l_h_x"/>
  <p:tag name="KSO_WM_UNIT_INDEX" val="1_3_1"/>
  <p:tag name="KSO_WM_UNIT_ID" val="diagram20231057_1*l_h_x*1_3_1"/>
  <p:tag name="KSO_WM_TEMPLATE_CATEGORY" val="diagram"/>
  <p:tag name="KSO_WM_TEMPLATE_INDEX" val="20231057"/>
  <p:tag name="KSO_WM_UNIT_LAYERLEVEL" val="1_1_1"/>
  <p:tag name="KSO_WM_TAG_VERSION" val="3.0"/>
  <p:tag name="KSO_WM_BEAUTIFY_FLAG" val="#wm#"/>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KSO_WM_UNIT_USESOURCEFORMAT_APPLY" val="1"/>
</p:tagLst>
</file>

<file path=ppt/tags/tag7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1057_1*l_h_a*1_3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366.7974853515625,&quot;left&quot;:54.9,&quot;top&quot;:110.80125732421875,&quot;width&quot;:849.0223622047245}"/>
  <p:tag name="KSO_WM_DIAGRAM_COLOR_MATCH_VALUE" val="{&quot;shape&quot;:{&quot;fill&quot;:{&quot;gradient&quot;:[{&quot;brightness&quot;:0.30000001192092896,&quot;colorType&quot;:1,&quot;foreColorIndex&quot;:7,&quot;pos&quot;:0.800000011920929,&quot;transparency&quot;:0},{&quot;brightness&quot;:0,&quot;colorType&quot;:1,&quot;foreColorIndex&quot;:7,&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78.xml><?xml version="1.0" encoding="utf-8"?>
<p:tagLst xmlns:p="http://schemas.openxmlformats.org/presentationml/2006/main">
  <p:tag name="KSO_WM_SLIDE_ID" val="diagram2023105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diagram"/>
  <p:tag name="KSO_WM_TEMPLATE_INDEX" val="20231057"/>
  <p:tag name="KSO_WM_SLIDE_TYPE" val="text"/>
  <p:tag name="KSO_WM_SLIDE_SUBTYPE" val="diag"/>
  <p:tag name="KSO_WM_SLIDE_SIZE" val="849.022*270.5"/>
  <p:tag name="KSO_WM_SLIDE_POSITION" val="54.9*160.6"/>
  <p:tag name="KSO_WM_SLIDE_LAYOUT" val="a_l"/>
  <p:tag name="KSO_WM_SLIDE_LAYOUT_CNT" val="1_1"/>
  <p:tag name="KSO_WM_SPECIAL_SOURCE" val="bdnull"/>
  <p:tag name="KSO_WM_DIAGRAM_GROUP_CODE" val="l1-1"/>
  <p:tag name="KSO_WM_SLIDE_DIAGTYPE" val="l"/>
</p:tagLst>
</file>

<file path=ppt/tags/tag7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1340_1*a*1"/>
  <p:tag name="KSO_WM_TEMPLATE_CATEGORY" val="custom"/>
  <p:tag name="KSO_WM_TEMPLATE_INDEX" val="20231340"/>
  <p:tag name="KSO_WM_UNIT_LAYERLEVEL" val="1"/>
  <p:tag name="KSO_WM_TAG_VERSION" val="3.0"/>
  <p:tag name="KSO_WM_BEAUTIFY_FLAG" val="#wm#"/>
  <p:tag name="KSO_WM_UNIT_VALUE" val="30"/>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340_1*i*1"/>
  <p:tag name="KSO_WM_TEMPLATE_CATEGORY" val="custom"/>
  <p:tag name="KSO_WM_TEMPLATE_INDEX" val="20231340"/>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1"/>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1340_1*i*2"/>
  <p:tag name="KSO_WM_TEMPLATE_CATEGORY" val="custom"/>
  <p:tag name="KSO_WM_TEMPLATE_INDEX" val="20231340"/>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1"/>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1340_1*i*3"/>
  <p:tag name="KSO_WM_TEMPLATE_CATEGORY" val="custom"/>
  <p:tag name="KSO_WM_TEMPLATE_INDEX" val="20231340"/>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1"/>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1340_1*i*4"/>
  <p:tag name="KSO_WM_TEMPLATE_CATEGORY" val="custom"/>
  <p:tag name="KSO_WM_TEMPLATE_INDEX" val="20231340"/>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1"/>
  <p:tag name="KSO_WM_TEMPLATE_CATEGORY" val="diagram"/>
  <p:tag name="KSO_WM_TEMPLATE_INDEX" val="20235534"/>
  <p:tag name="KSO_WM_UNIT_LAYERLEVEL" val="1_1"/>
  <p:tag name="KSO_WM_TAG_VERSION" val="3.0"/>
  <p:tag name="KSO_WM_BEAUTIFY_FLAG" val="#wm#"/>
  <p:tag name="KSO_WM_UNIT_TYPE" val="l_i"/>
  <p:tag name="KSO_WM_UNIT_INDEX" val="1_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0.3,&quot;left&quot;:50.75,&quot;top&quot;:126.1,&quot;width&quot;:408.25}"/>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85.xml><?xml version="1.0" encoding="utf-8"?>
<p:tagLst xmlns:p="http://schemas.openxmlformats.org/presentationml/2006/main">
  <p:tag name="KSO_WM_UNIT_VALUE" val="52*63"/>
  <p:tag name="KSO_WM_UNIT_HIGHLIGHT" val="0"/>
  <p:tag name="KSO_WM_UNIT_COMPATIBLE" val="0"/>
  <p:tag name="KSO_WM_UNIT_DIAGRAM_ISNUMVISUAL" val="0"/>
  <p:tag name="KSO_WM_UNIT_DIAGRAM_ISREFERUNIT" val="0"/>
  <p:tag name="KSO_WM_UNIT_TYPE" val="l_h_x"/>
  <p:tag name="KSO_WM_UNIT_INDEX" val="1_1_1"/>
  <p:tag name="KSO_WM_UNIT_ID" val="diagram20235534_2*l_h_x*1_1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60.3,&quot;left&quot;:50.75,&quot;top&quot;:126.1,&quot;width&quot;:408.25}"/>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5"/>
  <p:tag name="KSO_WM_UNIT_SHADOW_SCHEMECOLOR_INDEX" val="5"/>
  <p:tag name="KSO_WM_UNIT_USESOURCEFORMAT_APPLY" val="1"/>
</p:tagLst>
</file>

<file path=ppt/tags/tag8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534_2*l_h_f*1_1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60.3,&quot;left&quot;:50.75,&quot;top&quot;:126.1,&quot;width&quot;:408.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添加正文，文字是您思想的提炼，请言简意赅阐述内容。"/>
  <p:tag name="KSO_WM_UNIT_TEXT_FILL_FORE_SCHEMECOLOR_INDEX" val="1"/>
  <p:tag name="KSO_WM_UNIT_TEXT_FILL_TYPE" val="1"/>
  <p:tag name="KSO_WM_UNIT_USESOURCEFORMAT_APPLY" val="1"/>
</p:tagLst>
</file>

<file path=ppt/tags/tag87.xml><?xml version="1.0" encoding="utf-8"?>
<p:tagLst xmlns:p="http://schemas.openxmlformats.org/presentationml/2006/main">
  <p:tag name="KSO_WM_UNIT_VALUE" val="63*52"/>
  <p:tag name="KSO_WM_UNIT_HIGHLIGHT" val="0"/>
  <p:tag name="KSO_WM_UNIT_COMPATIBLE" val="0"/>
  <p:tag name="KSO_WM_UNIT_DIAGRAM_ISNUMVISUAL" val="0"/>
  <p:tag name="KSO_WM_UNIT_DIAGRAM_ISREFERUNIT" val="0"/>
  <p:tag name="KSO_WM_UNIT_TYPE" val="l_h_x"/>
  <p:tag name="KSO_WM_UNIT_INDEX" val="1_3_1"/>
  <p:tag name="KSO_WM_UNIT_ID" val="diagram20235534_2*l_h_x*1_3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60.3,&quot;left&quot;:50.75,&quot;top&quot;:126.1,&quot;width&quot;:408.25}"/>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7"/>
  <p:tag name="KSO_WM_UNIT_SHADOW_SCHEMECOLOR_INDEX" val="7"/>
  <p:tag name="KSO_WM_UNIT_USESOURCEFORMAT_APPLY" val="1"/>
</p:tagLst>
</file>

<file path=ppt/tags/tag8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534_2*l_h_f*1_3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60.3,&quot;left&quot;:50.75,&quot;top&quot;:126.1,&quot;width&quot;:408.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添加正文，文字是您思想的提炼，请言简意赅阐述内容。"/>
  <p:tag name="KSO_WM_UNIT_TEXT_FILL_FORE_SCHEMECOLOR_INDEX" val="1"/>
  <p:tag name="KSO_WM_UNIT_TEXT_FILL_TYPE" val="1"/>
  <p:tag name="KSO_WM_UNIT_USESOURCEFORMAT_APPLY" val="1"/>
</p:tagLst>
</file>

<file path=ppt/tags/tag89.xml><?xml version="1.0" encoding="utf-8"?>
<p:tagLst xmlns:p="http://schemas.openxmlformats.org/presentationml/2006/main">
  <p:tag name="KSO_WM_UNIT_VALUE" val="58*63"/>
  <p:tag name="KSO_WM_UNIT_HIGHLIGHT" val="0"/>
  <p:tag name="KSO_WM_UNIT_COMPATIBLE" val="0"/>
  <p:tag name="KSO_WM_UNIT_DIAGRAM_ISNUMVISUAL" val="0"/>
  <p:tag name="KSO_WM_UNIT_DIAGRAM_ISREFERUNIT" val="0"/>
  <p:tag name="KSO_WM_UNIT_TYPE" val="l_h_x"/>
  <p:tag name="KSO_WM_UNIT_INDEX" val="1_2_1"/>
  <p:tag name="KSO_WM_UNIT_ID" val="diagram20235534_2*l_h_x*1_2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60.3,&quot;left&quot;:50.75,&quot;top&quot;:126.1,&quot;width&quot;:408.25}"/>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6"/>
  <p:tag name="KSO_WM_UNIT_SHADOW_SCHEMECOLOR_INDEX" val="6"/>
  <p:tag name="KSO_WM_UNIT_USESOURCEFORMAT_APPLY" val="1"/>
</p:tagLst>
</file>

<file path=ppt/tags/tag9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534_2*l_h_f*1_2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60.3,&quot;left&quot;:50.75,&quot;top&quot;:126.1,&quot;width&quot;:408.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添加正文，文字是思想的提炼，请言简意赅阐述内容。"/>
  <p:tag name="KSO_WM_UNIT_TEXT_FILL_FORE_SCHEMECOLOR_INDEX" val="1"/>
  <p:tag name="KSO_WM_UNIT_TEXT_FILL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2"/>
  <p:tag name="KSO_WM_TEMPLATE_CATEGORY" val="diagram"/>
  <p:tag name="KSO_WM_TEMPLATE_INDEX" val="20235534"/>
  <p:tag name="KSO_WM_UNIT_LAYERLEVEL" val="1_1"/>
  <p:tag name="KSO_WM_TAG_VERSION" val="3.0"/>
  <p:tag name="KSO_WM_BEAUTIFY_FLAG" val="#wm#"/>
  <p:tag name="KSO_WM_UNIT_TYPE" val="l_i"/>
  <p:tag name="KSO_WM_UNIT_INDEX" val="1_2"/>
  <p:tag name="KSO_WM_DIAGRAM_GROUP_CODE" val="l1-1"/>
  <p:tag name="KSO_WM_DIAGRAM_VERSION" val="3"/>
  <p:tag name="KSO_WM_DIAGRAM_COLOR_TRICK" val="1"/>
  <p:tag name="KSO_WM_DIAGRAM_COLOR_TEXT_CAN_REMOVE" val="n"/>
  <p:tag name="KSO_WM_UNIT_LINE_FORE_SCHEMECOLOR_INDEX" val="13"/>
  <p:tag name="KSO_WM_DIAGRAM_MAX_ITEMCNT" val="4"/>
  <p:tag name="KSO_WM_DIAGRAM_MIN_ITEMCNT" val="2"/>
  <p:tag name="KSO_WM_DIAGRAM_VIRTUALLY_FRAME" val="{&quot;height&quot;:360.3,&quot;left&quot;:50.75,&quot;top&quot;:126.1,&quot;width&quot;:408.25}"/>
  <p:tag name="KSO_WM_DIAGRAM_COLOR_MATCH_VALUE" val="{&quot;shape&quot;:{&quot;fill&quot;:{&quot;type&quot;:0},&quot;glow&quot;:{&quot;colorType&quot;:0},&quot;line&quot;:{&quot;solidLine&quot;:{&quot;brightness&quot;:0.3499999940395355,&quot;colorType&quot;:1,&quot;foreColorIndex&quot;:13,&quot;transparency&quot;:0.6499999761581421},&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3"/>
  <p:tag name="KSO_WM_TEMPLATE_CATEGORY" val="diagram"/>
  <p:tag name="KSO_WM_TEMPLATE_INDEX" val="20235534"/>
  <p:tag name="KSO_WM_UNIT_LAYERLEVEL" val="1_1"/>
  <p:tag name="KSO_WM_TAG_VERSION" val="3.0"/>
  <p:tag name="KSO_WM_BEAUTIFY_FLAG" val="#wm#"/>
  <p:tag name="KSO_WM_UNIT_TYPE" val="l_i"/>
  <p:tag name="KSO_WM_UNIT_INDEX" val="1_3"/>
  <p:tag name="KSO_WM_DIAGRAM_GROUP_CODE" val="l1-1"/>
  <p:tag name="KSO_WM_DIAGRAM_VERSION" val="3"/>
  <p:tag name="KSO_WM_DIAGRAM_COLOR_TRICK" val="1"/>
  <p:tag name="KSO_WM_DIAGRAM_COLOR_TEXT_CAN_REMOVE" val="n"/>
  <p:tag name="KSO_WM_UNIT_LINE_FORE_SCHEMECOLOR_INDEX" val="13"/>
  <p:tag name="KSO_WM_DIAGRAM_MAX_ITEMCNT" val="4"/>
  <p:tag name="KSO_WM_DIAGRAM_MIN_ITEMCNT" val="2"/>
  <p:tag name="KSO_WM_DIAGRAM_VIRTUALLY_FRAME" val="{&quot;height&quot;:360.3,&quot;left&quot;:50.75,&quot;top&quot;:126.1,&quot;width&quot;:408.25}"/>
  <p:tag name="KSO_WM_DIAGRAM_COLOR_MATCH_VALUE" val="{&quot;shape&quot;:{&quot;fill&quot;:{&quot;type&quot;:0},&quot;glow&quot;:{&quot;colorType&quot;:0},&quot;line&quot;:{&quot;solidLine&quot;:{&quot;brightness&quot;:0.3499999940395355,&quot;colorType&quot;:1,&quot;foreColorIndex&quot;:13,&quot;transparency&quot;:0.6499999761581421},&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93.xml><?xml version="1.0" encoding="utf-8"?>
<p:tagLst xmlns:p="http://schemas.openxmlformats.org/presentationml/2006/main">
  <p:tag name="KSO_WM_UNIT_PLACING_PICTURE_USER_VIEWPORT" val="{&quot;height&quot;:6728,&quot;width&quot;:7720}"/>
</p:tagLst>
</file>

<file path=ppt/tags/tag94.xml><?xml version="1.0" encoding="utf-8"?>
<p:tagLst xmlns:p="http://schemas.openxmlformats.org/presentationml/2006/main">
  <p:tag name="KSO_WM_SLIDE_ID" val="custom2023134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340"/>
  <p:tag name="KSO_WM_SLIDE_TYPE" val="text"/>
  <p:tag name="KSO_WM_SLIDE_SUBTYPE" val="picTxt"/>
  <p:tag name="KSO_WM_SLIDE_SIZE" val="408.2*360.3"/>
  <p:tag name="KSO_WM_SLIDE_POSITION" val="50.8*126.1"/>
  <p:tag name="KSO_WM_SLIDE_LAYOUT" val="a_d_l"/>
  <p:tag name="KSO_WM_SLIDE_LAYOUT_CNT" val="1_1_1"/>
  <p:tag name="KSO_WM_SPECIAL_SOURCE" val="bdnull"/>
  <p:tag name="KSO_WM_DIAGRAM_GROUP_CODE" val="l1-1"/>
  <p:tag name="KSO_WM_SLIDE_DIAGTYPE" val="l"/>
</p:tagLst>
</file>

<file path=ppt/tags/tag9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20_2*a*1"/>
  <p:tag name="KSO_WM_TEMPLATE_CATEGORY" val="diagram"/>
  <p:tag name="KSO_WM_TEMPLATE_INDEX" val="2023092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20_2*l_h_a*1_3_1"/>
  <p:tag name="KSO_WM_TEMPLATE_CATEGORY" val="diagram"/>
  <p:tag name="KSO_WM_TEMPLATE_INDEX" val="20230920"/>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0_2*l_h_i*1_1_1"/>
  <p:tag name="KSO_WM_TEMPLATE_CATEGORY" val="diagram"/>
  <p:tag name="KSO_WM_TEMPLATE_INDEX" val="20230920"/>
  <p:tag name="KSO_WM_UNIT_LAYERLEVEL" val="1_1_1"/>
  <p:tag name="KSO_WM_TAG_VERSION" val="3.0"/>
  <p:tag name="KSO_WM_UNIT_SUBTYPE" val="d"/>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199999928474426,&quot;rgb&quot;:&quot;#f5f8ff&quot;,&quot;transparency&quot;:0},{&quot;brightness&quot;:0,&quot;colorType&quot;:2,&quot;pos&quot;:0,&quot;rgb&quot;:&quot;#a5beff&quot;,&quot;transparency&quot;:0},{&quot;brightness&quot;:0,&quot;colorType&quot;:2,&quot;pos&quot;:1,&quot;rgb&quot;:&quot;#f5f8ff&quot;,&quot;transparency&quot;:0},{&quot;brightness&quot;:0,&quot;colorType&quot;:2,&quot;pos&quot;:0.7099999785423279,&quot;rgb&quot;:&quot;#c3d4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FILL_TYPE" val="3"/>
  <p:tag name="KSO_WM_UNIT_SHADOW_SCHEMECOLOR_INDEX" val="5"/>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0_2*l_h_i*1_2_2"/>
  <p:tag name="KSO_WM_TEMPLATE_CATEGORY" val="diagram"/>
  <p:tag name="KSO_WM_TEMPLATE_INDEX" val="20230920"/>
  <p:tag name="KSO_WM_UNIT_LAYERLEVEL" val="1_1_1"/>
  <p:tag name="KSO_WM_TAG_VERSION" val="3.0"/>
  <p:tag name="KSO_WM_UNIT_SUBTYPE" val="d"/>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gradient&quot;:[{&quot;brightness&quot;:0,&quot;colorType&quot;:1,&quot;foreColorIndex&quot;:6,&quot;pos&quot;:0.5400000214576721,&quot;transparency&quot;:0},{&quot;brightness&quot;:0.4000000059604645,&quot;colorType&quot;:1,&quot;foreColorIndex&quot;:6,&quot;pos&quot;:0,&quot;transparency&quot;:0},{&quot;brightness&quot;:0.4000000059604645,&quot;colorType&quot;:1,&quot;foreColorIndex&quot;:6,&quot;pos&quot;:1,&quot;transparency&quot;:0}],&quot;type&quot;:3},&quot;glow&quot;:{&quot;colorType&quot;:0},&quot;line&quot;:{&quot;gradient&quot;:[{&quot;brightness&quot;:0,&quot;colorType&quot;:2,&quot;pos&quot;:0.3199999928474426,&quot;rgb&quot;:&quot;#f5f8ff&quot;,&quot;transparency&quot;:0},{&quot;brightness&quot;:0.800000011920929,&quot;colorType&quot;:1,&quot;foreColorIndex&quot;:6,&quot;pos&quot;:0,&quot;transparency&quot;:0},{&quot;brightness&quot;:0,&quot;colorType&quot;:2,&quot;pos&quot;:1,&quot;rgb&quot;:&quot;#f5f8ff&quot;,&quot;transparency&quot;:0},{&quot;brightness&quot;:0.800000011920929,&quot;colorType&quot;:1,&quot;foreColorIndex&quot;:6,&quot;pos&quot;:0.7099999785423279,&quot;transparency&quot;:0}],&quot;type&quot;:2},&quot;shadow&quot;:{&quot;brightness&quot;:0,&quot;colorType&quot;:1,&quot;foreColorIndex&quot;:6,&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FILL_TYPE" val="3"/>
  <p:tag name="KSO_WM_UNIT_LINE_FORE_SCHEMECOLOR_INDEX" val="6"/>
  <p:tag name="KSO_WM_UNIT_SHADOW_SCHEMECOLOR_INDEX" val="6"/>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0920_2*l_h_i*1_3_2"/>
  <p:tag name="KSO_WM_TEMPLATE_CATEGORY" val="diagram"/>
  <p:tag name="KSO_WM_TEMPLATE_INDEX" val="20230920"/>
  <p:tag name="KSO_WM_UNIT_LAYERLEVEL" val="1_1_1"/>
  <p:tag name="KSO_WM_TAG_VERSION" val="3.0"/>
  <p:tag name="KSO_WM_UNIT_SUBTYPE" val="d"/>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199999928474426,&quot;rgb&quot;:&quot;#f5f8ff&quot;,&quot;transparency&quot;:0},{&quot;brightness&quot;:0,&quot;colorType&quot;:2,&quot;pos&quot;:0,&quot;rgb&quot;:&quot;#a5beff&quot;,&quot;transparency&quot;:0},{&quot;brightness&quot;:0,&quot;colorType&quot;:2,&quot;pos&quot;:1,&quot;rgb&quot;:&quot;#f5f8ff&quot;,&quot;transparency&quot;:0},{&quot;brightness&quot;:0,&quot;colorType&quot;:2,&quot;pos&quot;:0.7099999785423279,&quot;rgb&quot;:&quot;#c3d4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FILL_TYPE" val="3"/>
  <p:tag name="KSO_WM_UNIT_SHADOW_SCHEMECOLOR_INDEX" val="7"/>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0_2*l_h_i*1_1_2"/>
  <p:tag name="KSO_WM_TEMPLATE_CATEGORY" val="diagram"/>
  <p:tag name="KSO_WM_TEMPLATE_INDEX" val="20230920"/>
  <p:tag name="KSO_WM_UNIT_LAYERLEVEL" val="1_1_1"/>
  <p:tag name="KSO_WM_TAG_VERSION" val="3.0"/>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LINE_FORE_SCHEMECOLOR_INDEX" val="5"/>
  <p:tag name="KSO_WM_UNIT_TEXT_FILL_FORE_SCHEMECOLOR_INDEX" val="2"/>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0920_2*l_h_i*1_3_1"/>
  <p:tag name="KSO_WM_TEMPLATE_CATEGORY" val="diagram"/>
  <p:tag name="KSO_WM_TEMPLATE_INDEX" val="20230920"/>
  <p:tag name="KSO_WM_UNIT_LAYERLEVEL" val="1_1_1"/>
  <p:tag name="KSO_WM_TAG_VERSION" val="3.0"/>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LINE_FORE_SCHEMECOLOR_INDEX" val="7"/>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0_2*l_h_a*1_1_1"/>
  <p:tag name="KSO_WM_TEMPLATE_CATEGORY" val="diagram"/>
  <p:tag name="KSO_WM_TEMPLATE_INDEX" val="20230920"/>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0_2*l_h_i*1_2_1"/>
  <p:tag name="KSO_WM_TEMPLATE_CATEGORY" val="diagram"/>
  <p:tag name="KSO_WM_TEMPLATE_INDEX" val="20230920"/>
  <p:tag name="KSO_WM_UNIT_LAYERLEVEL" val="1_1_1"/>
  <p:tag name="KSO_WM_TAG_VERSION" val="3.0"/>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gradient&quot;:[{&quot;brightness&quot;:0,&quot;colorType&quot;:1,&quot;foreColorIndex&quot;:6,&quot;pos&quot;:0,&quot;transparency&quot;:0},{&quot;brightness&quot;:0,&quot;colorType&quot;:1,&quot;foreColorIndex&quot;:6,&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LINE_FORE_SCHEMECOLOR_INDEX" val="6"/>
  <p:tag name="KSO_WM_UNIT_TEXT_FILL_FORE_SCHEMECOLOR_INDEX" val="2"/>
  <p:tag name="KSO_WM_UNIT_TEXT_FILL_TYPE" val="1"/>
  <p:tag name="KSO_WM_UNIT_USESOURCEFORMAT_APPLY" val="1"/>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0_2*l_h_f*1_2_1"/>
  <p:tag name="KSO_WM_TEMPLATE_CATEGORY" val="diagram"/>
  <p:tag name="KSO_WM_TEMPLATE_INDEX" val="20230920"/>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2*l_i*1_2"/>
  <p:tag name="KSO_WM_TEMPLATE_CATEGORY" val="diagram"/>
  <p:tag name="KSO_WM_TEMPLATE_INDEX" val="20230920"/>
  <p:tag name="KSO_WM_UNIT_LAYERLEVEL" val="1_1"/>
  <p:tag name="KSO_WM_TAG_VERSION" val="3.0"/>
  <p:tag name="KSO_WM_UNIT_TYPE" val="l_i"/>
  <p:tag name="KSO_WM_UNIT_INDEX" val="1_2"/>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LINE_FORE_SCHEMECOLOR_INDEX" val="5"/>
  <p:tag name="KSO_WM_UNIT_TEXT_FILL_FORE_SCHEMECOLOR_INDEX" val="2"/>
  <p:tag name="KSO_WM_UNIT_TEXT_FILL_TYPE" val="1"/>
  <p:tag name="KSO_WM_UNIT_USESOURCEFORMAT_APPLY"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2*l_i*1_1"/>
  <p:tag name="KSO_WM_TEMPLATE_CATEGORY" val="diagram"/>
  <p:tag name="KSO_WM_TEMPLATE_INDEX" val="20230920"/>
  <p:tag name="KSO_WM_UNIT_LAYERLEVEL" val="1_1"/>
  <p:tag name="KSO_WM_TAG_VERSION" val="3.0"/>
  <p:tag name="KSO_WM_UNIT_TYPE" val="l_i"/>
  <p:tag name="KSO_WM_UNIT_INDEX" val="1_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LINE_FORE_SCHEMECOLOR_INDEX" val="5"/>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0_2*l_h_f*1_1_1"/>
  <p:tag name="KSO_WM_TEMPLATE_CATEGORY" val="diagram"/>
  <p:tag name="KSO_WM_TEMPLATE_INDEX" val="20230920"/>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20_2*l_h_f*1_3_1"/>
  <p:tag name="KSO_WM_TEMPLATE_CATEGORY" val="diagram"/>
  <p:tag name="KSO_WM_TEMPLATE_INDEX" val="20230920"/>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1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0_2*l_h_a*1_2_1"/>
  <p:tag name="KSO_WM_TEMPLATE_CATEGORY" val="diagram"/>
  <p:tag name="KSO_WM_TEMPLATE_INDEX" val="20230920"/>
  <p:tag name="KSO_WM_UNIT_LAYERLEVEL" val="1_1_1"/>
  <p:tag name="KSO_WM_TAG_VERSION" val="3.0"/>
  <p:tag name="KSO_WM_BEAUTIFY_FLAG" val="#wm#"/>
  <p:tag name="KSO_WM_DIAGRAM_GROUP_CODE" val="l1-1"/>
  <p:tag name="KSO_WM_DIAGRAM_MAX_ITEMCNT" val="4"/>
  <p:tag name="KSO_WM_DIAGRAM_MIN_ITEMCNT" val="2"/>
  <p:tag name="KSO_WM_DIAGRAM_VIRTUALLY_FRAME" val="{&quot;height&quot;:390.6537780761719,&quot;left&quot;:54.84998779296875,&quot;top&quot;:96.2429534815990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1"/>
</p:tagLst>
</file>

<file path=ppt/tags/tag110.xml><?xml version="1.0" encoding="utf-8"?>
<p:tagLst xmlns:p="http://schemas.openxmlformats.org/presentationml/2006/main">
  <p:tag name="KSO_WM_SLIDE_ID" val="diagram2023092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20"/>
  <p:tag name="KSO_WM_SLIDE_TYPE" val="text"/>
  <p:tag name="KSO_WM_SLIDE_SUBTYPE" val="diag"/>
  <p:tag name="KSO_WM_SLIDE_SIZE" val="850.4*375.215"/>
  <p:tag name="KSO_WM_SLIDE_POSITION" val="54.85*108.812"/>
  <p:tag name="KSO_WM_SLIDE_LAYOUT" val="a_l"/>
  <p:tag name="KSO_WM_SLIDE_LAYOUT_CNT" val="1_1"/>
  <p:tag name="KSO_WM_SPECIAL_SOURCE" val="bdnull"/>
  <p:tag name="KSO_WM_DIAGRAM_GROUP_CODE" val="l1-1"/>
  <p:tag name="KSO_WM_SLIDE_DIAGTYPE" val="l"/>
</p:tagLst>
</file>

<file path=ppt/tags/tag1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1802_1*a*1"/>
  <p:tag name="KSO_WM_TEMPLATE_CATEGORY" val="custom"/>
  <p:tag name="KSO_WM_TEMPLATE_INDEX" val="20231802"/>
  <p:tag name="KSO_WM_UNIT_LAYERLEVEL" val="1"/>
  <p:tag name="KSO_WM_TAG_VERSION" val="3.0"/>
  <p:tag name="KSO_WM_BEAUTIFY_FLAG" val="#wm#"/>
  <p:tag name="KSO_WM_UNIT_VALUE" val="30"/>
  <p:tag name="KSO_WM_DIAGRAM_GROUP_CODE" val="l1-1"/>
  <p:tag name="KSO_WM_UNIT_PRESET_TEXT" val="单击此处添加页面的标题"/>
  <p:tag name="KSO_WM_UNIT_TEXT_TYPE" val="1"/>
  <p:tag name="KSO_WM_UNIT_TEXT_FILL_FORE_SCHEMECOLOR_INDEX" val="13"/>
  <p:tag name="KSO_WM_UNIT_TEXT_FILL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i*1_1_1"/>
  <p:tag name="KSO_WM_TEMPLATE_CATEGORY" val="diagram"/>
  <p:tag name="KSO_WM_TEMPLATE_INDEX" val="20235644"/>
  <p:tag name="KSO_WM_UNIT_LAYERLEVEL" val="1_1_1"/>
  <p:tag name="KSO_WM_TAG_VERSION" val="3.0"/>
  <p:tag name="KSO_WM_UNIT_SUBTYPE" val="d"/>
  <p:tag name="KSO_WM_UNIT_TYPE" val="l_h_i"/>
  <p:tag name="KSO_WM_UNIT_INDEX" val="1_1_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a*1_1_1"/>
  <p:tag name="KSO_WM_TEMPLATE_CATEGORY" val="diagram"/>
  <p:tag name="KSO_WM_TEMPLATE_INDEX" val="20235644"/>
  <p:tag name="KSO_WM_UNIT_LAYERLEVEL" val="1_1_1"/>
  <p:tag name="KSO_WM_TAG_VERSION" val="3.0"/>
  <p:tag name="KSO_WM_UNIT_ISCONTENTSTITLE" val="0"/>
  <p:tag name="KSO_WM_UNIT_ISNUMDGMTITLE" val="0"/>
  <p:tag name="KSO_WM_UNIT_NOCLEAR" val="0"/>
  <p:tag name="KSO_WM_UNIT_TYPE" val="l_h_a"/>
  <p:tag name="KSO_WM_UNIT_INDEX" val="1_1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20"/>
  <p:tag name="KSO_WM_UNIT_PRESET_TEXT" val="单击添加项标题"/>
  <p:tag name="KSO_WM_UNIT_TEXT_FILL_FORE_SCHEMECOLOR_INDEX" val="1"/>
  <p:tag name="KSO_WM_UNIT_TEXT_FILL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f*1_1_1"/>
  <p:tag name="KSO_WM_TEMPLATE_CATEGORY" val="diagram"/>
  <p:tag name="KSO_WM_TEMPLATE_INDEX" val="20235644"/>
  <p:tag name="KSO_WM_UNIT_LAYERLEVEL" val="1_1_1"/>
  <p:tag name="KSO_WM_TAG_VERSION" val="3.0"/>
  <p:tag name="KSO_WM_UNIT_SUBTYPE" val="a"/>
  <p:tag name="KSO_WM_UNIT_TEXT_LAYER_COUNT" val="1"/>
  <p:tag name="KSO_WM_UNIT_NOCLEAR" val="0"/>
  <p:tag name="KSO_WM_UNIT_TYPE" val="l_h_f"/>
  <p:tag name="KSO_WM_UNIT_INDEX" val="1_1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46"/>
  <p:tag name="KSO_WM_UNIT_PRESET_TEXT" val="单击此处添加正文，文字是您思想的提炼，请言简意赅阐述内容。"/>
  <p:tag name="KSO_WM_UNIT_TEXT_FILL_FORE_SCHEMECOLOR_INDEX" val="1"/>
  <p:tag name="KSO_WM_UNIT_TEXT_FILL_TYPE" val="1"/>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i*1_2_1"/>
  <p:tag name="KSO_WM_TEMPLATE_CATEGORY" val="diagram"/>
  <p:tag name="KSO_WM_TEMPLATE_INDEX" val="20235644"/>
  <p:tag name="KSO_WM_UNIT_LAYERLEVEL" val="1_1_1"/>
  <p:tag name="KSO_WM_TAG_VERSION" val="3.0"/>
  <p:tag name="KSO_WM_UNIT_SUBTYPE" val="d"/>
  <p:tag name="KSO_WM_UNIT_TYPE" val="l_h_i"/>
  <p:tag name="KSO_WM_UNIT_INDEX" val="1_2_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a*1_2_1"/>
  <p:tag name="KSO_WM_TEMPLATE_CATEGORY" val="diagram"/>
  <p:tag name="KSO_WM_TEMPLATE_INDEX" val="20235644"/>
  <p:tag name="KSO_WM_UNIT_LAYERLEVEL" val="1_1_1"/>
  <p:tag name="KSO_WM_TAG_VERSION" val="3.0"/>
  <p:tag name="KSO_WM_UNIT_ISCONTENTSTITLE" val="0"/>
  <p:tag name="KSO_WM_UNIT_ISNUMDGMTITLE" val="0"/>
  <p:tag name="KSO_WM_UNIT_NOCLEAR" val="0"/>
  <p:tag name="KSO_WM_UNIT_TYPE" val="l_h_a"/>
  <p:tag name="KSO_WM_UNIT_INDEX" val="1_2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20"/>
  <p:tag name="KSO_WM_UNIT_PRESET_TEXT" val="单击添加项标题"/>
  <p:tag name="KSO_WM_UNIT_TEXT_FILL_FORE_SCHEMECOLOR_INDEX" val="1"/>
  <p:tag name="KSO_WM_UNIT_TEXT_FILL_TYPE" val="1"/>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f*1_2_1"/>
  <p:tag name="KSO_WM_TEMPLATE_CATEGORY" val="diagram"/>
  <p:tag name="KSO_WM_TEMPLATE_INDEX" val="20235644"/>
  <p:tag name="KSO_WM_UNIT_LAYERLEVEL" val="1_1_1"/>
  <p:tag name="KSO_WM_TAG_VERSION" val="3.0"/>
  <p:tag name="KSO_WM_UNIT_SUBTYPE" val="a"/>
  <p:tag name="KSO_WM_UNIT_TEXT_LAYER_COUNT" val="1"/>
  <p:tag name="KSO_WM_UNIT_NOCLEAR" val="0"/>
  <p:tag name="KSO_WM_UNIT_TYPE" val="l_h_f"/>
  <p:tag name="KSO_WM_UNIT_INDEX" val="1_2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46"/>
  <p:tag name="KSO_WM_UNIT_PRESET_TEXT" val="单击在此处编辑正文，文字是您思想的提炼，请言简意赅阐述内容。"/>
  <p:tag name="KSO_WM_UNIT_TEXT_FILL_FORE_SCHEMECOLOR_INDEX" val="1"/>
  <p:tag name="KSO_WM_UNIT_TEXT_FILL_TYPE" val="1"/>
  <p:tag name="KSO_WM_UNIT_USESOURCEFORMAT_APPLY"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i*1_3_1"/>
  <p:tag name="KSO_WM_TEMPLATE_CATEGORY" val="diagram"/>
  <p:tag name="KSO_WM_TEMPLATE_INDEX" val="20235644"/>
  <p:tag name="KSO_WM_UNIT_LAYERLEVEL" val="1_1_1"/>
  <p:tag name="KSO_WM_TAG_VERSION" val="3.0"/>
  <p:tag name="KSO_WM_UNIT_SUBTYPE" val="d"/>
  <p:tag name="KSO_WM_UNIT_TYPE" val="l_h_i"/>
  <p:tag name="KSO_WM_UNIT_INDEX" val="1_3_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TEXT_FILL_FORE_SCHEMECOLOR_INDEX" val="1"/>
  <p:tag name="KSO_WM_UNIT_TEXT_FILL_TYPE" val="1"/>
  <p:tag name="KSO_WM_UNIT_USESOURCEFORMAT_APPLY"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a*1_3_1"/>
  <p:tag name="KSO_WM_TEMPLATE_CATEGORY" val="diagram"/>
  <p:tag name="KSO_WM_TEMPLATE_INDEX" val="20235644"/>
  <p:tag name="KSO_WM_UNIT_LAYERLEVEL" val="1_1_1"/>
  <p:tag name="KSO_WM_TAG_VERSION" val="3.0"/>
  <p:tag name="KSO_WM_UNIT_ISCONTENTSTITLE" val="0"/>
  <p:tag name="KSO_WM_UNIT_ISNUMDGMTITLE" val="0"/>
  <p:tag name="KSO_WM_UNIT_NOCLEAR" val="0"/>
  <p:tag name="KSO_WM_UNIT_TYPE" val="l_h_a"/>
  <p:tag name="KSO_WM_UNIT_INDEX" val="1_3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20"/>
  <p:tag name="KSO_WM_UNIT_PRESET_TEXT" val="单击添加项标题"/>
  <p:tag name="KSO_WM_UNIT_TEXT_FILL_FORE_SCHEMECOLOR_INDEX" val="1"/>
  <p:tag name="KSO_WM_UNIT_TEXT_FILL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f*1_3_1"/>
  <p:tag name="KSO_WM_TEMPLATE_CATEGORY" val="diagram"/>
  <p:tag name="KSO_WM_TEMPLATE_INDEX" val="20235644"/>
  <p:tag name="KSO_WM_UNIT_LAYERLEVEL" val="1_1_1"/>
  <p:tag name="KSO_WM_TAG_VERSION" val="3.0"/>
  <p:tag name="KSO_WM_UNIT_SUBTYPE" val="a"/>
  <p:tag name="KSO_WM_UNIT_TEXT_LAYER_COUNT" val="1"/>
  <p:tag name="KSO_WM_UNIT_NOCLEAR" val="0"/>
  <p:tag name="KSO_WM_UNIT_TYPE" val="l_h_f"/>
  <p:tag name="KSO_WM_UNIT_INDEX" val="1_3_1"/>
  <p:tag name="KSO_WM_UNIT_TEXT_TYPE" val="1"/>
  <p:tag name="KSO_WM_DIAGRAM_MAX_ITEMCNT" val="8"/>
  <p:tag name="KSO_WM_DIAGRAM_MIN_ITEMCNT" val="2"/>
  <p:tag name="KSO_WM_DIAGRAM_VIRTUALLY_FRAME" val="{&quot;height&quot;:360.75,&quot;left&quot;:44.82501220703125,&quot;top&quot;:131.45,&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46"/>
  <p:tag name="KSO_WM_UNIT_PRESET_TEXT" val="单击此处添加正文，文字是您思想的提炼，请言简意赅阐述内容。"/>
  <p:tag name="KSO_WM_UNIT_TEXT_FILL_FORE_SCHEMECOLOR_INDEX" val="1"/>
  <p:tag name="KSO_WM_UNIT_TEXT_FILL_TYPE" val="1"/>
  <p:tag name="KSO_WM_UNIT_USESOURCEFORMAT_APPLY" val="1"/>
</p:tagLst>
</file>

<file path=ppt/tags/tag121.xml><?xml version="1.0" encoding="utf-8"?>
<p:tagLst xmlns:p="http://schemas.openxmlformats.org/presentationml/2006/main">
  <p:tag name="KSO_WM_UNIT_PLACING_PICTURE_USER_VIEWPORT" val="{&quot;height&quot;:3669,&quot;width&quot;:6565}"/>
</p:tagLst>
</file>

<file path=ppt/tags/tag122.xml><?xml version="1.0" encoding="utf-8"?>
<p:tagLst xmlns:p="http://schemas.openxmlformats.org/presentationml/2006/main">
  <p:tag name="KSO_WM_SLIDE_ID" val="custom20231802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802"/>
  <p:tag name="KSO_WM_SLIDE_TYPE" val="text"/>
  <p:tag name="KSO_WM_SLIDE_SUBTYPE" val="picTxt"/>
  <p:tag name="KSO_WM_SLIDE_SIZE" val="553.9*358.45"/>
  <p:tag name="KSO_WM_SLIDE_POSITION" val="45.3*132.6"/>
  <p:tag name="KSO_WM_SLIDE_LAYOUT" val="a_d_l"/>
  <p:tag name="KSO_WM_SLIDE_LAYOUT_CNT" val="1_1_1"/>
  <p:tag name="KSO_WM_SPECIAL_SOURCE" val="bdnull"/>
  <p:tag name="KSO_WM_DIAGRAM_GROUP_CODE" val="l1-1"/>
  <p:tag name="KSO_WM_SLIDE_DIAGTYPE" val="l"/>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4834_1*l_h_i*1_1_5"/>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5199999809265137,&quot;transparency&quot;:1},{&quot;brightness&quot;:0,&quot;colorType&quot;:1,&quot;foreColorIndex&quot;:5,&quot;pos&quot;:0,&quot;transparency&quot;:0.800000011920929},{&quot;brightness&quot;:0,&quot;colorType&quot;:1,&quot;foreColorIndex&quot;:5,&quot;pos&quot;:1,&quot;transparency&quot;:0.8999999761581421}],&quot;type&quot;:3},&quot;glow&quot;:{&quot;colorType&quot;:0},&quot;line&quot;:{&quot;gradient&quot;:[{&quot;brightness&quot;:0,&quot;colorType&quot;:1,&quot;foreColorIndex&quot;:5,&quot;pos&quot;:0.25,&quot;transparency&quot;:1},{&quot;brightness&quot;:0,&quot;colorType&quot;:1,&quot;foreColorIndex&quot;:5,&quot;pos&quot;:1,&quot;transparency&quot;:0.30000001192092896}],&quot;type&quot;:2},&quot;shadow&quot;:{&quot;brightness&quot;:0.400000005960464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SHADOW_SCHEMECOLOR_INDEX" val="5"/>
  <p:tag name="KSO_WM_UNIT_TEXT_FILL_FORE_SCHEMECOLOR_INDEX" val="13"/>
  <p:tag name="KSO_WM_UNIT_TEXT_FILL_TYPE" val="1"/>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4834_1*l_h_i*1_1_3"/>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834_1*l_h_i*1_1_2"/>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34834_1*l_h_i*1_2_5"/>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5199999809265137,&quot;transparency&quot;:1},{&quot;brightness&quot;:0,&quot;colorType&quot;:1,&quot;foreColorIndex&quot;:5,&quot;pos&quot;:0,&quot;transparency&quot;:0.800000011920929},{&quot;brightness&quot;:0,&quot;colorType&quot;:1,&quot;foreColorIndex&quot;:5,&quot;pos&quot;:1,&quot;transparency&quot;:0.8999999761581421}],&quot;type&quot;:3},&quot;glow&quot;:{&quot;colorType&quot;:0},&quot;line&quot;:{&quot;gradient&quot;:[{&quot;brightness&quot;:0,&quot;colorType&quot;:1,&quot;foreColorIndex&quot;:5,&quot;pos&quot;:0.25,&quot;transparency&quot;:1},{&quot;brightness&quot;:0,&quot;colorType&quot;:1,&quot;foreColorIndex&quot;:5,&quot;pos&quot;:1,&quot;transparency&quot;:0.30000001192092896}],&quot;type&quot;:2},&quot;shadow&quot;:{&quot;brightness&quot;:0.400000005960464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SHADOW_SCHEMECOLOR_INDEX" val="6"/>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4834_1*l_h_i*1_2_3"/>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834_1*l_h_i*1_2_2"/>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29.xml><?xml version="1.0" encoding="utf-8"?>
<p:tagLst xmlns:p="http://schemas.openxmlformats.org/presentationml/2006/main">
  <p:tag name="KSO_WM_UNIT_VALUE" val="561*140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4834_1*l_h_d*1_2_1"/>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6"/>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ILL_TYPE" val="2"/>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4834_1*l_h_i*1_1_4"/>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4000000059604645,&quot;colorType&quot;:1,&quot;foreColorIndex&quot;:5,&quot;pos&quot;:0,&quot;transparency&quot;:1},{&quot;brightness&quot;:0.4000000059604645,&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4834_1*l_h_i*1_2_4"/>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gradient&quot;:[{&quot;brightness&quot;:0.4000000059604645,&quot;colorType&quot;:1,&quot;foreColorIndex&quot;:5,&quot;pos&quot;:0,&quot;transparency&quot;:1},{&quot;brightness&quot;:0.4000000059604645,&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32.xml><?xml version="1.0" encoding="utf-8"?>
<p:tagLst xmlns:p="http://schemas.openxmlformats.org/presentationml/2006/main">
  <p:tag name="KSO_WM_UNIT_VALUE" val="561*140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4834_1*l_h_d*1_1_1"/>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ILL_TYPE" val="2"/>
  <p:tag name="KSO_WM_UNIT_USESOURCEFORMAT_APPLY" val="1"/>
</p:tagLst>
</file>

<file path=ppt/tags/tag13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34_1*a*1"/>
  <p:tag name="KSO_WM_TEMPLATE_CATEGORY" val="diagram"/>
  <p:tag name="KSO_WM_TEMPLATE_INDEX" val="20234834"/>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4834_1*l_h_f*1_1_1"/>
  <p:tag name="KSO_WM_TEMPLATE_CATEGORY" val="diagram"/>
  <p:tag name="KSO_WM_TEMPLATE_INDEX" val="20234834"/>
  <p:tag name="KSO_WM_UNIT_LAYERLEVEL" val="1_1_1"/>
  <p:tag name="KSO_WM_TAG_VERSION" val="3.0"/>
  <p:tag name="KSO_WM_DIAGRAM_GROUP_CODE" val="l1-1"/>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输入项正文，文字是您思想的提炼。"/>
  <p:tag name="KSO_WM_UNIT_TEXT_FILL_FORE_SCHEMECOLOR_INDEX" val="1"/>
  <p:tag name="KSO_WM_UNIT_TEXT_FILL_TYPE" val="1"/>
  <p:tag name="KSO_WM_UNIT_TEXT_TYPE" val="1"/>
  <p:tag name="KSO_WM_UNIT_TEXT_LAYER_COUNT" val="1"/>
  <p:tag name="KSO_WM_UNIT_USESOURCEFORMAT_APPLY" val="1"/>
</p:tagLst>
</file>

<file path=ppt/tags/tag1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4834_1*l_h_f*1_2_1"/>
  <p:tag name="KSO_WM_TEMPLATE_CATEGORY" val="diagram"/>
  <p:tag name="KSO_WM_TEMPLATE_INDEX" val="20234834"/>
  <p:tag name="KSO_WM_UNIT_LAYERLEVEL" val="1_1_1"/>
  <p:tag name="KSO_WM_TAG_VERSION" val="3.0"/>
  <p:tag name="KSO_WM_DIAGRAM_GROUP_CODE" val="l1-1"/>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输入项正文，文字是您思想的提炼。"/>
  <p:tag name="KSO_WM_UNIT_TEXT_FILL_FORE_SCHEMECOLOR_INDEX" val="1"/>
  <p:tag name="KSO_WM_UNIT_TEXT_FILL_TYPE" val="1"/>
  <p:tag name="KSO_WM_UNIT_TEXT_TYPE" val="1"/>
  <p:tag name="KSO_WM_UNIT_TEXT_LAYER_COUNT" val="1"/>
  <p:tag name="KSO_WM_UNIT_USESOURCEFORMAT_APPLY" val="1"/>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4834_1*l_h_a*1_1_1"/>
  <p:tag name="KSO_WM_TEMPLATE_CATEGORY" val="diagram"/>
  <p:tag name="KSO_WM_TEMPLATE_INDEX" val="20234834"/>
  <p:tag name="KSO_WM_UNIT_LAYERLEVEL" val="1_1_1"/>
  <p:tag name="KSO_WM_TAG_VERSION" val="3.0"/>
  <p:tag name="KSO_WM_DIAGRAM_GROUP_CODE" val="l1-1"/>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8000000715255737,&quot;transparency&quot;:0},{&quot;brightness&quot;:-0.25,&quot;colorType&quot;:1,&quot;foreColorIndex&quot;:5,&quot;pos&quot;:0.9800000190734863,&quot;transparency&quot;:0},{&quot;brightness&quot;:0,&quot;colorType&quot;:1,&quot;foreColorIndex&quot;:5,&quot;pos&quot;:0.7799999713897705,&quot;transparency&quot;:0}],&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添加标题"/>
  <p:tag name="KSO_WM_UNIT_TEXT_FILL_FORE_SCHEMECOLOR_INDEX" val="3"/>
  <p:tag name="KSO_WM_UNIT_TEXT_FILL_TYPE" val="3"/>
  <p:tag name="KSO_WM_UNIT_TEXT_TYPE" val="1"/>
  <p:tag name="KSO_WM_UNIT_USESOURCEFORMAT_APPLY" val="1"/>
</p:tagLst>
</file>

<file path=ppt/tags/tag1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4834_1*l_h_a*1_2_1"/>
  <p:tag name="KSO_WM_TEMPLATE_CATEGORY" val="diagram"/>
  <p:tag name="KSO_WM_TEMPLATE_INDEX" val="20234834"/>
  <p:tag name="KSO_WM_UNIT_LAYERLEVEL" val="1_1_1"/>
  <p:tag name="KSO_WM_TAG_VERSION" val="3.0"/>
  <p:tag name="KSO_WM_DIAGRAM_GROUP_CODE" val="l1-1"/>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8000000715255737,&quot;transparency&quot;:0},{&quot;brightness&quot;:-0.25,&quot;colorType&quot;:1,&quot;foreColorIndex&quot;:5,&quot;pos&quot;:0.9800000190734863,&quot;transparency&quot;:0},{&quot;brightness&quot;:0,&quot;colorType&quot;:1,&quot;foreColorIndex&quot;:5,&quot;pos&quot;:0.7799999713897705,&quot;transparency&quot;:0}],&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添加标题"/>
  <p:tag name="KSO_WM_UNIT_TEXT_FILL_FORE_SCHEMECOLOR_INDEX" val="3"/>
  <p:tag name="KSO_WM_UNIT_TEXT_FILL_TYPE" val="3"/>
  <p:tag name="KSO_WM_UNIT_TEXT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834_1*l_h_i*1_1_1"/>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solid&quot;:{&quot;brightness&quot;:0,&quot;colorType&quot;:1,&quot;foreColorIndex&quot;:5,&quot;transparency&quot;:0.2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834_1*l_h_i*1_2_1"/>
  <p:tag name="KSO_WM_TEMPLATE_CATEGORY" val="diagram"/>
  <p:tag name="KSO_WM_TEMPLATE_INDEX" val="20234834"/>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52.33001708984375,&quot;left&quot;:57.709032556406235,&quot;top&quot;:127.79498966039064,&quot;width&quot;:856.9869384765625}"/>
  <p:tag name="KSO_WM_DIAGRAM_COLOR_MATCH_VALUE" val="{&quot;shape&quot;:{&quot;fill&quot;:{&quot;solid&quot;:{&quot;brightness&quot;:0,&quot;colorType&quot;:1,&quot;foreColorIndex&quot;:5,&quot;transparency&quot;:0.2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40.xml><?xml version="1.0" encoding="utf-8"?>
<p:tagLst xmlns:p="http://schemas.openxmlformats.org/presentationml/2006/main">
  <p:tag name="KSO_WM_SLIDE_ID" val="diagram2023483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4834"/>
  <p:tag name="KSO_WM_SLIDE_TYPE" val="text"/>
  <p:tag name="KSO_WM_SLIDE_SUBTYPE" val="diag"/>
  <p:tag name="KSO_WM_SLIDE_SIZE" val="857.9*373.15"/>
  <p:tag name="KSO_WM_SLIDE_POSITION" val="58.25*133.8"/>
  <p:tag name="KSO_WM_SLIDE_LAYOUT" val="a_l"/>
  <p:tag name="KSO_WM_SLIDE_LAYOUT_CNT" val="1_1"/>
  <p:tag name="KSO_WM_SPECIAL_SOURCE" val="bdnull"/>
  <p:tag name="KSO_WM_DIAGRAM_GROUP_CODE" val="l1-1"/>
  <p:tag name="KSO_WM_SLIDE_DIAGTYPE" val="l"/>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1"/>
  <p:tag name="KSO_WM_TEMPLATE_CATEGORY" val="diagram"/>
  <p:tag name="KSO_WM_TEMPLATE_INDEX" val="20234406"/>
  <p:tag name="KSO_WM_UNIT_LAYERLEVEL" val="1_1_1"/>
  <p:tag name="KSO_WM_TAG_VERSION" val="3.0"/>
  <p:tag name="KSO_WM_DIAGRAM_GROUP_CODE" val="m1-1"/>
  <p:tag name="KSO_WM_UNIT_TYPE" val="m_h_i"/>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8"/>
  <p:tag name="KSO_WM_UNIT_LINE_FILL_TYPE" val="2"/>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1"/>
  <p:tag name="KSO_WM_TEMPLATE_CATEGORY" val="diagram"/>
  <p:tag name="KSO_WM_TEMPLATE_INDEX" val="20234406"/>
  <p:tag name="KSO_WM_UNIT_LAYERLEVEL" val="1_1_1"/>
  <p:tag name="KSO_WM_TAG_VERSION" val="3.0"/>
  <p:tag name="KSO_WM_DIAGRAM_GROUP_CODE" val="m1-1"/>
  <p:tag name="KSO_WM_UNIT_TYPE" val="m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LINE_FILL_TYPE" val="2"/>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1"/>
  <p:tag name="KSO_WM_TEMPLATE_CATEGORY" val="diagram"/>
  <p:tag name="KSO_WM_TEMPLATE_INDEX" val="20234406"/>
  <p:tag name="KSO_WM_UNIT_LAYERLEVEL" val="1_1_1"/>
  <p:tag name="KSO_WM_TAG_VERSION" val="3.0"/>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LINE_FILL_TYPE" val="2"/>
  <p:tag name="KSO_WM_UNIT_USESOURCEFORMAT_APPLY"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1"/>
  <p:tag name="KSO_WM_TEMPLATE_CATEGORY" val="diagram"/>
  <p:tag name="KSO_WM_TEMPLATE_INDEX" val="20234406"/>
  <p:tag name="KSO_WM_UNIT_LAYERLEVEL" val="1_1_1"/>
  <p:tag name="KSO_WM_TAG_VERSION" val="3.0"/>
  <p:tag name="KSO_WM_DIAGRAM_GROUP_CODE" val="m1-1"/>
  <p:tag name="KSO_WM_UNIT_TYPE" val="m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f*1_2_1"/>
  <p:tag name="KSO_WM_TEMPLATE_CATEGORY" val="diagram"/>
  <p:tag name="KSO_WM_TEMPLATE_INDEX" val="20234406"/>
  <p:tag name="KSO_WM_UNIT_LAYERLEVEL" val="1_1_1"/>
  <p:tag name="KSO_WM_TAG_VERSION" val="3.0"/>
  <p:tag name="KSO_WM_UNIT_SUBTYPE" val="a"/>
  <p:tag name="KSO_WM_UNIT_NOCLEAR" val="0"/>
  <p:tag name="KSO_WM_DIAGRAM_GROUP_CODE" val="m1-1"/>
  <p:tag name="KSO_WM_UNIT_TYPE" val="m_h_f"/>
  <p:tag name="KSO_WM_UNIT_INDEX" val="1_2_1"/>
  <p:tag name="KSO_WM_DIAGRAM_VERSION" val="3"/>
  <p:tag name="KSO_WM_DIAGRAM_COLOR_TRICK" val="1"/>
  <p:tag name="KSO_WM_DIAGRAM_COLOR_TEXT_CAN_REMOVE" val="n"/>
  <p:tag name="KSO_WM_UNIT_VALUE" val="80"/>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3"/>
  <p:tag name="KSO_WM_TEMPLATE_CATEGORY" val="diagram"/>
  <p:tag name="KSO_WM_TEMPLATE_INDEX" val="20234406"/>
  <p:tag name="KSO_WM_UNIT_LAYERLEVEL" val="1_1_1"/>
  <p:tag name="KSO_WM_TAG_VERSION" val="3.0"/>
  <p:tag name="KSO_WM_DIAGRAM_GROUP_CODE" val="m1-1"/>
  <p:tag name="KSO_WM_UNIT_SUBTYPE" val="nb"/>
  <p:tag name="KSO_WM_UNIT_TYPE" val="m_h_i"/>
  <p:tag name="KSO_WM_UNIT_INDEX" val="1_2_3"/>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2"/>
  <p:tag name="KSO_WM_TEMPLATE_CATEGORY" val="diagram"/>
  <p:tag name="KSO_WM_TEMPLATE_INDEX" val="20234406"/>
  <p:tag name="KSO_WM_UNIT_LAYERLEVEL" val="1_1_1"/>
  <p:tag name="KSO_WM_TAG_VERSION" val="3.0"/>
  <p:tag name="KSO_WM_DIAGRAM_GROUP_CODE" val="m1-1"/>
  <p:tag name="KSO_WM_UNIT_TYPE" val="m_h_i"/>
  <p:tag name="KSO_WM_UNIT_INDEX" val="1_2_2"/>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f*1_1_1"/>
  <p:tag name="KSO_WM_TEMPLATE_CATEGORY" val="diagram"/>
  <p:tag name="KSO_WM_TEMPLATE_INDEX" val="20234406"/>
  <p:tag name="KSO_WM_UNIT_LAYERLEVEL" val="1_1_1"/>
  <p:tag name="KSO_WM_TAG_VERSION" val="3.0"/>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VALUE" val="80"/>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3"/>
  <p:tag name="KSO_WM_TEMPLATE_CATEGORY" val="diagram"/>
  <p:tag name="KSO_WM_TEMPLATE_INDEX" val="20234406"/>
  <p:tag name="KSO_WM_UNIT_LAYERLEVEL" val="1_1_1"/>
  <p:tag name="KSO_WM_TAG_VERSION" val="3.0"/>
  <p:tag name="KSO_WM_DIAGRAM_GROUP_CODE" val="m1-1"/>
  <p:tag name="KSO_WM_UNIT_SUBTYPE" val="nb"/>
  <p:tag name="KSO_WM_UNIT_TYPE" val="m_h_i"/>
  <p:tag name="KSO_WM_UNIT_INDEX" val="1_1_3"/>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2"/>
  <p:tag name="KSO_WM_TEMPLATE_CATEGORY" val="diagram"/>
  <p:tag name="KSO_WM_TEMPLATE_INDEX" val="20234406"/>
  <p:tag name="KSO_WM_UNIT_LAYERLEVEL" val="1_1_1"/>
  <p:tag name="KSO_WM_TAG_VERSION" val="3.0"/>
  <p:tag name="KSO_WM_DIAGRAM_GROUP_CODE" val="m1-1"/>
  <p:tag name="KSO_WM_UNIT_TYPE" val="m_h_i"/>
  <p:tag name="KSO_WM_UNIT_INDEX" val="1_1_2"/>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f*1_3_1"/>
  <p:tag name="KSO_WM_TEMPLATE_CATEGORY" val="diagram"/>
  <p:tag name="KSO_WM_TEMPLATE_INDEX" val="20234406"/>
  <p:tag name="KSO_WM_UNIT_LAYERLEVEL" val="1_1_1"/>
  <p:tag name="KSO_WM_TAG_VERSION" val="3.0"/>
  <p:tag name="KSO_WM_UNIT_SUBTYPE" val="a"/>
  <p:tag name="KSO_WM_UNIT_NOCLEAR" val="0"/>
  <p:tag name="KSO_WM_DIAGRAM_GROUP_CODE" val="m1-1"/>
  <p:tag name="KSO_WM_UNIT_TYPE" val="m_h_f"/>
  <p:tag name="KSO_WM_UNIT_INDEX" val="1_3_1"/>
  <p:tag name="KSO_WM_DIAGRAM_VERSION" val="3"/>
  <p:tag name="KSO_WM_DIAGRAM_COLOR_TRICK" val="1"/>
  <p:tag name="KSO_WM_DIAGRAM_COLOR_TEXT_CAN_REMOVE" val="n"/>
  <p:tag name="KSO_WM_UNIT_VALUE" val="80"/>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2"/>
  <p:tag name="KSO_WM_TEMPLATE_CATEGORY" val="diagram"/>
  <p:tag name="KSO_WM_TEMPLATE_INDEX" val="20234406"/>
  <p:tag name="KSO_WM_UNIT_LAYERLEVEL" val="1_1_1"/>
  <p:tag name="KSO_WM_TAG_VERSION" val="3.0"/>
  <p:tag name="KSO_WM_DIAGRAM_GROUP_CODE" val="m1-1"/>
  <p:tag name="KSO_WM_UNIT_TYPE" val="m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3"/>
  <p:tag name="KSO_WM_TEMPLATE_CATEGORY" val="diagram"/>
  <p:tag name="KSO_WM_TEMPLATE_INDEX" val="20234406"/>
  <p:tag name="KSO_WM_UNIT_LAYERLEVEL" val="1_1_1"/>
  <p:tag name="KSO_WM_TAG_VERSION" val="3.0"/>
  <p:tag name="KSO_WM_DIAGRAM_GROUP_CODE" val="m1-1"/>
  <p:tag name="KSO_WM_UNIT_SUBTYPE" val="nb"/>
  <p:tag name="KSO_WM_UNIT_TYPE" val="m_h_i"/>
  <p:tag name="KSO_WM_UNIT_INDEX" val="1_3_3"/>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5"/>
  <p:tag name="KSO_WM_TEMPLATE_CATEGORY" val="diagram"/>
  <p:tag name="KSO_WM_TEMPLATE_INDEX" val="20234406"/>
  <p:tag name="KSO_WM_UNIT_LAYERLEVEL" val="1_1_1"/>
  <p:tag name="KSO_WM_TAG_VERSION" val="3.0"/>
  <p:tag name="KSO_WM_DIAGRAM_GROUP_CODE" val="m1-1"/>
  <p:tag name="KSO_WM_UNIT_TYPE" val="m_h_i"/>
  <p:tag name="KSO_WM_UNIT_INDEX" val="1_1_5"/>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4"/>
  <p:tag name="KSO_WM_TEMPLATE_CATEGORY" val="diagram"/>
  <p:tag name="KSO_WM_TEMPLATE_INDEX" val="20234406"/>
  <p:tag name="KSO_WM_UNIT_LAYERLEVEL" val="1_1_1"/>
  <p:tag name="KSO_WM_TAG_VERSION" val="3.0"/>
  <p:tag name="KSO_WM_DIAGRAM_GROUP_CODE" val="m1-1"/>
  <p:tag name="KSO_WM_UNIT_TYPE" val="m_h_i"/>
  <p:tag name="KSO_WM_UNIT_INDEX" val="1_1_4"/>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5"/>
  <p:tag name="KSO_WM_TEMPLATE_CATEGORY" val="diagram"/>
  <p:tag name="KSO_WM_TEMPLATE_INDEX" val="20234406"/>
  <p:tag name="KSO_WM_UNIT_LAYERLEVEL" val="1_1_1"/>
  <p:tag name="KSO_WM_TAG_VERSION" val="3.0"/>
  <p:tag name="KSO_WM_DIAGRAM_GROUP_CODE" val="m1-1"/>
  <p:tag name="KSO_WM_UNIT_TYPE" val="m_h_i"/>
  <p:tag name="KSO_WM_UNIT_INDEX" val="1_2_5"/>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4"/>
  <p:tag name="KSO_WM_TEMPLATE_CATEGORY" val="diagram"/>
  <p:tag name="KSO_WM_TEMPLATE_INDEX" val="20234406"/>
  <p:tag name="KSO_WM_UNIT_LAYERLEVEL" val="1_1_1"/>
  <p:tag name="KSO_WM_TAG_VERSION" val="3.0"/>
  <p:tag name="KSO_WM_DIAGRAM_GROUP_CODE" val="m1-1"/>
  <p:tag name="KSO_WM_UNIT_TYPE" val="m_h_i"/>
  <p:tag name="KSO_WM_UNIT_INDEX" val="1_2_4"/>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5"/>
  <p:tag name="KSO_WM_TEMPLATE_CATEGORY" val="diagram"/>
  <p:tag name="KSO_WM_TEMPLATE_INDEX" val="20234406"/>
  <p:tag name="KSO_WM_UNIT_LAYERLEVEL" val="1_1_1"/>
  <p:tag name="KSO_WM_TAG_VERSION" val="3.0"/>
  <p:tag name="KSO_WM_DIAGRAM_GROUP_CODE" val="m1-1"/>
  <p:tag name="KSO_WM_UNIT_TYPE" val="m_h_i"/>
  <p:tag name="KSO_WM_UNIT_INDEX" val="1_3_5"/>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4"/>
  <p:tag name="KSO_WM_TEMPLATE_CATEGORY" val="diagram"/>
  <p:tag name="KSO_WM_TEMPLATE_INDEX" val="20234406"/>
  <p:tag name="KSO_WM_UNIT_LAYERLEVEL" val="1_1_1"/>
  <p:tag name="KSO_WM_TAG_VERSION" val="3.0"/>
  <p:tag name="KSO_WM_DIAGRAM_GROUP_CODE" val="m1-1"/>
  <p:tag name="KSO_WM_UNIT_TYPE" val="m_h_i"/>
  <p:tag name="KSO_WM_UNIT_INDEX" val="1_3_4"/>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2_6"/>
  <p:tag name="KSO_WM_TEMPLATE_CATEGORY" val="diagram"/>
  <p:tag name="KSO_WM_TEMPLATE_INDEX" val="20234406"/>
  <p:tag name="KSO_WM_UNIT_LAYERLEVEL" val="1_1_1"/>
  <p:tag name="KSO_WM_TAG_VERSION" val="3.0"/>
  <p:tag name="KSO_WM_DIAGRAM_GROUP_CODE" val="m1-1"/>
  <p:tag name="KSO_WM_UNIT_TYPE" val="m_h_i"/>
  <p:tag name="KSO_WM_UNIT_INDEX" val="1_2_6"/>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x*1_1_1"/>
  <p:tag name="KSO_WM_TEMPLATE_CATEGORY" val="diagram"/>
  <p:tag name="KSO_WM_TEMPLATE_INDEX" val="20234406"/>
  <p:tag name="KSO_WM_UNIT_LAYERLEVEL" val="1_1_1"/>
  <p:tag name="KSO_WM_TAG_VERSION" val="3.0"/>
  <p:tag name="KSO_WM_UNIT_VALUE" val="101*114"/>
  <p:tag name="KSO_WM_DIAGRAM_GROUP_CODE" val="m1-1"/>
  <p:tag name="KSO_WM_UNIT_TYPE" val="m_h_x"/>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x*1_2_1"/>
  <p:tag name="KSO_WM_TEMPLATE_CATEGORY" val="diagram"/>
  <p:tag name="KSO_WM_TEMPLATE_INDEX" val="20234406"/>
  <p:tag name="KSO_WM_UNIT_LAYERLEVEL" val="1_1_1"/>
  <p:tag name="KSO_WM_TAG_VERSION" val="3.0"/>
  <p:tag name="KSO_WM_UNIT_VALUE" val="105*102"/>
  <p:tag name="KSO_WM_DIAGRAM_GROUP_CODE" val="m1-1"/>
  <p:tag name="KSO_WM_UNIT_TYPE" val="m_h_x"/>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x*1_3_1"/>
  <p:tag name="KSO_WM_TEMPLATE_CATEGORY" val="diagram"/>
  <p:tag name="KSO_WM_TEMPLATE_INDEX" val="20234406"/>
  <p:tag name="KSO_WM_UNIT_LAYERLEVEL" val="1_1_1"/>
  <p:tag name="KSO_WM_TAG_VERSION" val="3.0"/>
  <p:tag name="KSO_WM_UNIT_VALUE" val="85*114"/>
  <p:tag name="KSO_WM_DIAGRAM_GROUP_CODE" val="m1-1"/>
  <p:tag name="KSO_WM_UNIT_TYPE" val="m_h_x"/>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3_6"/>
  <p:tag name="KSO_WM_TEMPLATE_CATEGORY" val="diagram"/>
  <p:tag name="KSO_WM_TEMPLATE_INDEX" val="20234406"/>
  <p:tag name="KSO_WM_UNIT_LAYERLEVEL" val="1_1_1"/>
  <p:tag name="KSO_WM_TAG_VERSION" val="3.0"/>
  <p:tag name="KSO_WM_DIAGRAM_GROUP_CODE" val="m1-1"/>
  <p:tag name="KSO_WM_UNIT_TYPE" val="m_h_i"/>
  <p:tag name="KSO_WM_UNIT_INDEX" val="1_3_6"/>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5"/>
  <p:tag name="KSO_WM_TEMPLATE_CATEGORY" val="diagram"/>
  <p:tag name="KSO_WM_TEMPLATE_INDEX" val="20234406"/>
  <p:tag name="KSO_WM_UNIT_LAYERLEVEL" val="1_1_1"/>
  <p:tag name="KSO_WM_TAG_VERSION" val="3.0"/>
  <p:tag name="KSO_WM_DIAGRAM_GROUP_CODE" val="m1-1"/>
  <p:tag name="KSO_WM_UNIT_TYPE" val="m_h_i"/>
  <p:tag name="KSO_WM_UNIT_INDEX" val="1_4_5"/>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4"/>
  <p:tag name="KSO_WM_TEMPLATE_CATEGORY" val="diagram"/>
  <p:tag name="KSO_WM_TEMPLATE_INDEX" val="20234406"/>
  <p:tag name="KSO_WM_UNIT_LAYERLEVEL" val="1_1_1"/>
  <p:tag name="KSO_WM_TAG_VERSION" val="3.0"/>
  <p:tag name="KSO_WM_DIAGRAM_GROUP_CODE" val="m1-1"/>
  <p:tag name="KSO_WM_UNIT_TYPE" val="m_h_i"/>
  <p:tag name="KSO_WM_UNIT_INDEX" val="1_4_4"/>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6"/>
  <p:tag name="KSO_WM_TEMPLATE_CATEGORY" val="diagram"/>
  <p:tag name="KSO_WM_TEMPLATE_INDEX" val="20234406"/>
  <p:tag name="KSO_WM_UNIT_LAYERLEVEL" val="1_1_1"/>
  <p:tag name="KSO_WM_TAG_VERSION" val="3.0"/>
  <p:tag name="KSO_WM_DIAGRAM_GROUP_CODE" val="m1-1"/>
  <p:tag name="KSO_WM_UNIT_TYPE" val="m_h_i"/>
  <p:tag name="KSO_WM_UNIT_INDEX" val="1_4_6"/>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i*1_1"/>
  <p:tag name="KSO_WM_TEMPLATE_CATEGORY" val="diagram"/>
  <p:tag name="KSO_WM_TEMPLATE_INDEX" val="20234406"/>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6499999761581421,&quot;colorType&quot;:1,&quot;foreColorIndex&quot;:13,&quot;transparency&quot;:0.64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5"/>
  <p:tag name="KSO_WM_UNIT_LINE_FORE_SCHEMECOLOR_INDEX" val="-2"/>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1_6"/>
  <p:tag name="KSO_WM_TEMPLATE_CATEGORY" val="diagram"/>
  <p:tag name="KSO_WM_TEMPLATE_INDEX" val="20234406"/>
  <p:tag name="KSO_WM_UNIT_LAYERLEVEL" val="1_1_1"/>
  <p:tag name="KSO_WM_TAG_VERSION" val="3.0"/>
  <p:tag name="KSO_WM_DIAGRAM_GROUP_CODE" val="m1-1"/>
  <p:tag name="KSO_WM_UNIT_TYPE" val="m_h_i"/>
  <p:tag name="KSO_WM_UNIT_INDEX" val="1_1_6"/>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f*1_4_1"/>
  <p:tag name="KSO_WM_TEMPLATE_CATEGORY" val="diagram"/>
  <p:tag name="KSO_WM_TEMPLATE_INDEX" val="20234406"/>
  <p:tag name="KSO_WM_UNIT_LAYERLEVEL" val="1_1_1"/>
  <p:tag name="KSO_WM_TAG_VERSION" val="3.0"/>
  <p:tag name="KSO_WM_UNIT_SUBTYPE" val="a"/>
  <p:tag name="KSO_WM_UNIT_NOCLEAR" val="0"/>
  <p:tag name="KSO_WM_DIAGRAM_GROUP_CODE" val="m1-1"/>
  <p:tag name="KSO_WM_UNIT_TYPE" val="m_h_f"/>
  <p:tag name="KSO_WM_UNIT_INDEX" val="1_4_1"/>
  <p:tag name="KSO_WM_DIAGRAM_VERSION" val="3"/>
  <p:tag name="KSO_WM_DIAGRAM_COLOR_TRICK" val="1"/>
  <p:tag name="KSO_WM_DIAGRAM_COLOR_TEXT_CAN_REMOVE" val="n"/>
  <p:tag name="KSO_WM_UNIT_VALUE" val="80"/>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2"/>
  <p:tag name="KSO_WM_TEMPLATE_CATEGORY" val="diagram"/>
  <p:tag name="KSO_WM_TEMPLATE_INDEX" val="20234406"/>
  <p:tag name="KSO_WM_UNIT_LAYERLEVEL" val="1_1_1"/>
  <p:tag name="KSO_WM_TAG_VERSION" val="3.0"/>
  <p:tag name="KSO_WM_DIAGRAM_GROUP_CODE" val="m1-1"/>
  <p:tag name="KSO_WM_UNIT_TYPE" val="m_h_i"/>
  <p:tag name="KSO_WM_UNIT_INDEX" val="1_4_2"/>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i*1_4_3"/>
  <p:tag name="KSO_WM_TEMPLATE_CATEGORY" val="diagram"/>
  <p:tag name="KSO_WM_TEMPLATE_INDEX" val="20234406"/>
  <p:tag name="KSO_WM_UNIT_LAYERLEVEL" val="1_1_1"/>
  <p:tag name="KSO_WM_TAG_VERSION" val="3.0"/>
  <p:tag name="KSO_WM_DIAGRAM_GROUP_CODE" val="m1-1"/>
  <p:tag name="KSO_WM_UNIT_SUBTYPE" val="nb"/>
  <p:tag name="KSO_WM_UNIT_TYPE" val="m_h_i"/>
  <p:tag name="KSO_WM_UNIT_INDEX" val="1_4_3"/>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m_h_x*1_4_1"/>
  <p:tag name="KSO_WM_TEMPLATE_CATEGORY" val="diagram"/>
  <p:tag name="KSO_WM_TEMPLATE_INDEX" val="20234406"/>
  <p:tag name="KSO_WM_UNIT_LAYERLEVEL" val="1_1_1"/>
  <p:tag name="KSO_WM_TAG_VERSION" val="3.0"/>
  <p:tag name="KSO_WM_UNIT_VALUE" val="109*100"/>
  <p:tag name="KSO_WM_DIAGRAM_GROUP_CODE" val="m1-1"/>
  <p:tag name="KSO_WM_UNIT_TYPE" val="m_h_x"/>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08.69998839851442,&quot;top&quot;:73.24999369463585,&quot;width&quot;:777.04986572265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2*a*1"/>
  <p:tag name="KSO_WM_TEMPLATE_CATEGORY" val="diagram"/>
  <p:tag name="KSO_WM_TEMPLATE_INDEX" val="20234406"/>
  <p:tag name="KSO_WM_UNIT_LAYERLEVEL" val="1"/>
  <p:tag name="KSO_WM_TAG_VERSION" val="3.0"/>
  <p:tag name="KSO_WM_BEAUTIFY_FLAG" val="#wm#"/>
  <p:tag name="KSO_WM_UNIT_ISCONTENTSTITLE" val="0"/>
  <p:tag name="KSO_WM_UNIT_ISNUMDGMTITLE" val="0"/>
  <p:tag name="KSO_WM_UNIT_NOCLEAR" val="0"/>
  <p:tag name="KSO_WM_DIAGRAM_GROUP_CODE" val="m1-1"/>
  <p:tag name="KSO_WM_UNIT_TYPE" val="a"/>
  <p:tag name="KSO_WM_UNIT_INDEX" val="1"/>
  <p:tag name="KSO_WM_UNIT_VALUE" val="28"/>
  <p:tag name="KSO_WM_UNIT_TEXT_TYPE" val="1"/>
  <p:tag name="KSO_WM_UNIT_PRESET_TEXT" val="单击此处添加&#13;标题内容"/>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SLIDE_ID" val="diagram20234406_2"/>
  <p:tag name="KSO_WM_TEMPLATE_SUBCATEGORY" val="0"/>
  <p:tag name="KSO_WM_TEMPLATE_MASTER_TYPE" val="0"/>
  <p:tag name="KSO_WM_TEMPLATE_COLOR_TYPE" val="0"/>
  <p:tag name="KSO_WM_SLIDE_TYPE" val="text"/>
  <p:tag name="KSO_WM_SLIDE_SUBTYPE" val="diag"/>
  <p:tag name="KSO_WM_SLIDE_ITEM_CNT" val="4"/>
  <p:tag name="KSO_WM_SLIDE_INDEX" val="2"/>
  <p:tag name="KSO_WM_SLIDE_SIZE" val="777.05*458.733"/>
  <p:tag name="KSO_WM_SLIDE_POSITION" val="108.7*73.25"/>
  <p:tag name="KSO_WM_TAG_VERSION" val="3.0"/>
  <p:tag name="KSO_WM_BEAUTIFY_FLAG" val="#wm#"/>
  <p:tag name="KSO_WM_TEMPLATE_CATEGORY" val="diagram"/>
  <p:tag name="KSO_WM_TEMPLATE_INDEX" val="20234406"/>
  <p:tag name="KSO_WM_SLIDE_LAYOUT" val="a_m"/>
  <p:tag name="KSO_WM_SLIDE_LAYOUT_CNT" val="1_1"/>
  <p:tag name="KSO_WM_DIAGRAM_GROUP_CODE" val="m1-1"/>
  <p:tag name="KSO_WM_SLIDE_DIAGTYPE" val="m"/>
</p:tagLst>
</file>

<file path=ppt/tags/tag176.xml><?xml version="1.0" encoding="utf-8"?>
<p:tagLst xmlns:p="http://schemas.openxmlformats.org/presentationml/2006/main">
  <p:tag name="RESOURCE_RECORD_KEY" val="{&quot;65&quot;:[20230968],&quot;70&quot;:[3405563,3319534],&quot;71&quot;:[762356801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2392</Words>
  <Application>WPS 演示</Application>
  <PresentationFormat>宽屏</PresentationFormat>
  <Paragraphs>243</Paragraphs>
  <Slides>18</Slides>
  <Notes>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宋体</vt:lpstr>
      <vt:lpstr>Wingdings</vt:lpstr>
      <vt:lpstr>微软雅黑</vt:lpstr>
      <vt:lpstr>思源黑体 CN Medium</vt:lpstr>
      <vt:lpstr>字魂100号-方方先锋体</vt:lpstr>
      <vt:lpstr>Calibri</vt:lpstr>
      <vt:lpstr>阿里巴巴普惠体 B</vt:lpstr>
      <vt:lpstr>Calibri Light</vt:lpstr>
      <vt:lpstr>Tahoma</vt:lpstr>
      <vt:lpstr>Arial</vt:lpstr>
      <vt:lpstr>等线</vt:lpstr>
      <vt:lpstr>MiSans Normal</vt:lpstr>
      <vt:lpstr>黑体</vt:lpstr>
      <vt:lpstr>Arial Unicode MS</vt:lpstr>
      <vt:lpstr>Office 主题​​</vt:lpstr>
      <vt:lpstr>2025年CAAI-蚂蚁科研基金（AGI专项） 课题：面向新一代硬件架构的大语言模型大规模分布式训练提效方法研究 </vt:lpstr>
      <vt:lpstr>PowerPoint 演示文稿</vt:lpstr>
      <vt:lpstr>PowerPoint 演示文稿</vt:lpstr>
      <vt:lpstr>行业背景与挑战</vt:lpstr>
      <vt:lpstr>主要问题</vt:lpstr>
      <vt:lpstr>PowerPoint 演示文稿</vt:lpstr>
      <vt:lpstr>核心技术路线</vt:lpstr>
      <vt:lpstr>内容1：拓扑感知的复合并行布局与通信组织</vt:lpstr>
      <vt:lpstr>内容2：长上下文 × 低比特的稳定高吞吐训练</vt:lpstr>
      <vt:lpstr>内容3：通信/存储压缩与容错编排</vt:lpstr>
      <vt:lpstr>内容4：以MFU为牵引的性能建模与闭环优化</vt:lpstr>
      <vt:lpstr>PowerPoint 演示文稿</vt:lpstr>
      <vt:lpstr>理论创新与工程实践的协同驱动</vt:lpstr>
      <vt:lpstr>PowerPoint 演示文稿</vt:lpstr>
      <vt:lpstr>研究计划</vt:lpstr>
      <vt:lpstr>PowerPoint 演示文稿</vt:lpstr>
      <vt:lpstr>参与人员</vt:lpstr>
      <vt:lpstr>感 谢 聆听 敬请批评指正！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2025年CAAI-蚂蚁科研基金（AGI专项）</dc:title>
  <dc:creator>ZSQ</dc:creator>
  <cp:lastModifiedBy>  </cp:lastModifiedBy>
  <cp:revision>38</cp:revision>
  <dcterms:created xsi:type="dcterms:W3CDTF">2025-11-22T15:19:00Z</dcterms:created>
  <dcterms:modified xsi:type="dcterms:W3CDTF">2026-08-06T12:53:18Z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7D8F1F07F72C4288B234837BF3B6EE8E_13</vt:lpwstr>
  </property>
  <property fmtid="{D5CDD505-2E9C-101B-9397-08002B2CF9AE}" pid="3" name="KSOProductBuildVer">
    <vt:lpwstr>2052-12.1.0.28043</vt:lpwstr>
  </property>
</Properties>
</file>